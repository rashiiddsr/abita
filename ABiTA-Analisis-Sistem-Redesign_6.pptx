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0" r:id="rId5"/>
    <p:sldId id="262" r:id="rId6"/>
    <p:sldId id="278" r:id="rId7"/>
    <p:sldId id="280" r:id="rId8"/>
    <p:sldId id="281" r:id="rId9"/>
    <p:sldId id="282" r:id="rId10"/>
    <p:sldId id="284" r:id="rId11"/>
    <p:sldId id="285" r:id="rId12"/>
    <p:sldId id="286" r:id="rId13"/>
    <p:sldId id="287" r:id="rId14"/>
    <p:sldId id="295" r:id="rId15"/>
    <p:sldId id="297" r:id="rId16"/>
    <p:sldId id="298" r:id="rId17"/>
    <p:sldId id="306"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3F29E3F-2913-61C8-7999-FC0293B9627E}">
          <p14:sldIdLst>
            <p14:sldId id="256"/>
          </p14:sldIdLst>
        </p14:section>
        <p14:section name="Konteks" id="{154AE894-08A6-D0C7-348C-F4BB27171479}">
          <p14:sldIdLst>
            <p14:sldId id="258"/>
            <p14:sldId id="259"/>
            <p14:sldId id="260"/>
            <p14:sldId id="262"/>
          </p14:sldIdLst>
        </p14:section>
        <p14:section name="Arsitektur" id="{D208C899-70A0-EA9B-66EE-66FE08C3C9A4}">
          <p14:sldIdLst/>
        </p14:section>
        <p14:section name="Use case" id="{30D1F8CD-6DCE-0169-D3AC-119AA5B267C0}">
          <p14:sldIdLst/>
        </p14:section>
        <p14:section name="Rute &amp; halaman" id="{5E7B5294-0397-7FBC-2BF8-7B7BDE8F00C8}">
          <p14:sldIdLst/>
        </p14:section>
        <p14:section name="Alur &amp; algoritma" id="{87F78F6A-2AFE-F280-859F-E227E7AA6D19}">
          <p14:sldIdLst>
            <p14:sldId id="278"/>
            <p14:sldId id="280"/>
            <p14:sldId id="281"/>
            <p14:sldId id="282"/>
            <p14:sldId id="284"/>
            <p14:sldId id="285"/>
          </p14:sldIdLst>
        </p14:section>
        <p14:section name="Fitur" id="{BF05395D-0D31-8A3E-86EA-BD0DA8B39A45}">
          <p14:sldIdLst>
            <p14:sldId id="286"/>
            <p14:sldId id="287"/>
            <p14:sldId id="295"/>
            <p14:sldId id="297"/>
            <p14:sldId id="298"/>
          </p14:sldIdLst>
        </p14:section>
        <p14:section name="Kesiapan produksi" id="{E60FE18C-EF55-2D44-2C8F-B65E054A75B3}">
          <p14:sldIdLst/>
        </p14:section>
        <p14:section name="Penutup" id="{430B7AF9-9225-89DF-CF3E-FF2042B77155}">
          <p14:sldIdLst>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10"/>
  </p:normalViewPr>
  <p:slideViewPr>
    <p:cSldViewPr snapToGrid="0" snapToObjects="1">
      <p:cViewPr varScale="1">
        <p:scale>
          <a:sx n="83" d="100"/>
          <a:sy n="83" d="100"/>
        </p:scale>
        <p:origin x="6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831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ABiTA adalah sistem presensi wajah RS Awal Bros Botania untuk karyawan magang/PKL dan outsourcing (tipe karyawan tetap juga didukung). Presentasi ini menjelaskan konteks, arsitektur, use case, seluruh rute, algoritma inti, seluruh fitur, dan kesiapan produksi, lalu ditutup dengan risiko dan rencana pengembangan.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menjelaskan masalah yang diselesaikan ABiTA dan siapa penggunanya.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masalah utama presensi tenaga magang dan outsourcing di rumah sakit dengan shift 24 jam. Sesuaikan contoh dengan kondisi unit masing-masing saat presentasi. Kolom kanan merangkum jawaban ABiTA yang dijelaskan lebih rinci di bagian berikutnya.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tujuan: sah, cepat, terpantau. Ruang lingkup dibatasi pada presensi, jadwal, pengajuan, dokumen, dan laporan. Penggajian dan integrasi HRIS/SIMRS di luar cakupan versi ini; data dapat diekspor ke Excel untuk proses tersebut.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dipisah per aplikasi: akun karyawan hanya bisa masuk di /staff, Admin SDM dan Kepala Unit hanya di /admin; akun di aplikasi yang salah mendapat pesan yang sama dengan kata sandi salah. Kepala Unit bisa memimpin banyak unit dan satu unit bisa punya banyak Kepala Unit (tabel unit_heads). Dokumen: hanya Admin SDM yang mengunggah; Kepala Unit membaca dokumen karyawan unitnya.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menjelaskan algoritma inti yang menentukan keabsahan presensi dan alur kerja.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lapisan menutup satu cara curang. Pemeriksaan kualitas foto dilakukan di server (aplikasi bisa dimodifikasi, jadi server tidak memercayai panduan di HP) dan batas laju yang membaca IP dari kanan header X-Forwarded-For sehingga tidak bisa dipalsukan. Ketajaman foto dicatat untuk penyetelan (MIN_FACE_SHARPNESS). Risiko tersisa: video wajah diputar di layar lain; mitigasinya model anti-spoof pasif.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shift Pagi 07:00–15:00 dengan pengaturan bawaan. Check in dibuka 2 jam sebelum mulai dan ditutup 1 jam setelahnya; check out dibuka 1 jam sebelum selesai dan ditutup 2 jam setelahnya. Semua angka diatur di Pengaturan › Jam shift. Shift malam yang melewati tengah malam tetap milik tanggal mulainya.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harian dihitung di memori dari data yang dimuat sekali per rentang (domain/presence.ts), sehingga laporan bulanan tetap cepat. Satu tanggal hanya satu keadaan: hadir, izin/sakit, atau tukar shift; sistem menolak kombinasi yang bertabrakan.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Izin, sakit, dan tukar shift diputuskan Kepala Unit dari unit karyawan dalam satu tahap; rekan tukar hanya diberi tahu. Pengajuan yang menunggu lebih dari 48 jam ditandai tereskalasi. Unit tanpa Kepala Unit aktif diputuskan Admin SDM. Keputusan bisa satuan atau massal, dan setiap keputusan tercatat di audit_logs.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Cron tiap 5 menit, hanya di satu proses berkat kunci MySQL. Tidak ada check out otomatis karena jam pulang yang dikarang sistem merusak keabsahan data; jam pulang hanya bisa diisi lewat Koreksi absensi oleh Kepala Unit, dengan alasan dan jejak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menjelaskan setiap fitur: aplikasi karyawan, dasbor Admin SDM dan Kepala Unit, serta layanan yang berjalan di server.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Peta seluruh fitur. Kolom kiri dipakai karyawan di HP, kolom tengah dipakai Admin SDM dan Kepala Unit di dasbor dengan hak berbeda, kolom kanan berjalan otomatis di server. Slide berikutnya menjelaskan setiap kelompok fitur.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SDM mengelola semua unit; Kepala Unit mengelola karyawan unitnya sendiri. Data diambil dari satu sumber sehingga perubahan langsung terlihat di aplikasi karyawan.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Pengaturan sistem dipegang Admin SDM. Kepala Unit hanya melihat Pola shift unitnya dan preferensi notifikasi. Kata sandi SMTP tidak pernah dikirim kembali ke browser.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Tugas terjadwal hanya berjalan di satu proses per database berkat kunci MySQL (GET_LOCK), sehingga tidak ada pengingat ganda. Push dan SSE tidak membawa data sensitif; aplikasi memuat ulang data lewat API yang memeriksa hak akses.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sistem siap dipakai produksi. Langkah berikutnya yang paling bernilai adalah anti-spoof pasif. Langkah operasional: build ulang kedua zip, Run NPM Install, cek JWT_SECRET, jadwalkan cadangan dan cron health.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BITA_CONTENT">
    <p:bg>
      <p:bgPr>
        <a:solidFill>
          <a:srgbClr val="F4F8F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1183112" y="457200"/>
            <a:ext cx="457200" cy="457200"/>
          </a:xfrm>
          <a:prstGeom prst="rect">
            <a:avLst/>
          </a:prstGeom>
        </p:spPr>
      </p:pic>
      <p:sp>
        <p:nvSpPr>
          <p:cNvPr id="3" name="Text 0"/>
          <p:cNvSpPr/>
          <p:nvPr/>
        </p:nvSpPr>
        <p:spPr>
          <a:xfrm>
            <a:off x="548640" y="6373368"/>
            <a:ext cx="5486400" cy="256032"/>
          </a:xfrm>
          <a:prstGeom prst="rect">
            <a:avLst/>
          </a:prstGeom>
          <a:noFill/>
          <a:ln/>
        </p:spPr>
        <p:txBody>
          <a:bodyPr wrap="square" lIns="0" tIns="0" rIns="0" bIns="0" rtlCol="0" anchor="ctr"/>
          <a:lstStyle/>
          <a:p>
            <a:pPr marL="0" indent="0">
              <a:buNone/>
            </a:pPr>
            <a:r>
              <a:rPr lang="en-US" sz="900" dirty="0">
                <a:solidFill>
                  <a:srgbClr val="5E6B7D"/>
                </a:solidFill>
              </a:rPr>
              <a:t>ABiTA · Analisis Sistem Presensi Wajah</a:t>
            </a:r>
            <a:endParaRPr lang="en-US" sz="900" dirty="0"/>
          </a:p>
        </p:txBody>
      </p:sp>
      <p:sp>
        <p:nvSpPr>
          <p:cNvPr id="4" name="Text 1"/>
          <p:cNvSpPr>
            <a:spLocks noGrp="1"/>
          </p:cNvSpPr>
          <p:nvPr>
            <p:ph type="title" idx="102" hasCustomPrompt="1"/>
          </p:nvPr>
        </p:nvSpPr>
        <p:spPr>
          <a:xfrm>
            <a:off x="548640" y="384048"/>
            <a:ext cx="10241280" cy="603504"/>
          </a:xfrm>
          <a:prstGeom prst="rect">
            <a:avLst/>
          </a:prstGeom>
          <a:noFill/>
          <a:ln/>
        </p:spPr>
        <p:txBody>
          <a:bodyPr wrap="square" rtlCol="0"/>
          <a:lstStyle>
            <a:lvl1pPr marL="0" indent="0" algn="l">
              <a:buNone/>
              <a:defRPr lang="en-US" sz="2800" b="1" dirty="0">
                <a:solidFill>
                  <a:schemeClr val="tx2"/>
                </a:solidFill>
                <a:latin typeface="Aptos Display" pitchFamily="34" charset="0"/>
                <a:ea typeface="Aptos Display" pitchFamily="34" charset="-122"/>
                <a:cs typeface="Aptos Display"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BITA_SECTION">
    <p:bg>
      <p:bgPr>
        <a:solidFill>
          <a:srgbClr val="007A87"/>
        </a:solidFill>
        <a:effectLst/>
      </p:bgPr>
    </p:bg>
    <p:spTree>
      <p:nvGrpSpPr>
        <p:cNvPr id="1" name=""/>
        <p:cNvGrpSpPr/>
        <p:nvPr/>
      </p:nvGrpSpPr>
      <p:grpSpPr>
        <a:xfrm>
          <a:off x="0" y="0"/>
          <a:ext cx="0" cy="0"/>
          <a:chOff x="0" y="0"/>
          <a:chExt cx="0" cy="0"/>
        </a:xfrm>
      </p:grpSpPr>
      <p:sp>
        <p:nvSpPr>
          <p:cNvPr id="2" name="Text 0"/>
          <p:cNvSpPr/>
          <p:nvPr/>
        </p:nvSpPr>
        <p:spPr>
          <a:xfrm>
            <a:off x="548640" y="6373368"/>
            <a:ext cx="5486400" cy="256032"/>
          </a:xfrm>
          <a:prstGeom prst="rect">
            <a:avLst/>
          </a:prstGeom>
          <a:noFill/>
          <a:ln/>
        </p:spPr>
        <p:txBody>
          <a:bodyPr wrap="square" lIns="0" tIns="0" rIns="0" bIns="0" rtlCol="0" anchor="ctr"/>
          <a:lstStyle/>
          <a:p>
            <a:pPr marL="0" indent="0">
              <a:buNone/>
            </a:pPr>
            <a:r>
              <a:rPr lang="en-US" sz="900" dirty="0">
                <a:solidFill>
                  <a:srgbClr val="D5ECEF"/>
                </a:solidFill>
              </a:rPr>
              <a:t>ABiTA · Analisis Sistem Presensi Wajah</a:t>
            </a:r>
            <a:endParaRPr lang="en-US" sz="900" dirty="0"/>
          </a:p>
        </p:txBody>
      </p:sp>
      <p:sp>
        <p:nvSpPr>
          <p:cNvPr id="3" name="Text 1"/>
          <p:cNvSpPr>
            <a:spLocks noGrp="1"/>
          </p:cNvSpPr>
          <p:nvPr>
            <p:ph type="title" idx="101" hasCustomPrompt="1"/>
          </p:nvPr>
        </p:nvSpPr>
        <p:spPr>
          <a:xfrm>
            <a:off x="548640" y="2514600"/>
            <a:ext cx="6583680" cy="914400"/>
          </a:xfrm>
          <a:prstGeom prst="rect">
            <a:avLst/>
          </a:prstGeom>
          <a:noFill/>
          <a:ln/>
        </p:spPr>
        <p:txBody>
          <a:bodyPr wrap="square" rtlCol="0"/>
          <a:lstStyle>
            <a:lvl1pPr marL="0" indent="0" algn="l">
              <a:buNone/>
              <a:defRPr lang="en-US" sz="5400" b="1" dirty="0">
                <a:solidFill>
                  <a:schemeClr val="bg1"/>
                </a:solidFill>
                <a:latin typeface="Aptos Display" pitchFamily="34" charset="0"/>
                <a:ea typeface="Aptos Display" pitchFamily="34" charset="-122"/>
                <a:cs typeface="Aptos Display" pitchFamily="34" charset="-120"/>
              </a:defRPr>
            </a:lvl1pPr>
          </a:lstStyle>
          <a:p>
            <a:pPr marL="0" indent="0" algn="l">
              <a:buNone/>
            </a:pPr>
            <a:endParaRPr lang="en-US" sz="5400" dirty="0"/>
          </a:p>
        </p:txBody>
      </p:sp>
      <p:sp>
        <p:nvSpPr>
          <p:cNvPr id="4" name="Text 1"/>
          <p:cNvSpPr>
            <a:spLocks noGrp="1"/>
          </p:cNvSpPr>
          <p:nvPr>
            <p:ph type="body" idx="102" hasCustomPrompt="1"/>
          </p:nvPr>
        </p:nvSpPr>
        <p:spPr>
          <a:xfrm>
            <a:off x="548640" y="3520440"/>
            <a:ext cx="6035040" cy="914400"/>
          </a:xfrm>
          <a:prstGeom prst="rect">
            <a:avLst/>
          </a:prstGeom>
          <a:noFill/>
          <a:ln/>
        </p:spPr>
        <p:txBody>
          <a:bodyPr wrap="square" rtlCol="0"/>
          <a:lstStyle>
            <a:lvl1pPr marL="0" indent="0" algn="l">
              <a:buNone/>
              <a:defRPr lang="en-US" sz="2000" dirty="0">
                <a:solidFill>
                  <a:srgbClr val="D5ECEF"/>
                </a:solidFill>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D5ECE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BITA_DARK">
    <p:bg>
      <p:bgPr>
        <a:solidFill>
          <a:srgbClr val="00434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1.png"/><Relationship Id="rId10" Type="http://schemas.openxmlformats.org/officeDocument/2006/relationships/image" Target="../media/image23.png"/><Relationship Id="rId4" Type="http://schemas.openxmlformats.org/officeDocument/2006/relationships/image" Target="../media/image10.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3.png"/><Relationship Id="rId21" Type="http://schemas.openxmlformats.org/officeDocument/2006/relationships/image" Target="../media/image44.png"/><Relationship Id="rId7" Type="http://schemas.openxmlformats.org/officeDocument/2006/relationships/image" Target="../media/image31.png"/><Relationship Id="rId12" Type="http://schemas.openxmlformats.org/officeDocument/2006/relationships/image" Target="../media/image35.png"/><Relationship Id="rId17" Type="http://schemas.openxmlformats.org/officeDocument/2006/relationships/image" Target="../media/image40.png"/><Relationship Id="rId25" Type="http://schemas.openxmlformats.org/officeDocument/2006/relationships/image" Target="../media/image48.png"/><Relationship Id="rId2" Type="http://schemas.openxmlformats.org/officeDocument/2006/relationships/notesSlide" Target="../notesSlides/notesSlide13.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4.png"/><Relationship Id="rId24" Type="http://schemas.openxmlformats.org/officeDocument/2006/relationships/image" Target="../media/image47.png"/><Relationship Id="rId5" Type="http://schemas.openxmlformats.org/officeDocument/2006/relationships/image" Target="../media/image29.png"/><Relationship Id="rId15" Type="http://schemas.openxmlformats.org/officeDocument/2006/relationships/image" Target="../media/image38.png"/><Relationship Id="rId23" Type="http://schemas.openxmlformats.org/officeDocument/2006/relationships/image" Target="../media/image46.png"/><Relationship Id="rId10" Type="http://schemas.openxmlformats.org/officeDocument/2006/relationships/image" Target="../media/image6.png"/><Relationship Id="rId19" Type="http://schemas.openxmlformats.org/officeDocument/2006/relationships/image" Target="../media/image42.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7.png"/><Relationship Id="rId22"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5.png"/><Relationship Id="rId7"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8.png"/><Relationship Id="rId9"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60.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ABiTA"/>
          <p:cNvPicPr>
            <a:picLocks noChangeAspect="1"/>
          </p:cNvPicPr>
          <p:nvPr/>
        </p:nvPicPr>
        <p:blipFill>
          <a:blip r:embed="rId3"/>
          <a:stretch>
            <a:fillRect/>
          </a:stretch>
        </p:blipFill>
        <p:spPr>
          <a:xfrm>
            <a:off x="548640" y="548640"/>
            <a:ext cx="566928" cy="566928"/>
          </a:xfrm>
          <a:prstGeom prst="rect">
            <a:avLst/>
          </a:prstGeom>
        </p:spPr>
      </p:pic>
      <p:sp>
        <p:nvSpPr>
          <p:cNvPr id="3" name="Text 0"/>
          <p:cNvSpPr txBox="1"/>
          <p:nvPr/>
        </p:nvSpPr>
        <p:spPr>
          <a:xfrm>
            <a:off x="1261872" y="548640"/>
            <a:ext cx="1828800" cy="566928"/>
          </a:xfrm>
          <a:prstGeom prst="rect">
            <a:avLst/>
          </a:prstGeom>
          <a:noFill/>
          <a:ln/>
        </p:spPr>
        <p:txBody>
          <a:bodyPr wrap="square" lIns="0" tIns="0" rIns="0" bIns="0" rtlCol="0" anchor="ctr"/>
          <a:lstStyle/>
          <a:p>
            <a:pPr marL="0" indent="0">
              <a:buNone/>
            </a:pPr>
            <a:r>
              <a:rPr lang="en-US" sz="2400" b="1" dirty="0">
                <a:solidFill>
                  <a:schemeClr val="bg1"/>
                </a:solidFill>
                <a:latin typeface="+mj-lt" pitchFamily="34" charset="0"/>
                <a:ea typeface="+mj-lt" pitchFamily="34" charset="-122"/>
                <a:cs typeface="+mj-lt" pitchFamily="34" charset="-120"/>
              </a:rPr>
              <a:t>AB</a:t>
            </a:r>
            <a:r>
              <a:rPr lang="en-US" sz="2400" b="1" dirty="0">
                <a:solidFill>
                  <a:srgbClr val="FF8A8E"/>
                </a:solidFill>
                <a:latin typeface="+mj-lt" pitchFamily="34" charset="0"/>
                <a:ea typeface="+mj-lt" pitchFamily="34" charset="-122"/>
                <a:cs typeface="+mj-lt" pitchFamily="34" charset="-120"/>
              </a:rPr>
              <a:t>i</a:t>
            </a:r>
            <a:r>
              <a:rPr lang="en-US" sz="2400" b="1" dirty="0">
                <a:solidFill>
                  <a:schemeClr val="bg1"/>
                </a:solidFill>
                <a:latin typeface="+mj-lt" pitchFamily="34" charset="0"/>
                <a:ea typeface="+mj-lt" pitchFamily="34" charset="-122"/>
                <a:cs typeface="+mj-lt" pitchFamily="34" charset="-120"/>
              </a:rPr>
              <a:t>TA</a:t>
            </a:r>
            <a:endParaRPr lang="en-US" sz="2400" dirty="0"/>
          </a:p>
        </p:txBody>
      </p:sp>
      <p:sp>
        <p:nvSpPr>
          <p:cNvPr id="4" name="Text 1"/>
          <p:cNvSpPr txBox="1"/>
          <p:nvPr/>
        </p:nvSpPr>
        <p:spPr>
          <a:xfrm>
            <a:off x="548640" y="2011680"/>
            <a:ext cx="6766560" cy="822960"/>
          </a:xfrm>
          <a:prstGeom prst="rect">
            <a:avLst/>
          </a:prstGeom>
          <a:noFill/>
          <a:ln/>
        </p:spPr>
        <p:txBody>
          <a:bodyPr wrap="square" lIns="0" tIns="0" rIns="0" bIns="0" rtlCol="0" anchor="t"/>
          <a:lstStyle/>
          <a:p>
            <a:pPr marL="0" indent="0">
              <a:buNone/>
            </a:pPr>
            <a:r>
              <a:rPr lang="en-US" sz="4600" b="1" dirty="0">
                <a:solidFill>
                  <a:schemeClr val="bg1"/>
                </a:solidFill>
                <a:latin typeface="+mj-lt" pitchFamily="34" charset="0"/>
                <a:ea typeface="+mj-lt" pitchFamily="34" charset="-122"/>
                <a:cs typeface="+mj-lt" pitchFamily="34" charset="-120"/>
              </a:rPr>
              <a:t>Analisis Sistem</a:t>
            </a:r>
            <a:endParaRPr lang="en-US" sz="4600" dirty="0"/>
          </a:p>
        </p:txBody>
      </p:sp>
      <p:sp>
        <p:nvSpPr>
          <p:cNvPr id="5" name="Text 2"/>
          <p:cNvSpPr txBox="1"/>
          <p:nvPr/>
        </p:nvSpPr>
        <p:spPr>
          <a:xfrm>
            <a:off x="548640" y="2788920"/>
            <a:ext cx="5486400" cy="1234440"/>
          </a:xfrm>
          <a:prstGeom prst="rect">
            <a:avLst/>
          </a:prstGeom>
          <a:noFill/>
          <a:ln/>
        </p:spPr>
        <p:txBody>
          <a:bodyPr wrap="square" lIns="0" tIns="0" rIns="0" bIns="0" rtlCol="0" anchor="ctr"/>
          <a:lstStyle/>
          <a:p>
            <a:pPr marL="0" indent="0">
              <a:buNone/>
            </a:pPr>
            <a:r>
              <a:rPr lang="en-US" sz="8800" b="1" dirty="0">
                <a:solidFill>
                  <a:schemeClr val="bg1"/>
                </a:solidFill>
                <a:latin typeface="+mj-lt" pitchFamily="34" charset="0"/>
                <a:ea typeface="+mj-lt" pitchFamily="34" charset="-122"/>
                <a:cs typeface="+mj-lt" pitchFamily="34" charset="-120"/>
              </a:rPr>
              <a:t>AB</a:t>
            </a:r>
            <a:r>
              <a:rPr lang="en-US" sz="8800" b="1" dirty="0">
                <a:solidFill>
                  <a:srgbClr val="FF8A8E"/>
                </a:solidFill>
                <a:latin typeface="+mj-lt" pitchFamily="34" charset="0"/>
                <a:ea typeface="+mj-lt" pitchFamily="34" charset="-122"/>
                <a:cs typeface="+mj-lt" pitchFamily="34" charset="-120"/>
              </a:rPr>
              <a:t>i</a:t>
            </a:r>
            <a:r>
              <a:rPr lang="en-US" sz="8800" b="1" dirty="0">
                <a:solidFill>
                  <a:schemeClr val="bg1"/>
                </a:solidFill>
                <a:latin typeface="+mj-lt" pitchFamily="34" charset="0"/>
                <a:ea typeface="+mj-lt" pitchFamily="34" charset="-122"/>
                <a:cs typeface="+mj-lt" pitchFamily="34" charset="-120"/>
              </a:rPr>
              <a:t>TA</a:t>
            </a:r>
            <a:endParaRPr lang="en-US" sz="8800" dirty="0"/>
          </a:p>
        </p:txBody>
      </p:sp>
      <p:sp>
        <p:nvSpPr>
          <p:cNvPr id="6" name="Text 3"/>
          <p:cNvSpPr txBox="1"/>
          <p:nvPr/>
        </p:nvSpPr>
        <p:spPr>
          <a:xfrm>
            <a:off x="548640" y="4160520"/>
            <a:ext cx="6583680" cy="731520"/>
          </a:xfrm>
          <a:prstGeom prst="rect">
            <a:avLst/>
          </a:prstGeom>
          <a:noFill/>
          <a:ln/>
        </p:spPr>
        <p:txBody>
          <a:bodyPr wrap="square" lIns="0" tIns="0" rIns="0" bIns="0" rtlCol="0" anchor="t"/>
          <a:lstStyle/>
          <a:p>
            <a:pPr marL="0" indent="0">
              <a:buNone/>
            </a:pPr>
            <a:r>
              <a:rPr lang="en-US" sz="2000" dirty="0">
                <a:solidFill>
                  <a:srgbClr val="D5ECEF"/>
                </a:solidFill>
              </a:rPr>
              <a:t>Awal Bros Integrated Time &amp; Attendance (Internship and Outsourcing)</a:t>
            </a:r>
            <a:endParaRPr lang="en-US" sz="2000" dirty="0"/>
          </a:p>
        </p:txBody>
      </p:sp>
      <p:sp>
        <p:nvSpPr>
          <p:cNvPr id="7" name="Text 4"/>
          <p:cNvSpPr txBox="1"/>
          <p:nvPr/>
        </p:nvSpPr>
        <p:spPr>
          <a:xfrm>
            <a:off x="548640" y="5074920"/>
            <a:ext cx="6583680" cy="365760"/>
          </a:xfrm>
          <a:prstGeom prst="rect">
            <a:avLst/>
          </a:prstGeom>
          <a:noFill/>
          <a:ln/>
        </p:spPr>
        <p:txBody>
          <a:bodyPr wrap="square" lIns="0" tIns="0" rIns="0" bIns="0" rtlCol="0" anchor="t"/>
          <a:lstStyle/>
          <a:p>
            <a:pPr marL="0" indent="0">
              <a:buNone/>
            </a:pPr>
            <a:r>
              <a:rPr lang="en-US" sz="1400" dirty="0">
                <a:solidFill>
                  <a:srgbClr val="A9D3D8"/>
                </a:solidFill>
              </a:rPr>
              <a:t>RS Awal Bros Botania · Oktober 2026</a:t>
            </a:r>
            <a:endParaRPr lang="en-US" sz="1400" dirty="0"/>
          </a:p>
        </p:txBody>
      </p:sp>
      <p:sp>
        <p:nvSpPr>
          <p:cNvPr id="8" name="Shape 5"/>
          <p:cNvSpPr/>
          <p:nvPr/>
        </p:nvSpPr>
        <p:spPr>
          <a:xfrm>
            <a:off x="8769096" y="896112"/>
            <a:ext cx="877824" cy="877824"/>
          </a:xfrm>
          <a:prstGeom prst="roundRect">
            <a:avLst>
              <a:gd name="adj" fmla="val 22000"/>
            </a:avLst>
          </a:prstGeom>
          <a:solidFill>
            <a:schemeClr val="bg1">
              <a:alpha val="12000"/>
            </a:schemeClr>
          </a:solidFill>
          <a:ln/>
        </p:spPr>
      </p:sp>
      <p:sp>
        <p:nvSpPr>
          <p:cNvPr id="9" name="Shape 6"/>
          <p:cNvSpPr/>
          <p:nvPr/>
        </p:nvSpPr>
        <p:spPr>
          <a:xfrm>
            <a:off x="9811512" y="896112"/>
            <a:ext cx="877824" cy="877824"/>
          </a:xfrm>
          <a:prstGeom prst="roundRect">
            <a:avLst>
              <a:gd name="adj" fmla="val 22000"/>
            </a:avLst>
          </a:prstGeom>
          <a:solidFill>
            <a:schemeClr val="accent1"/>
          </a:solidFill>
          <a:ln/>
        </p:spPr>
      </p:sp>
      <p:pic>
        <p:nvPicPr>
          <p:cNvPr id="10" name="Image 1" descr="preencoded.png"/>
          <p:cNvPicPr>
            <a:picLocks noChangeAspect="1"/>
          </p:cNvPicPr>
          <p:nvPr/>
        </p:nvPicPr>
        <p:blipFill>
          <a:blip r:embed="rId4"/>
          <a:stretch>
            <a:fillRect/>
          </a:stretch>
        </p:blipFill>
        <p:spPr>
          <a:xfrm>
            <a:off x="10030968" y="1115568"/>
            <a:ext cx="438912" cy="438912"/>
          </a:xfrm>
          <a:prstGeom prst="rect">
            <a:avLst/>
          </a:prstGeom>
        </p:spPr>
      </p:pic>
      <p:sp>
        <p:nvSpPr>
          <p:cNvPr id="11" name="Shape 7"/>
          <p:cNvSpPr/>
          <p:nvPr/>
        </p:nvSpPr>
        <p:spPr>
          <a:xfrm>
            <a:off x="10853928" y="896112"/>
            <a:ext cx="877824" cy="877824"/>
          </a:xfrm>
          <a:prstGeom prst="roundRect">
            <a:avLst>
              <a:gd name="adj" fmla="val 22000"/>
            </a:avLst>
          </a:prstGeom>
          <a:solidFill>
            <a:schemeClr val="bg1">
              <a:alpha val="12000"/>
            </a:schemeClr>
          </a:solidFill>
          <a:ln/>
        </p:spPr>
      </p:sp>
      <p:sp>
        <p:nvSpPr>
          <p:cNvPr id="12" name="Shape 8"/>
          <p:cNvSpPr/>
          <p:nvPr/>
        </p:nvSpPr>
        <p:spPr>
          <a:xfrm>
            <a:off x="7726680" y="1938528"/>
            <a:ext cx="877824" cy="877824"/>
          </a:xfrm>
          <a:prstGeom prst="roundRect">
            <a:avLst>
              <a:gd name="adj" fmla="val 22000"/>
            </a:avLst>
          </a:prstGeom>
          <a:solidFill>
            <a:schemeClr val="accent3"/>
          </a:solidFill>
          <a:ln/>
        </p:spPr>
      </p:sp>
      <p:pic>
        <p:nvPicPr>
          <p:cNvPr id="13" name="Image 2" descr="preencoded.png"/>
          <p:cNvPicPr>
            <a:picLocks noChangeAspect="1"/>
          </p:cNvPicPr>
          <p:nvPr/>
        </p:nvPicPr>
        <p:blipFill>
          <a:blip r:embed="rId5"/>
          <a:stretch>
            <a:fillRect/>
          </a:stretch>
        </p:blipFill>
        <p:spPr>
          <a:xfrm>
            <a:off x="7946136" y="2157984"/>
            <a:ext cx="438912" cy="438912"/>
          </a:xfrm>
          <a:prstGeom prst="rect">
            <a:avLst/>
          </a:prstGeom>
        </p:spPr>
      </p:pic>
      <p:sp>
        <p:nvSpPr>
          <p:cNvPr id="14" name="Shape 9"/>
          <p:cNvSpPr/>
          <p:nvPr/>
        </p:nvSpPr>
        <p:spPr>
          <a:xfrm>
            <a:off x="8769096" y="1938528"/>
            <a:ext cx="877824" cy="877824"/>
          </a:xfrm>
          <a:prstGeom prst="roundRect">
            <a:avLst>
              <a:gd name="adj" fmla="val 22000"/>
            </a:avLst>
          </a:prstGeom>
          <a:solidFill>
            <a:schemeClr val="bg1">
              <a:alpha val="12000"/>
            </a:schemeClr>
          </a:solidFill>
          <a:ln/>
        </p:spPr>
      </p:sp>
      <p:sp>
        <p:nvSpPr>
          <p:cNvPr id="15" name="Shape 10"/>
          <p:cNvSpPr/>
          <p:nvPr/>
        </p:nvSpPr>
        <p:spPr>
          <a:xfrm>
            <a:off x="9811512" y="1938528"/>
            <a:ext cx="877824" cy="877824"/>
          </a:xfrm>
          <a:prstGeom prst="roundRect">
            <a:avLst>
              <a:gd name="adj" fmla="val 22000"/>
            </a:avLst>
          </a:prstGeom>
          <a:solidFill>
            <a:schemeClr val="bg1">
              <a:alpha val="12000"/>
            </a:schemeClr>
          </a:solidFill>
          <a:ln/>
        </p:spPr>
      </p:sp>
      <p:sp>
        <p:nvSpPr>
          <p:cNvPr id="16" name="Shape 11"/>
          <p:cNvSpPr/>
          <p:nvPr/>
        </p:nvSpPr>
        <p:spPr>
          <a:xfrm>
            <a:off x="10853928" y="1938528"/>
            <a:ext cx="877824" cy="877824"/>
          </a:xfrm>
          <a:prstGeom prst="roundRect">
            <a:avLst>
              <a:gd name="adj" fmla="val 22000"/>
            </a:avLst>
          </a:prstGeom>
          <a:solidFill>
            <a:schemeClr val="accent1"/>
          </a:solidFill>
          <a:ln/>
        </p:spPr>
      </p:sp>
      <p:pic>
        <p:nvPicPr>
          <p:cNvPr id="17" name="Image 3" descr="preencoded.png"/>
          <p:cNvPicPr>
            <a:picLocks noChangeAspect="1"/>
          </p:cNvPicPr>
          <p:nvPr/>
        </p:nvPicPr>
        <p:blipFill>
          <a:blip r:embed="rId6"/>
          <a:stretch>
            <a:fillRect/>
          </a:stretch>
        </p:blipFill>
        <p:spPr>
          <a:xfrm>
            <a:off x="11073384" y="2157984"/>
            <a:ext cx="438912" cy="438912"/>
          </a:xfrm>
          <a:prstGeom prst="rect">
            <a:avLst/>
          </a:prstGeom>
        </p:spPr>
      </p:pic>
      <p:sp>
        <p:nvSpPr>
          <p:cNvPr id="18" name="Shape 12"/>
          <p:cNvSpPr/>
          <p:nvPr/>
        </p:nvSpPr>
        <p:spPr>
          <a:xfrm>
            <a:off x="7726680" y="2980944"/>
            <a:ext cx="877824" cy="877824"/>
          </a:xfrm>
          <a:prstGeom prst="roundRect">
            <a:avLst>
              <a:gd name="adj" fmla="val 22000"/>
            </a:avLst>
          </a:prstGeom>
          <a:solidFill>
            <a:schemeClr val="bg1">
              <a:alpha val="12000"/>
            </a:schemeClr>
          </a:solidFill>
          <a:ln/>
        </p:spPr>
      </p:sp>
      <p:sp>
        <p:nvSpPr>
          <p:cNvPr id="19" name="Shape 13"/>
          <p:cNvSpPr/>
          <p:nvPr/>
        </p:nvSpPr>
        <p:spPr>
          <a:xfrm>
            <a:off x="8769096" y="2980944"/>
            <a:ext cx="877824" cy="877824"/>
          </a:xfrm>
          <a:prstGeom prst="roundRect">
            <a:avLst>
              <a:gd name="adj" fmla="val 22000"/>
            </a:avLst>
          </a:prstGeom>
          <a:solidFill>
            <a:schemeClr val="bg1"/>
          </a:solidFill>
          <a:ln/>
        </p:spPr>
      </p:sp>
      <p:pic>
        <p:nvPicPr>
          <p:cNvPr id="20" name="Image 4" descr="Logo ABiTA"/>
          <p:cNvPicPr>
            <a:picLocks noChangeAspect="1"/>
          </p:cNvPicPr>
          <p:nvPr/>
        </p:nvPicPr>
        <p:blipFill>
          <a:blip r:embed="rId3"/>
          <a:stretch>
            <a:fillRect/>
          </a:stretch>
        </p:blipFill>
        <p:spPr>
          <a:xfrm>
            <a:off x="8874435" y="3086283"/>
            <a:ext cx="667146" cy="667146"/>
          </a:xfrm>
          <a:prstGeom prst="rect">
            <a:avLst/>
          </a:prstGeom>
        </p:spPr>
      </p:pic>
      <p:sp>
        <p:nvSpPr>
          <p:cNvPr id="21" name="Shape 14"/>
          <p:cNvSpPr/>
          <p:nvPr/>
        </p:nvSpPr>
        <p:spPr>
          <a:xfrm>
            <a:off x="9811512" y="2980944"/>
            <a:ext cx="877824" cy="877824"/>
          </a:xfrm>
          <a:prstGeom prst="roundRect">
            <a:avLst>
              <a:gd name="adj" fmla="val 22000"/>
            </a:avLst>
          </a:prstGeom>
          <a:solidFill>
            <a:schemeClr val="accent2"/>
          </a:solidFill>
          <a:ln/>
        </p:spPr>
      </p:sp>
      <p:pic>
        <p:nvPicPr>
          <p:cNvPr id="22" name="Image 5" descr="preencoded.png"/>
          <p:cNvPicPr>
            <a:picLocks noChangeAspect="1"/>
          </p:cNvPicPr>
          <p:nvPr/>
        </p:nvPicPr>
        <p:blipFill>
          <a:blip r:embed="rId7"/>
          <a:stretch>
            <a:fillRect/>
          </a:stretch>
        </p:blipFill>
        <p:spPr>
          <a:xfrm>
            <a:off x="10030968" y="3200400"/>
            <a:ext cx="438912" cy="438912"/>
          </a:xfrm>
          <a:prstGeom prst="rect">
            <a:avLst/>
          </a:prstGeom>
        </p:spPr>
      </p:pic>
      <p:sp>
        <p:nvSpPr>
          <p:cNvPr id="23" name="Shape 15"/>
          <p:cNvSpPr/>
          <p:nvPr/>
        </p:nvSpPr>
        <p:spPr>
          <a:xfrm>
            <a:off x="10853928" y="2980944"/>
            <a:ext cx="877824" cy="877824"/>
          </a:xfrm>
          <a:prstGeom prst="roundRect">
            <a:avLst>
              <a:gd name="adj" fmla="val 22000"/>
            </a:avLst>
          </a:prstGeom>
          <a:solidFill>
            <a:schemeClr val="bg1">
              <a:alpha val="12000"/>
            </a:schemeClr>
          </a:solidFill>
          <a:ln/>
        </p:spPr>
      </p:sp>
      <p:sp>
        <p:nvSpPr>
          <p:cNvPr id="24" name="Shape 16"/>
          <p:cNvSpPr/>
          <p:nvPr/>
        </p:nvSpPr>
        <p:spPr>
          <a:xfrm>
            <a:off x="7726680" y="4023360"/>
            <a:ext cx="877824" cy="877824"/>
          </a:xfrm>
          <a:prstGeom prst="roundRect">
            <a:avLst>
              <a:gd name="adj" fmla="val 22000"/>
            </a:avLst>
          </a:prstGeom>
          <a:solidFill>
            <a:schemeClr val="accent1"/>
          </a:solidFill>
          <a:ln/>
        </p:spPr>
      </p:sp>
      <p:pic>
        <p:nvPicPr>
          <p:cNvPr id="25" name="Image 6" descr="preencoded.png"/>
          <p:cNvPicPr>
            <a:picLocks noChangeAspect="1"/>
          </p:cNvPicPr>
          <p:nvPr/>
        </p:nvPicPr>
        <p:blipFill>
          <a:blip r:embed="rId8"/>
          <a:stretch>
            <a:fillRect/>
          </a:stretch>
        </p:blipFill>
        <p:spPr>
          <a:xfrm>
            <a:off x="7946136" y="4242816"/>
            <a:ext cx="438912" cy="438912"/>
          </a:xfrm>
          <a:prstGeom prst="rect">
            <a:avLst/>
          </a:prstGeom>
        </p:spPr>
      </p:pic>
      <p:sp>
        <p:nvSpPr>
          <p:cNvPr id="26" name="Shape 17"/>
          <p:cNvSpPr/>
          <p:nvPr/>
        </p:nvSpPr>
        <p:spPr>
          <a:xfrm>
            <a:off x="8769096" y="4023360"/>
            <a:ext cx="877824" cy="877824"/>
          </a:xfrm>
          <a:prstGeom prst="roundRect">
            <a:avLst>
              <a:gd name="adj" fmla="val 22000"/>
            </a:avLst>
          </a:prstGeom>
          <a:solidFill>
            <a:schemeClr val="bg1">
              <a:alpha val="12000"/>
            </a:schemeClr>
          </a:solidFill>
          <a:ln/>
        </p:spPr>
      </p:sp>
      <p:sp>
        <p:nvSpPr>
          <p:cNvPr id="27" name="Shape 18"/>
          <p:cNvSpPr/>
          <p:nvPr/>
        </p:nvSpPr>
        <p:spPr>
          <a:xfrm>
            <a:off x="9811512" y="4023360"/>
            <a:ext cx="877824" cy="877824"/>
          </a:xfrm>
          <a:prstGeom prst="roundRect">
            <a:avLst>
              <a:gd name="adj" fmla="val 22000"/>
            </a:avLst>
          </a:prstGeom>
          <a:solidFill>
            <a:schemeClr val="accent3"/>
          </a:solidFill>
          <a:ln/>
        </p:spPr>
      </p:sp>
      <p:pic>
        <p:nvPicPr>
          <p:cNvPr id="28" name="Image 7" descr="preencoded.png"/>
          <p:cNvPicPr>
            <a:picLocks noChangeAspect="1"/>
          </p:cNvPicPr>
          <p:nvPr/>
        </p:nvPicPr>
        <p:blipFill>
          <a:blip r:embed="rId9"/>
          <a:stretch>
            <a:fillRect/>
          </a:stretch>
        </p:blipFill>
        <p:spPr>
          <a:xfrm>
            <a:off x="10030968" y="4242816"/>
            <a:ext cx="438912" cy="438912"/>
          </a:xfrm>
          <a:prstGeom prst="rect">
            <a:avLst/>
          </a:prstGeom>
        </p:spPr>
      </p:pic>
      <p:sp>
        <p:nvSpPr>
          <p:cNvPr id="29" name="Shape 19"/>
          <p:cNvSpPr/>
          <p:nvPr/>
        </p:nvSpPr>
        <p:spPr>
          <a:xfrm>
            <a:off x="10853928" y="4023360"/>
            <a:ext cx="877824" cy="877824"/>
          </a:xfrm>
          <a:prstGeom prst="roundRect">
            <a:avLst>
              <a:gd name="adj" fmla="val 22000"/>
            </a:avLst>
          </a:prstGeom>
          <a:solidFill>
            <a:schemeClr val="bg1">
              <a:alpha val="12000"/>
            </a:schemeClr>
          </a:solidFill>
          <a:ln/>
        </p:spPr>
      </p:sp>
      <p:sp>
        <p:nvSpPr>
          <p:cNvPr id="30" name="Shape 20"/>
          <p:cNvSpPr/>
          <p:nvPr/>
        </p:nvSpPr>
        <p:spPr>
          <a:xfrm>
            <a:off x="8769096" y="5065776"/>
            <a:ext cx="877824" cy="877824"/>
          </a:xfrm>
          <a:prstGeom prst="roundRect">
            <a:avLst>
              <a:gd name="adj" fmla="val 22000"/>
            </a:avLst>
          </a:prstGeom>
          <a:solidFill>
            <a:schemeClr val="accent1"/>
          </a:solidFill>
          <a:ln/>
        </p:spPr>
      </p:sp>
      <p:pic>
        <p:nvPicPr>
          <p:cNvPr id="31" name="Image 8" descr="preencoded.png"/>
          <p:cNvPicPr>
            <a:picLocks noChangeAspect="1"/>
          </p:cNvPicPr>
          <p:nvPr/>
        </p:nvPicPr>
        <p:blipFill>
          <a:blip r:embed="rId10"/>
          <a:stretch>
            <a:fillRect/>
          </a:stretch>
        </p:blipFill>
        <p:spPr>
          <a:xfrm>
            <a:off x="8988552" y="5285232"/>
            <a:ext cx="438912" cy="438912"/>
          </a:xfrm>
          <a:prstGeom prst="rect">
            <a:avLst/>
          </a:prstGeom>
        </p:spPr>
      </p:pic>
      <p:sp>
        <p:nvSpPr>
          <p:cNvPr id="32" name="Shape 21"/>
          <p:cNvSpPr/>
          <p:nvPr/>
        </p:nvSpPr>
        <p:spPr>
          <a:xfrm>
            <a:off x="9811512" y="5065776"/>
            <a:ext cx="877824" cy="877824"/>
          </a:xfrm>
          <a:prstGeom prst="roundRect">
            <a:avLst>
              <a:gd name="adj" fmla="val 22000"/>
            </a:avLst>
          </a:prstGeom>
          <a:solidFill>
            <a:schemeClr val="bg1">
              <a:alpha val="12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874520"/>
            <a:ext cx="2743200" cy="548640"/>
          </a:xfrm>
          <a:prstGeom prst="rect">
            <a:avLst/>
          </a:prstGeom>
          <a:noFill/>
          <a:ln/>
        </p:spPr>
        <p:txBody>
          <a:bodyPr wrap="square" lIns="0" tIns="0" rIns="0" bIns="0" rtlCol="0" anchor="t"/>
          <a:lstStyle/>
          <a:p>
            <a:pPr marL="0" indent="0">
              <a:buNone/>
            </a:pPr>
            <a:r>
              <a:rPr lang="en-US" sz="2000" b="1" dirty="0">
                <a:solidFill>
                  <a:srgbClr val="D5ECEF"/>
                </a:solidFill>
              </a:rPr>
              <a:t>01</a:t>
            </a:r>
            <a:endParaRPr lang="en-US" sz="2000" dirty="0"/>
          </a:p>
        </p:txBody>
      </p:sp>
      <p:sp>
        <p:nvSpPr>
          <p:cNvPr id="3" name="Text 1"/>
          <p:cNvSpPr>
            <a:spLocks noGrp="1"/>
          </p:cNvSpPr>
          <p:nvPr>
            <p:ph type="title" idx="101" hasCustomPrompt="1"/>
          </p:nvPr>
        </p:nvSpPr>
        <p:spPr>
          <a:xfrm>
            <a:off x="548640" y="2514600"/>
            <a:ext cx="6583680" cy="914400"/>
          </a:xfrm>
          <a:prstGeom prst="rect">
            <a:avLst/>
          </a:prstGeom>
          <a:noFill/>
          <a:ln/>
        </p:spPr>
        <p:txBody>
          <a:bodyPr wrap="square" lIns="0" tIns="0" rIns="0" bIns="0" rtlCol="0" anchor="ctr"/>
          <a:lstStyle/>
          <a:p>
            <a:pPr marL="0" indent="0" algn="l">
              <a:buNone/>
            </a:pPr>
            <a:r>
              <a:rPr lang="en-US" dirty="0" err="1"/>
              <a:t>Pendahuluan</a:t>
            </a:r>
            <a:endParaRPr lang="en-US" sz="5400" dirty="0"/>
          </a:p>
        </p:txBody>
      </p:sp>
      <p:sp>
        <p:nvSpPr>
          <p:cNvPr id="4" name="Text 1"/>
          <p:cNvSpPr>
            <a:spLocks noGrp="1"/>
          </p:cNvSpPr>
          <p:nvPr>
            <p:ph type="body" idx="102" hasCustomPrompt="1"/>
          </p:nvPr>
        </p:nvSpPr>
        <p:spPr>
          <a:xfrm>
            <a:off x="548640" y="3520440"/>
            <a:ext cx="6035040" cy="914400"/>
          </a:xfrm>
          <a:prstGeom prst="rect">
            <a:avLst/>
          </a:prstGeom>
          <a:noFill/>
          <a:ln/>
        </p:spPr>
        <p:txBody>
          <a:bodyPr wrap="square" lIns="0" tIns="0" rIns="0" bIns="0" rtlCol="0" anchor="t"/>
          <a:lstStyle/>
          <a:p>
            <a:pPr marL="0" indent="0" algn="l">
              <a:buNone/>
            </a:pPr>
            <a:r>
              <a:rPr lang="en-US" sz="2000" dirty="0">
                <a:solidFill>
                  <a:srgbClr val="D5ECEF"/>
                </a:solidFill>
              </a:rPr>
              <a:t>Latar belakang, tujuan, skala sistem, dan tiga peran pengguna</a:t>
            </a:r>
            <a:endParaRPr lang="en-US" sz="2000" dirty="0"/>
          </a:p>
        </p:txBody>
      </p:sp>
      <p:sp>
        <p:nvSpPr>
          <p:cNvPr id="5" name="Shape 3"/>
          <p:cNvSpPr/>
          <p:nvPr/>
        </p:nvSpPr>
        <p:spPr>
          <a:xfrm>
            <a:off x="7818120" y="1417320"/>
            <a:ext cx="1005840" cy="1005840"/>
          </a:xfrm>
          <a:prstGeom prst="roundRect">
            <a:avLst>
              <a:gd name="adj" fmla="val 22000"/>
            </a:avLst>
          </a:prstGeom>
          <a:solidFill>
            <a:schemeClr val="tx2"/>
          </a:solidFill>
          <a:ln/>
        </p:spPr>
      </p:sp>
      <p:pic>
        <p:nvPicPr>
          <p:cNvPr id="6" name="Image 0" descr="preencoded.png"/>
          <p:cNvPicPr>
            <a:picLocks noChangeAspect="1"/>
          </p:cNvPicPr>
          <p:nvPr/>
        </p:nvPicPr>
        <p:blipFill>
          <a:blip r:embed="rId3"/>
          <a:stretch>
            <a:fillRect/>
          </a:stretch>
        </p:blipFill>
        <p:spPr>
          <a:xfrm>
            <a:off x="8069580" y="1668780"/>
            <a:ext cx="502920" cy="502920"/>
          </a:xfrm>
          <a:prstGeom prst="rect">
            <a:avLst/>
          </a:prstGeom>
        </p:spPr>
      </p:pic>
      <p:sp>
        <p:nvSpPr>
          <p:cNvPr id="7" name="Shape 4"/>
          <p:cNvSpPr/>
          <p:nvPr/>
        </p:nvSpPr>
        <p:spPr>
          <a:xfrm>
            <a:off x="9025128" y="1417320"/>
            <a:ext cx="1005840" cy="1005840"/>
          </a:xfrm>
          <a:prstGeom prst="roundRect">
            <a:avLst>
              <a:gd name="adj" fmla="val 22000"/>
            </a:avLst>
          </a:prstGeom>
          <a:solidFill>
            <a:schemeClr val="bg1">
              <a:alpha val="12000"/>
            </a:schemeClr>
          </a:solidFill>
          <a:ln/>
        </p:spPr>
      </p:sp>
      <p:sp>
        <p:nvSpPr>
          <p:cNvPr id="8" name="Shape 5"/>
          <p:cNvSpPr/>
          <p:nvPr/>
        </p:nvSpPr>
        <p:spPr>
          <a:xfrm>
            <a:off x="10232136" y="1417320"/>
            <a:ext cx="1005840" cy="1005840"/>
          </a:xfrm>
          <a:prstGeom prst="roundRect">
            <a:avLst>
              <a:gd name="adj" fmla="val 22000"/>
            </a:avLst>
          </a:prstGeom>
          <a:solidFill>
            <a:schemeClr val="accent3"/>
          </a:solidFill>
          <a:ln/>
        </p:spPr>
      </p:sp>
      <p:pic>
        <p:nvPicPr>
          <p:cNvPr id="9" name="Image 1" descr="preencoded.png"/>
          <p:cNvPicPr>
            <a:picLocks noChangeAspect="1"/>
          </p:cNvPicPr>
          <p:nvPr/>
        </p:nvPicPr>
        <p:blipFill>
          <a:blip r:embed="rId4"/>
          <a:stretch>
            <a:fillRect/>
          </a:stretch>
        </p:blipFill>
        <p:spPr>
          <a:xfrm>
            <a:off x="10483596" y="1668780"/>
            <a:ext cx="502920" cy="502920"/>
          </a:xfrm>
          <a:prstGeom prst="rect">
            <a:avLst/>
          </a:prstGeom>
        </p:spPr>
      </p:pic>
      <p:sp>
        <p:nvSpPr>
          <p:cNvPr id="10" name="Shape 6"/>
          <p:cNvSpPr/>
          <p:nvPr/>
        </p:nvSpPr>
        <p:spPr>
          <a:xfrm>
            <a:off x="7818120" y="2624328"/>
            <a:ext cx="1005840" cy="1005840"/>
          </a:xfrm>
          <a:prstGeom prst="roundRect">
            <a:avLst>
              <a:gd name="adj" fmla="val 22000"/>
            </a:avLst>
          </a:prstGeom>
          <a:solidFill>
            <a:schemeClr val="bg1">
              <a:alpha val="12000"/>
            </a:schemeClr>
          </a:solidFill>
          <a:ln/>
        </p:spPr>
      </p:sp>
      <p:sp>
        <p:nvSpPr>
          <p:cNvPr id="11" name="Shape 7"/>
          <p:cNvSpPr/>
          <p:nvPr/>
        </p:nvSpPr>
        <p:spPr>
          <a:xfrm>
            <a:off x="9025128" y="2624328"/>
            <a:ext cx="1005840" cy="1005840"/>
          </a:xfrm>
          <a:prstGeom prst="roundRect">
            <a:avLst>
              <a:gd name="adj" fmla="val 22000"/>
            </a:avLst>
          </a:prstGeom>
          <a:solidFill>
            <a:schemeClr val="bg1"/>
          </a:solidFill>
          <a:ln/>
        </p:spPr>
      </p:sp>
      <p:pic>
        <p:nvPicPr>
          <p:cNvPr id="12" name="Image 2" descr="Logo ABiTA"/>
          <p:cNvPicPr>
            <a:picLocks noChangeAspect="1"/>
          </p:cNvPicPr>
          <p:nvPr/>
        </p:nvPicPr>
        <p:blipFill>
          <a:blip r:embed="rId5"/>
          <a:stretch>
            <a:fillRect/>
          </a:stretch>
        </p:blipFill>
        <p:spPr>
          <a:xfrm>
            <a:off x="9145829" y="2745029"/>
            <a:ext cx="764438" cy="764438"/>
          </a:xfrm>
          <a:prstGeom prst="rect">
            <a:avLst/>
          </a:prstGeom>
        </p:spPr>
      </p:pic>
      <p:sp>
        <p:nvSpPr>
          <p:cNvPr id="13" name="Shape 8"/>
          <p:cNvSpPr/>
          <p:nvPr/>
        </p:nvSpPr>
        <p:spPr>
          <a:xfrm>
            <a:off x="10232136" y="2624328"/>
            <a:ext cx="1005840" cy="1005840"/>
          </a:xfrm>
          <a:prstGeom prst="roundRect">
            <a:avLst>
              <a:gd name="adj" fmla="val 22000"/>
            </a:avLst>
          </a:prstGeom>
          <a:solidFill>
            <a:schemeClr val="bg1">
              <a:alpha val="12000"/>
            </a:schemeClr>
          </a:solidFill>
          <a:ln/>
        </p:spPr>
      </p:sp>
      <p:sp>
        <p:nvSpPr>
          <p:cNvPr id="14" name="Shape 9"/>
          <p:cNvSpPr/>
          <p:nvPr/>
        </p:nvSpPr>
        <p:spPr>
          <a:xfrm>
            <a:off x="7818120" y="3831336"/>
            <a:ext cx="1005840" cy="1005840"/>
          </a:xfrm>
          <a:prstGeom prst="roundRect">
            <a:avLst>
              <a:gd name="adj" fmla="val 22000"/>
            </a:avLst>
          </a:prstGeom>
          <a:solidFill>
            <a:schemeClr val="accent3"/>
          </a:solidFill>
          <a:ln/>
        </p:spPr>
      </p:sp>
      <p:pic>
        <p:nvPicPr>
          <p:cNvPr id="15" name="Image 3" descr="preencoded.png"/>
          <p:cNvPicPr>
            <a:picLocks noChangeAspect="1"/>
          </p:cNvPicPr>
          <p:nvPr/>
        </p:nvPicPr>
        <p:blipFill>
          <a:blip r:embed="rId6"/>
          <a:stretch>
            <a:fillRect/>
          </a:stretch>
        </p:blipFill>
        <p:spPr>
          <a:xfrm>
            <a:off x="8069580" y="4082796"/>
            <a:ext cx="502920" cy="502920"/>
          </a:xfrm>
          <a:prstGeom prst="rect">
            <a:avLst/>
          </a:prstGeom>
        </p:spPr>
      </p:pic>
      <p:sp>
        <p:nvSpPr>
          <p:cNvPr id="16" name="Shape 10"/>
          <p:cNvSpPr/>
          <p:nvPr/>
        </p:nvSpPr>
        <p:spPr>
          <a:xfrm>
            <a:off x="9025128" y="3831336"/>
            <a:ext cx="1005840" cy="1005840"/>
          </a:xfrm>
          <a:prstGeom prst="roundRect">
            <a:avLst>
              <a:gd name="adj" fmla="val 22000"/>
            </a:avLst>
          </a:prstGeom>
          <a:solidFill>
            <a:schemeClr val="bg1">
              <a:alpha val="12000"/>
            </a:schemeClr>
          </a:solidFill>
          <a:ln/>
        </p:spPr>
      </p:sp>
      <p:sp>
        <p:nvSpPr>
          <p:cNvPr id="17" name="Shape 11"/>
          <p:cNvSpPr/>
          <p:nvPr/>
        </p:nvSpPr>
        <p:spPr>
          <a:xfrm>
            <a:off x="10232136" y="3831336"/>
            <a:ext cx="1005840" cy="1005840"/>
          </a:xfrm>
          <a:prstGeom prst="roundRect">
            <a:avLst>
              <a:gd name="adj" fmla="val 22000"/>
            </a:avLst>
          </a:prstGeom>
          <a:solidFill>
            <a:schemeClr val="tx2"/>
          </a:solidFill>
          <a:ln/>
        </p:spPr>
      </p:sp>
      <p:pic>
        <p:nvPicPr>
          <p:cNvPr id="18" name="Image 4" descr="preencoded.png"/>
          <p:cNvPicPr>
            <a:picLocks noChangeAspect="1"/>
          </p:cNvPicPr>
          <p:nvPr/>
        </p:nvPicPr>
        <p:blipFill>
          <a:blip r:embed="rId7"/>
          <a:stretch>
            <a:fillRect/>
          </a:stretch>
        </p:blipFill>
        <p:spPr>
          <a:xfrm>
            <a:off x="10483596" y="4082796"/>
            <a:ext cx="502920" cy="502920"/>
          </a:xfrm>
          <a:prstGeom prst="rect">
            <a:avLst/>
          </a:prstGeom>
        </p:spPr>
      </p:pic>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D5ECE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Masalah yang diselesaikan ABiTA</a:t>
            </a:r>
            <a:endParaRPr lang="en-US" sz="2800" dirty="0"/>
          </a:p>
        </p:txBody>
      </p:sp>
      <p:sp>
        <p:nvSpPr>
          <p:cNvPr id="3" name="Shape 1"/>
          <p:cNvSpPr/>
          <p:nvPr/>
        </p:nvSpPr>
        <p:spPr>
          <a:xfrm>
            <a:off x="548640" y="1325880"/>
            <a:ext cx="3310128"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accent2"/>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2121408" cy="566928"/>
          </a:xfrm>
          <a:prstGeom prst="rect">
            <a:avLst/>
          </a:prstGeom>
          <a:noFill/>
          <a:ln/>
        </p:spPr>
        <p:txBody>
          <a:bodyPr wrap="square" lIns="0" tIns="0" rIns="0" bIns="0" rtlCol="0" anchor="ctr"/>
          <a:lstStyle/>
          <a:p>
            <a:pPr marL="0" indent="0">
              <a:buNone/>
            </a:pPr>
            <a:r>
              <a:rPr lang="en-US" sz="1700" b="1" dirty="0">
                <a:solidFill>
                  <a:schemeClr val="tx2"/>
                </a:solidFill>
              </a:rPr>
              <a:t>Titip absen</a:t>
            </a:r>
            <a:endParaRPr lang="en-US" sz="1700" dirty="0"/>
          </a:p>
        </p:txBody>
      </p:sp>
      <p:sp>
        <p:nvSpPr>
          <p:cNvPr id="7" name="Text 4"/>
          <p:cNvSpPr txBox="1"/>
          <p:nvPr/>
        </p:nvSpPr>
        <p:spPr>
          <a:xfrm>
            <a:off x="822960" y="2331720"/>
            <a:ext cx="2761488" cy="1097280"/>
          </a:xfrm>
          <a:prstGeom prst="rect">
            <a:avLst/>
          </a:prstGeom>
          <a:noFill/>
          <a:ln/>
        </p:spPr>
        <p:txBody>
          <a:bodyPr wrap="square" lIns="0" tIns="0" rIns="0" bIns="0" rtlCol="0" anchor="t"/>
          <a:lstStyle/>
          <a:p>
            <a:pPr marL="0" indent="0">
              <a:buNone/>
            </a:pPr>
            <a:r>
              <a:rPr lang="en-US" sz="1400" dirty="0" err="1">
                <a:solidFill>
                  <a:schemeClr val="tx1"/>
                </a:solidFill>
              </a:rPr>
              <a:t>Presensi</a:t>
            </a:r>
            <a:r>
              <a:rPr lang="en-US" sz="1400" dirty="0">
                <a:solidFill>
                  <a:schemeClr val="tx1"/>
                </a:solidFill>
              </a:rPr>
              <a:t> </a:t>
            </a:r>
            <a:r>
              <a:rPr lang="en-US" sz="1400" dirty="0" err="1">
                <a:solidFill>
                  <a:schemeClr val="tx1"/>
                </a:solidFill>
              </a:rPr>
              <a:t>tanpa</a:t>
            </a:r>
            <a:r>
              <a:rPr lang="en-US" sz="1400" dirty="0">
                <a:solidFill>
                  <a:schemeClr val="tx1"/>
                </a:solidFill>
              </a:rPr>
              <a:t> </a:t>
            </a:r>
            <a:r>
              <a:rPr lang="en-US" sz="1400" dirty="0" err="1">
                <a:solidFill>
                  <a:schemeClr val="tx1"/>
                </a:solidFill>
              </a:rPr>
              <a:t>verifikasi</a:t>
            </a:r>
            <a:r>
              <a:rPr lang="en-US" sz="1400" dirty="0">
                <a:solidFill>
                  <a:schemeClr val="tx1"/>
                </a:solidFill>
              </a:rPr>
              <a:t> </a:t>
            </a:r>
            <a:r>
              <a:rPr lang="en-US" sz="1400" dirty="0" err="1">
                <a:solidFill>
                  <a:schemeClr val="tx1"/>
                </a:solidFill>
              </a:rPr>
              <a:t>wajah</a:t>
            </a:r>
            <a:r>
              <a:rPr lang="en-US" sz="1400" dirty="0">
                <a:solidFill>
                  <a:schemeClr val="tx1"/>
                </a:solidFill>
              </a:rPr>
              <a:t> dan </a:t>
            </a:r>
            <a:r>
              <a:rPr lang="en-US" sz="1400" dirty="0" err="1">
                <a:solidFill>
                  <a:schemeClr val="tx1"/>
                </a:solidFill>
              </a:rPr>
              <a:t>lokasi</a:t>
            </a:r>
            <a:r>
              <a:rPr lang="en-US" sz="1400" dirty="0">
                <a:solidFill>
                  <a:schemeClr val="tx1"/>
                </a:solidFill>
              </a:rPr>
              <a:t> </a:t>
            </a:r>
            <a:r>
              <a:rPr lang="en-US" sz="1400" dirty="0" err="1">
                <a:solidFill>
                  <a:schemeClr val="tx1"/>
                </a:solidFill>
              </a:rPr>
              <a:t>mudah</a:t>
            </a:r>
            <a:r>
              <a:rPr lang="en-US" sz="1400" dirty="0">
                <a:solidFill>
                  <a:schemeClr val="tx1"/>
                </a:solidFill>
              </a:rPr>
              <a:t> </a:t>
            </a:r>
            <a:r>
              <a:rPr lang="en-US" sz="1400" dirty="0" err="1">
                <a:solidFill>
                  <a:schemeClr val="tx1"/>
                </a:solidFill>
              </a:rPr>
              <a:t>diwakilkan</a:t>
            </a:r>
            <a:r>
              <a:rPr lang="en-US" sz="1400" dirty="0">
                <a:solidFill>
                  <a:schemeClr val="tx1"/>
                </a:solidFill>
              </a:rPr>
              <a:t> orang lain.</a:t>
            </a:r>
            <a:endParaRPr lang="en-US" sz="1400" dirty="0"/>
          </a:p>
        </p:txBody>
      </p:sp>
      <p:sp>
        <p:nvSpPr>
          <p:cNvPr id="8" name="Shape 5"/>
          <p:cNvSpPr/>
          <p:nvPr/>
        </p:nvSpPr>
        <p:spPr>
          <a:xfrm>
            <a:off x="4114800" y="1325880"/>
            <a:ext cx="3310128"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9" name="Shape 6"/>
          <p:cNvSpPr/>
          <p:nvPr/>
        </p:nvSpPr>
        <p:spPr>
          <a:xfrm>
            <a:off x="4389120" y="1600200"/>
            <a:ext cx="566928" cy="566928"/>
          </a:xfrm>
          <a:prstGeom prst="roundRect">
            <a:avLst>
              <a:gd name="adj" fmla="val 22000"/>
            </a:avLst>
          </a:prstGeom>
          <a:solidFill>
            <a:schemeClr val="accent1"/>
          </a:solidFill>
          <a:ln/>
        </p:spPr>
      </p:sp>
      <p:pic>
        <p:nvPicPr>
          <p:cNvPr id="10" name="Image 1" descr="preencoded.png"/>
          <p:cNvPicPr>
            <a:picLocks noChangeAspect="1"/>
          </p:cNvPicPr>
          <p:nvPr/>
        </p:nvPicPr>
        <p:blipFill>
          <a:blip r:embed="rId4"/>
          <a:stretch>
            <a:fillRect/>
          </a:stretch>
        </p:blipFill>
        <p:spPr>
          <a:xfrm>
            <a:off x="4530852" y="1741932"/>
            <a:ext cx="283464" cy="283464"/>
          </a:xfrm>
          <a:prstGeom prst="rect">
            <a:avLst/>
          </a:prstGeom>
        </p:spPr>
      </p:pic>
      <p:sp>
        <p:nvSpPr>
          <p:cNvPr id="11" name="Text 7"/>
          <p:cNvSpPr txBox="1"/>
          <p:nvPr/>
        </p:nvSpPr>
        <p:spPr>
          <a:xfrm>
            <a:off x="5102352" y="1600200"/>
            <a:ext cx="2121408" cy="566928"/>
          </a:xfrm>
          <a:prstGeom prst="rect">
            <a:avLst/>
          </a:prstGeom>
          <a:noFill/>
          <a:ln/>
        </p:spPr>
        <p:txBody>
          <a:bodyPr wrap="square" lIns="0" tIns="0" rIns="0" bIns="0" rtlCol="0" anchor="ctr"/>
          <a:lstStyle/>
          <a:p>
            <a:pPr marL="0" indent="0">
              <a:buNone/>
            </a:pPr>
            <a:r>
              <a:rPr lang="en-US" sz="1700" b="1" dirty="0">
                <a:solidFill>
                  <a:schemeClr val="tx2"/>
                </a:solidFill>
              </a:rPr>
              <a:t>Rekap manual</a:t>
            </a:r>
            <a:endParaRPr lang="en-US" sz="1700" dirty="0"/>
          </a:p>
        </p:txBody>
      </p:sp>
      <p:sp>
        <p:nvSpPr>
          <p:cNvPr id="12" name="Text 8"/>
          <p:cNvSpPr txBox="1"/>
          <p:nvPr/>
        </p:nvSpPr>
        <p:spPr>
          <a:xfrm>
            <a:off x="4389120" y="2331720"/>
            <a:ext cx="2761488" cy="1097280"/>
          </a:xfrm>
          <a:prstGeom prst="rect">
            <a:avLst/>
          </a:prstGeom>
          <a:noFill/>
          <a:ln/>
        </p:spPr>
        <p:txBody>
          <a:bodyPr wrap="square" lIns="0" tIns="0" rIns="0" bIns="0" rtlCol="0" anchor="t"/>
          <a:lstStyle/>
          <a:p>
            <a:pPr marL="0" indent="0">
              <a:buNone/>
            </a:pPr>
            <a:r>
              <a:rPr lang="en-US" sz="1400" dirty="0">
                <a:solidFill>
                  <a:schemeClr val="tx1"/>
                </a:solidFill>
              </a:rPr>
              <a:t>Kehadiran magang dan outsourcing direkap per unit untuk institusi dan vendor.</a:t>
            </a:r>
            <a:endParaRPr lang="en-US" sz="1400" dirty="0"/>
          </a:p>
        </p:txBody>
      </p:sp>
      <p:sp>
        <p:nvSpPr>
          <p:cNvPr id="13" name="Shape 9"/>
          <p:cNvSpPr/>
          <p:nvPr/>
        </p:nvSpPr>
        <p:spPr>
          <a:xfrm>
            <a:off x="548640" y="3822192"/>
            <a:ext cx="3310128"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4" name="Shape 10"/>
          <p:cNvSpPr/>
          <p:nvPr/>
        </p:nvSpPr>
        <p:spPr>
          <a:xfrm>
            <a:off x="822960" y="4096512"/>
            <a:ext cx="566928" cy="566928"/>
          </a:xfrm>
          <a:prstGeom prst="roundRect">
            <a:avLst>
              <a:gd name="adj" fmla="val 22000"/>
            </a:avLst>
          </a:prstGeom>
          <a:solidFill>
            <a:schemeClr val="accent1"/>
          </a:solidFill>
          <a:ln/>
        </p:spPr>
      </p:sp>
      <p:pic>
        <p:nvPicPr>
          <p:cNvPr id="15" name="Image 2" descr="preencoded.png"/>
          <p:cNvPicPr>
            <a:picLocks noChangeAspect="1"/>
          </p:cNvPicPr>
          <p:nvPr/>
        </p:nvPicPr>
        <p:blipFill>
          <a:blip r:embed="rId5"/>
          <a:stretch>
            <a:fillRect/>
          </a:stretch>
        </p:blipFill>
        <p:spPr>
          <a:xfrm>
            <a:off x="964692" y="4238244"/>
            <a:ext cx="283464" cy="283464"/>
          </a:xfrm>
          <a:prstGeom prst="rect">
            <a:avLst/>
          </a:prstGeom>
        </p:spPr>
      </p:pic>
      <p:sp>
        <p:nvSpPr>
          <p:cNvPr id="16" name="Text 11"/>
          <p:cNvSpPr txBox="1"/>
          <p:nvPr/>
        </p:nvSpPr>
        <p:spPr>
          <a:xfrm>
            <a:off x="1536192" y="4096512"/>
            <a:ext cx="2121408" cy="566928"/>
          </a:xfrm>
          <a:prstGeom prst="rect">
            <a:avLst/>
          </a:prstGeom>
          <a:noFill/>
          <a:ln/>
        </p:spPr>
        <p:txBody>
          <a:bodyPr wrap="square" lIns="0" tIns="0" rIns="0" bIns="0" rtlCol="0" anchor="ctr"/>
          <a:lstStyle/>
          <a:p>
            <a:pPr marL="0" indent="0">
              <a:buNone/>
            </a:pPr>
            <a:r>
              <a:rPr lang="en-US" sz="1700" b="1" dirty="0">
                <a:solidFill>
                  <a:schemeClr val="tx2"/>
                </a:solidFill>
              </a:rPr>
              <a:t>Pengajuan tersebar</a:t>
            </a:r>
            <a:endParaRPr lang="en-US" sz="1700" dirty="0"/>
          </a:p>
        </p:txBody>
      </p:sp>
      <p:sp>
        <p:nvSpPr>
          <p:cNvPr id="17" name="Text 12"/>
          <p:cNvSpPr txBox="1"/>
          <p:nvPr/>
        </p:nvSpPr>
        <p:spPr>
          <a:xfrm>
            <a:off x="822960" y="4828032"/>
            <a:ext cx="2761488" cy="1097280"/>
          </a:xfrm>
          <a:prstGeom prst="rect">
            <a:avLst/>
          </a:prstGeom>
          <a:noFill/>
          <a:ln/>
        </p:spPr>
        <p:txBody>
          <a:bodyPr wrap="square" lIns="0" tIns="0" rIns="0" bIns="0" rtlCol="0" anchor="t"/>
          <a:lstStyle/>
          <a:p>
            <a:pPr marL="0" indent="0">
              <a:buNone/>
            </a:pPr>
            <a:r>
              <a:rPr lang="en-US" sz="1400" dirty="0">
                <a:solidFill>
                  <a:schemeClr val="tx1"/>
                </a:solidFill>
              </a:rPr>
              <a:t>Izin, sakit, dan tukar shift lewat pesan pribadi sulit dilacak dan diaudit.</a:t>
            </a:r>
            <a:endParaRPr lang="en-US" sz="1400" dirty="0"/>
          </a:p>
        </p:txBody>
      </p:sp>
      <p:sp>
        <p:nvSpPr>
          <p:cNvPr id="18" name="Shape 13"/>
          <p:cNvSpPr/>
          <p:nvPr/>
        </p:nvSpPr>
        <p:spPr>
          <a:xfrm>
            <a:off x="4114800" y="3822192"/>
            <a:ext cx="3310128"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9" name="Shape 14"/>
          <p:cNvSpPr/>
          <p:nvPr/>
        </p:nvSpPr>
        <p:spPr>
          <a:xfrm>
            <a:off x="4389120" y="4096512"/>
            <a:ext cx="566928" cy="566928"/>
          </a:xfrm>
          <a:prstGeom prst="roundRect">
            <a:avLst>
              <a:gd name="adj" fmla="val 22000"/>
            </a:avLst>
          </a:prstGeom>
          <a:solidFill>
            <a:schemeClr val="accent1"/>
          </a:solidFill>
          <a:ln/>
        </p:spPr>
      </p:sp>
      <p:pic>
        <p:nvPicPr>
          <p:cNvPr id="20" name="Image 3" descr="preencoded.png"/>
          <p:cNvPicPr>
            <a:picLocks noChangeAspect="1"/>
          </p:cNvPicPr>
          <p:nvPr/>
        </p:nvPicPr>
        <p:blipFill>
          <a:blip r:embed="rId6"/>
          <a:stretch>
            <a:fillRect/>
          </a:stretch>
        </p:blipFill>
        <p:spPr>
          <a:xfrm>
            <a:off x="4530852" y="4238244"/>
            <a:ext cx="283464" cy="283464"/>
          </a:xfrm>
          <a:prstGeom prst="rect">
            <a:avLst/>
          </a:prstGeom>
        </p:spPr>
      </p:pic>
      <p:sp>
        <p:nvSpPr>
          <p:cNvPr id="21" name="Text 15"/>
          <p:cNvSpPr txBox="1"/>
          <p:nvPr/>
        </p:nvSpPr>
        <p:spPr>
          <a:xfrm>
            <a:off x="5102352" y="4096512"/>
            <a:ext cx="2121408" cy="566928"/>
          </a:xfrm>
          <a:prstGeom prst="rect">
            <a:avLst/>
          </a:prstGeom>
          <a:noFill/>
          <a:ln/>
        </p:spPr>
        <p:txBody>
          <a:bodyPr wrap="square" lIns="0" tIns="0" rIns="0" bIns="0" rtlCol="0" anchor="ctr"/>
          <a:lstStyle/>
          <a:p>
            <a:pPr marL="0" indent="0">
              <a:buNone/>
            </a:pPr>
            <a:r>
              <a:rPr lang="en-US" sz="1700" b="1" dirty="0">
                <a:solidFill>
                  <a:schemeClr val="tx2"/>
                </a:solidFill>
              </a:rPr>
              <a:t>Shift 24 jam</a:t>
            </a:r>
            <a:endParaRPr lang="en-US" sz="1700" dirty="0"/>
          </a:p>
        </p:txBody>
      </p:sp>
      <p:sp>
        <p:nvSpPr>
          <p:cNvPr id="22" name="Text 16"/>
          <p:cNvSpPr txBox="1"/>
          <p:nvPr/>
        </p:nvSpPr>
        <p:spPr>
          <a:xfrm>
            <a:off x="4389120" y="4828032"/>
            <a:ext cx="2761488" cy="1097280"/>
          </a:xfrm>
          <a:prstGeom prst="rect">
            <a:avLst/>
          </a:prstGeom>
          <a:noFill/>
          <a:ln/>
        </p:spPr>
        <p:txBody>
          <a:bodyPr wrap="square" lIns="0" tIns="0" rIns="0" bIns="0" rtlCol="0" anchor="t"/>
          <a:lstStyle/>
          <a:p>
            <a:pPr marL="0" indent="0">
              <a:buNone/>
            </a:pPr>
            <a:r>
              <a:rPr lang="en-US" sz="1400" dirty="0">
                <a:solidFill>
                  <a:schemeClr val="tx1"/>
                </a:solidFill>
              </a:rPr>
              <a:t>Pola pagi, siang, malam berbeda per unit; shift malam melewati tengah malam.</a:t>
            </a:r>
            <a:endParaRPr lang="en-US" sz="1400" dirty="0"/>
          </a:p>
        </p:txBody>
      </p:sp>
      <p:sp>
        <p:nvSpPr>
          <p:cNvPr id="23" name="Shape 17"/>
          <p:cNvSpPr/>
          <p:nvPr/>
        </p:nvSpPr>
        <p:spPr>
          <a:xfrm>
            <a:off x="7680960" y="1325880"/>
            <a:ext cx="3962095" cy="2912364"/>
          </a:xfrm>
          <a:prstGeom prst="roundRect">
            <a:avLst>
              <a:gd name="adj" fmla="val 2769"/>
            </a:avLst>
          </a:prstGeom>
          <a:solidFill>
            <a:schemeClr val="tx2"/>
          </a:solidFill>
          <a:ln w="12700">
            <a:solidFill>
              <a:srgbClr val="E1E8EC"/>
            </a:solidFill>
            <a:prstDash val="solid"/>
          </a:ln>
          <a:effectLst>
            <a:outerShdw blurRad="76200" dist="19050" dir="5400000" algn="bl" rotWithShape="0">
              <a:srgbClr val="0B2A33">
                <a:alpha val="7000"/>
              </a:srgbClr>
            </a:outerShdw>
          </a:effectLst>
        </p:spPr>
      </p:sp>
      <p:sp>
        <p:nvSpPr>
          <p:cNvPr id="24" name="Text 18"/>
          <p:cNvSpPr txBox="1"/>
          <p:nvPr/>
        </p:nvSpPr>
        <p:spPr>
          <a:xfrm>
            <a:off x="8046720" y="1645920"/>
            <a:ext cx="3230575" cy="411480"/>
          </a:xfrm>
          <a:prstGeom prst="rect">
            <a:avLst/>
          </a:prstGeom>
          <a:noFill/>
          <a:ln/>
        </p:spPr>
        <p:txBody>
          <a:bodyPr wrap="square" lIns="0" tIns="0" rIns="0" bIns="0" rtlCol="0" anchor="t"/>
          <a:lstStyle/>
          <a:p>
            <a:pPr marL="0" indent="0">
              <a:buNone/>
            </a:pPr>
            <a:r>
              <a:rPr lang="en-US" sz="2000" b="1" dirty="0">
                <a:solidFill>
                  <a:schemeClr val="bg1"/>
                </a:solidFill>
              </a:rPr>
              <a:t>Pendekatan ABiTA</a:t>
            </a:r>
            <a:endParaRPr lang="en-US" sz="2000" dirty="0"/>
          </a:p>
        </p:txBody>
      </p:sp>
      <p:sp>
        <p:nvSpPr>
          <p:cNvPr id="25" name="Text 19"/>
          <p:cNvSpPr txBox="1"/>
          <p:nvPr/>
        </p:nvSpPr>
        <p:spPr>
          <a:xfrm>
            <a:off x="8046720" y="2240280"/>
            <a:ext cx="3230575" cy="329184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chemeClr val="bg1"/>
                </a:solidFill>
              </a:rPr>
              <a:t>Wajah dan GPS diverifikasi di server</a:t>
            </a:r>
            <a:endParaRPr lang="en-US" sz="1600" dirty="0"/>
          </a:p>
          <a:p>
            <a:pPr marL="228600" indent="-228600">
              <a:spcAft>
                <a:spcPts val="1200"/>
              </a:spcAft>
              <a:buSzPct val="100000"/>
              <a:buChar char="•"/>
            </a:pPr>
            <a:r>
              <a:rPr lang="en-US" sz="1600" dirty="0">
                <a:solidFill>
                  <a:schemeClr val="bg1"/>
                </a:solidFill>
              </a:rPr>
              <a:t>Dokumen dan notifikasi dalam satu aplikasi</a:t>
            </a:r>
            <a:endParaRPr lang="en-US" sz="1600" dirty="0"/>
          </a:p>
          <a:p>
            <a:pPr marL="228600" indent="-228600">
              <a:spcAft>
                <a:spcPts val="1200"/>
              </a:spcAft>
              <a:buSzPct val="100000"/>
              <a:buChar char="•"/>
            </a:pPr>
            <a:r>
              <a:rPr lang="en-US" sz="1600" dirty="0">
                <a:solidFill>
                  <a:schemeClr val="bg1"/>
                </a:solidFill>
              </a:rPr>
              <a:t>Laporan Excel/PDF siap dikirim</a:t>
            </a:r>
            <a:endParaRPr lang="en-US" sz="1600" dirty="0"/>
          </a:p>
        </p:txBody>
      </p:sp>
      <p:sp>
        <p:nvSpPr>
          <p:cNvPr id="26"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Tujuan dan ruang lingkup</a:t>
            </a:r>
            <a:endParaRPr lang="en-US" sz="2800" dirty="0"/>
          </a:p>
        </p:txBody>
      </p:sp>
      <p:sp>
        <p:nvSpPr>
          <p:cNvPr id="3" name="Shape 1"/>
          <p:cNvSpPr/>
          <p:nvPr/>
        </p:nvSpPr>
        <p:spPr>
          <a:xfrm>
            <a:off x="548640" y="1325880"/>
            <a:ext cx="3527450" cy="1783080"/>
          </a:xfrm>
          <a:prstGeom prst="roundRect">
            <a:avLst>
              <a:gd name="adj" fmla="val 61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accent1"/>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Sah</a:t>
            </a:r>
            <a:endParaRPr lang="en-US" sz="1700" dirty="0"/>
          </a:p>
        </p:txBody>
      </p:sp>
      <p:sp>
        <p:nvSpPr>
          <p:cNvPr id="7" name="Text 4"/>
          <p:cNvSpPr txBox="1"/>
          <p:nvPr/>
        </p:nvSpPr>
        <p:spPr>
          <a:xfrm>
            <a:off x="822960" y="2331720"/>
            <a:ext cx="2978810" cy="640080"/>
          </a:xfrm>
          <a:prstGeom prst="rect">
            <a:avLst/>
          </a:prstGeom>
          <a:noFill/>
          <a:ln/>
        </p:spPr>
        <p:txBody>
          <a:bodyPr wrap="square" lIns="0" tIns="0" rIns="0" bIns="0" rtlCol="0" anchor="t"/>
          <a:lstStyle/>
          <a:p>
            <a:pPr marL="0" indent="0">
              <a:buNone/>
            </a:pPr>
            <a:r>
              <a:rPr lang="en-US" sz="1400" dirty="0">
                <a:solidFill>
                  <a:schemeClr val="tx1"/>
                </a:solidFill>
              </a:rPr>
              <a:t>Setiap presensi terbukti: wajah cocok, orang hidup, di lokasi, pada jendela waktu.</a:t>
            </a:r>
            <a:endParaRPr lang="en-US" sz="1400" dirty="0"/>
          </a:p>
        </p:txBody>
      </p:sp>
      <p:sp>
        <p:nvSpPr>
          <p:cNvPr id="8" name="Shape 5"/>
          <p:cNvSpPr/>
          <p:nvPr/>
        </p:nvSpPr>
        <p:spPr>
          <a:xfrm>
            <a:off x="4332122" y="1325880"/>
            <a:ext cx="3527450" cy="1783080"/>
          </a:xfrm>
          <a:prstGeom prst="roundRect">
            <a:avLst>
              <a:gd name="adj" fmla="val 61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9" name="Shape 6"/>
          <p:cNvSpPr/>
          <p:nvPr/>
        </p:nvSpPr>
        <p:spPr>
          <a:xfrm>
            <a:off x="4606442" y="1600200"/>
            <a:ext cx="566928" cy="566928"/>
          </a:xfrm>
          <a:prstGeom prst="roundRect">
            <a:avLst>
              <a:gd name="adj" fmla="val 22000"/>
            </a:avLst>
          </a:prstGeom>
          <a:solidFill>
            <a:schemeClr val="accent1"/>
          </a:solidFill>
          <a:ln/>
        </p:spPr>
      </p:sp>
      <p:pic>
        <p:nvPicPr>
          <p:cNvPr id="10" name="Image 1" descr="preencoded.png"/>
          <p:cNvPicPr>
            <a:picLocks noChangeAspect="1"/>
          </p:cNvPicPr>
          <p:nvPr/>
        </p:nvPicPr>
        <p:blipFill>
          <a:blip r:embed="rId4"/>
          <a:stretch>
            <a:fillRect/>
          </a:stretch>
        </p:blipFill>
        <p:spPr>
          <a:xfrm>
            <a:off x="4748174" y="1741932"/>
            <a:ext cx="283464" cy="283464"/>
          </a:xfrm>
          <a:prstGeom prst="rect">
            <a:avLst/>
          </a:prstGeom>
        </p:spPr>
      </p:pic>
      <p:sp>
        <p:nvSpPr>
          <p:cNvPr id="11" name="Text 7"/>
          <p:cNvSpPr txBox="1"/>
          <p:nvPr/>
        </p:nvSpPr>
        <p:spPr>
          <a:xfrm>
            <a:off x="5319674"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Cepat</a:t>
            </a:r>
            <a:endParaRPr lang="en-US" sz="1700" dirty="0"/>
          </a:p>
        </p:txBody>
      </p:sp>
      <p:sp>
        <p:nvSpPr>
          <p:cNvPr id="12" name="Text 8"/>
          <p:cNvSpPr txBox="1"/>
          <p:nvPr/>
        </p:nvSpPr>
        <p:spPr>
          <a:xfrm>
            <a:off x="4606442" y="2331720"/>
            <a:ext cx="2978810" cy="640080"/>
          </a:xfrm>
          <a:prstGeom prst="rect">
            <a:avLst/>
          </a:prstGeom>
          <a:noFill/>
          <a:ln/>
        </p:spPr>
        <p:txBody>
          <a:bodyPr wrap="square" lIns="0" tIns="0" rIns="0" bIns="0" rtlCol="0" anchor="t"/>
          <a:lstStyle/>
          <a:p>
            <a:pPr marL="0" indent="0">
              <a:buNone/>
            </a:pPr>
            <a:r>
              <a:rPr lang="en-US" sz="1400" dirty="0">
                <a:solidFill>
                  <a:schemeClr val="tx1"/>
                </a:solidFill>
              </a:rPr>
              <a:t>Pengajuan diputuskan dalam satu tahap; jadwal dan keputusan langsung tampil.</a:t>
            </a:r>
            <a:endParaRPr lang="en-US" sz="1400" dirty="0"/>
          </a:p>
        </p:txBody>
      </p:sp>
      <p:sp>
        <p:nvSpPr>
          <p:cNvPr id="13" name="Shape 9"/>
          <p:cNvSpPr/>
          <p:nvPr/>
        </p:nvSpPr>
        <p:spPr>
          <a:xfrm>
            <a:off x="8115605" y="1325880"/>
            <a:ext cx="3527450" cy="1783080"/>
          </a:xfrm>
          <a:prstGeom prst="roundRect">
            <a:avLst>
              <a:gd name="adj" fmla="val 61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4" name="Shape 10"/>
          <p:cNvSpPr/>
          <p:nvPr/>
        </p:nvSpPr>
        <p:spPr>
          <a:xfrm>
            <a:off x="8389925" y="1600200"/>
            <a:ext cx="566928" cy="566928"/>
          </a:xfrm>
          <a:prstGeom prst="roundRect">
            <a:avLst>
              <a:gd name="adj" fmla="val 22000"/>
            </a:avLst>
          </a:prstGeom>
          <a:solidFill>
            <a:schemeClr val="accent1"/>
          </a:solidFill>
          <a:ln/>
        </p:spPr>
      </p:sp>
      <p:pic>
        <p:nvPicPr>
          <p:cNvPr id="15" name="Image 2" descr="preencoded.png"/>
          <p:cNvPicPr>
            <a:picLocks noChangeAspect="1"/>
          </p:cNvPicPr>
          <p:nvPr/>
        </p:nvPicPr>
        <p:blipFill>
          <a:blip r:embed="rId5"/>
          <a:stretch>
            <a:fillRect/>
          </a:stretch>
        </p:blipFill>
        <p:spPr>
          <a:xfrm>
            <a:off x="8531657" y="1741932"/>
            <a:ext cx="283464" cy="283464"/>
          </a:xfrm>
          <a:prstGeom prst="rect">
            <a:avLst/>
          </a:prstGeom>
        </p:spPr>
      </p:pic>
      <p:sp>
        <p:nvSpPr>
          <p:cNvPr id="16" name="Text 11"/>
          <p:cNvSpPr txBox="1"/>
          <p:nvPr/>
        </p:nvSpPr>
        <p:spPr>
          <a:xfrm>
            <a:off x="9103157"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Terpantau</a:t>
            </a:r>
            <a:endParaRPr lang="en-US" sz="1700" dirty="0"/>
          </a:p>
        </p:txBody>
      </p:sp>
      <p:sp>
        <p:nvSpPr>
          <p:cNvPr id="17" name="Text 12"/>
          <p:cNvSpPr txBox="1"/>
          <p:nvPr/>
        </p:nvSpPr>
        <p:spPr>
          <a:xfrm>
            <a:off x="8389925" y="2331720"/>
            <a:ext cx="2978810" cy="640080"/>
          </a:xfrm>
          <a:prstGeom prst="rect">
            <a:avLst/>
          </a:prstGeom>
          <a:noFill/>
          <a:ln/>
        </p:spPr>
        <p:txBody>
          <a:bodyPr wrap="square" lIns="0" tIns="0" rIns="0" bIns="0" rtlCol="0" anchor="t"/>
          <a:lstStyle/>
          <a:p>
            <a:pPr marL="0" indent="0">
              <a:buNone/>
            </a:pPr>
            <a:r>
              <a:rPr lang="en-US" sz="1400" dirty="0">
                <a:solidFill>
                  <a:schemeClr val="tx1"/>
                </a:solidFill>
              </a:rPr>
              <a:t>Dasbor realtime per unit, laporan siap ekspor, jejak audit setiap keputusan.</a:t>
            </a:r>
            <a:endParaRPr lang="en-US" sz="1400" dirty="0"/>
          </a:p>
        </p:txBody>
      </p:sp>
      <p:sp>
        <p:nvSpPr>
          <p:cNvPr id="18" name="Shape 13"/>
          <p:cNvSpPr/>
          <p:nvPr/>
        </p:nvSpPr>
        <p:spPr>
          <a:xfrm>
            <a:off x="548640" y="3364992"/>
            <a:ext cx="5419192" cy="2788920"/>
          </a:xfrm>
          <a:prstGeom prst="roundRect">
            <a:avLst>
              <a:gd name="adj" fmla="val 393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9" name="Shape 14"/>
          <p:cNvSpPr/>
          <p:nvPr/>
        </p:nvSpPr>
        <p:spPr>
          <a:xfrm>
            <a:off x="822960" y="3639312"/>
            <a:ext cx="457200" cy="457200"/>
          </a:xfrm>
          <a:prstGeom prst="roundRect">
            <a:avLst>
              <a:gd name="adj" fmla="val 22000"/>
            </a:avLst>
          </a:prstGeom>
          <a:solidFill>
            <a:schemeClr val="accent6"/>
          </a:solidFill>
          <a:ln/>
        </p:spPr>
      </p:sp>
      <p:pic>
        <p:nvPicPr>
          <p:cNvPr id="20" name="Image 3" descr="preencoded.png"/>
          <p:cNvPicPr>
            <a:picLocks noChangeAspect="1"/>
          </p:cNvPicPr>
          <p:nvPr/>
        </p:nvPicPr>
        <p:blipFill>
          <a:blip r:embed="rId6"/>
          <a:stretch>
            <a:fillRect/>
          </a:stretch>
        </p:blipFill>
        <p:spPr>
          <a:xfrm>
            <a:off x="937260" y="3753612"/>
            <a:ext cx="228600" cy="228600"/>
          </a:xfrm>
          <a:prstGeom prst="rect">
            <a:avLst/>
          </a:prstGeom>
        </p:spPr>
      </p:pic>
      <p:sp>
        <p:nvSpPr>
          <p:cNvPr id="21" name="Text 15"/>
          <p:cNvSpPr txBox="1"/>
          <p:nvPr/>
        </p:nvSpPr>
        <p:spPr>
          <a:xfrm>
            <a:off x="1417320" y="3639312"/>
            <a:ext cx="3657600" cy="457200"/>
          </a:xfrm>
          <a:prstGeom prst="rect">
            <a:avLst/>
          </a:prstGeom>
          <a:noFill/>
          <a:ln/>
        </p:spPr>
        <p:txBody>
          <a:bodyPr wrap="square" lIns="0" tIns="0" rIns="0" bIns="0" rtlCol="0" anchor="ctr"/>
          <a:lstStyle/>
          <a:p>
            <a:pPr marL="0" indent="0">
              <a:buNone/>
            </a:pPr>
            <a:r>
              <a:rPr lang="en-US" sz="1700" b="1" dirty="0">
                <a:solidFill>
                  <a:schemeClr val="tx2"/>
                </a:solidFill>
              </a:rPr>
              <a:t>Dalam cakupan</a:t>
            </a:r>
            <a:endParaRPr lang="en-US" sz="1700" dirty="0"/>
          </a:p>
        </p:txBody>
      </p:sp>
      <p:sp>
        <p:nvSpPr>
          <p:cNvPr id="22" name="Text 16"/>
          <p:cNvSpPr txBox="1"/>
          <p:nvPr/>
        </p:nvSpPr>
        <p:spPr>
          <a:xfrm>
            <a:off x="822960" y="4279392"/>
            <a:ext cx="4870552" cy="17373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Karyawan magang/PKL</a:t>
            </a:r>
            <a:r>
              <a:rPr lang="en-US" sz="1400" dirty="0"/>
              <a:t> dan </a:t>
            </a:r>
            <a:r>
              <a:rPr lang="en-US" sz="1400" dirty="0">
                <a:solidFill>
                  <a:schemeClr val="tx1"/>
                </a:solidFill>
              </a:rPr>
              <a:t>outsourcing</a:t>
            </a:r>
            <a:endParaRPr lang="en-US" sz="1400" dirty="0"/>
          </a:p>
          <a:p>
            <a:pPr marL="228600" indent="-228600">
              <a:spcAft>
                <a:spcPts val="600"/>
              </a:spcAft>
              <a:buSzPct val="100000"/>
              <a:buChar char="•"/>
            </a:pPr>
            <a:r>
              <a:rPr lang="en-US" sz="1400" dirty="0">
                <a:solidFill>
                  <a:schemeClr val="tx1"/>
                </a:solidFill>
              </a:rPr>
              <a:t>Presensi wajah + GPS di HP (PWA)</a:t>
            </a:r>
            <a:endParaRPr lang="en-US" sz="1400" dirty="0"/>
          </a:p>
          <a:p>
            <a:pPr marL="228600" indent="-228600">
              <a:spcAft>
                <a:spcPts val="600"/>
              </a:spcAft>
              <a:buSzPct val="100000"/>
              <a:buChar char="•"/>
            </a:pPr>
            <a:r>
              <a:rPr lang="en-US" sz="1400" dirty="0">
                <a:solidFill>
                  <a:schemeClr val="tx1"/>
                </a:solidFill>
              </a:rPr>
              <a:t>Jadwal shift, izin, sakit (SKD), tukar shift</a:t>
            </a:r>
            <a:endParaRPr lang="en-US" sz="1400" dirty="0"/>
          </a:p>
          <a:p>
            <a:pPr marL="228600" indent="-228600">
              <a:spcAft>
                <a:spcPts val="600"/>
              </a:spcAft>
              <a:buSzPct val="100000"/>
              <a:buChar char="•"/>
            </a:pPr>
            <a:r>
              <a:rPr lang="en-US" sz="1400" dirty="0">
                <a:solidFill>
                  <a:schemeClr val="tx1"/>
                </a:solidFill>
              </a:rPr>
              <a:t>Dokumen perusahaan dan dokumen karyawan</a:t>
            </a:r>
            <a:endParaRPr lang="en-US" sz="1400" dirty="0"/>
          </a:p>
          <a:p>
            <a:pPr marL="228600" indent="-228600">
              <a:spcAft>
                <a:spcPts val="600"/>
              </a:spcAft>
              <a:buSzPct val="100000"/>
              <a:buChar char="•"/>
            </a:pPr>
            <a:r>
              <a:rPr lang="en-US" sz="1400" dirty="0">
                <a:solidFill>
                  <a:schemeClr val="tx1"/>
                </a:solidFill>
              </a:rPr>
              <a:t>Laporan kehadiran, ekspor Excel/PDF</a:t>
            </a:r>
            <a:endParaRPr lang="en-US" sz="1400" dirty="0"/>
          </a:p>
        </p:txBody>
      </p:sp>
      <p:sp>
        <p:nvSpPr>
          <p:cNvPr id="23" name="Shape 17"/>
          <p:cNvSpPr/>
          <p:nvPr/>
        </p:nvSpPr>
        <p:spPr>
          <a:xfrm>
            <a:off x="6223864" y="3364992"/>
            <a:ext cx="5419192" cy="2788920"/>
          </a:xfrm>
          <a:prstGeom prst="roundRect">
            <a:avLst>
              <a:gd name="adj" fmla="val 393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Shape 18"/>
          <p:cNvSpPr/>
          <p:nvPr/>
        </p:nvSpPr>
        <p:spPr>
          <a:xfrm>
            <a:off x="6498184" y="3639312"/>
            <a:ext cx="457200" cy="457200"/>
          </a:xfrm>
          <a:prstGeom prst="roundRect">
            <a:avLst>
              <a:gd name="adj" fmla="val 22000"/>
            </a:avLst>
          </a:prstGeom>
          <a:solidFill>
            <a:schemeClr val="accent5"/>
          </a:solidFill>
          <a:ln/>
        </p:spPr>
      </p:sp>
      <p:pic>
        <p:nvPicPr>
          <p:cNvPr id="25" name="Image 4" descr="preencoded.png"/>
          <p:cNvPicPr>
            <a:picLocks noChangeAspect="1"/>
          </p:cNvPicPr>
          <p:nvPr/>
        </p:nvPicPr>
        <p:blipFill>
          <a:blip r:embed="rId7"/>
          <a:stretch>
            <a:fillRect/>
          </a:stretch>
        </p:blipFill>
        <p:spPr>
          <a:xfrm>
            <a:off x="6612484" y="3753612"/>
            <a:ext cx="228600" cy="228600"/>
          </a:xfrm>
          <a:prstGeom prst="rect">
            <a:avLst/>
          </a:prstGeom>
        </p:spPr>
      </p:pic>
      <p:sp>
        <p:nvSpPr>
          <p:cNvPr id="26" name="Text 19"/>
          <p:cNvSpPr txBox="1"/>
          <p:nvPr/>
        </p:nvSpPr>
        <p:spPr>
          <a:xfrm>
            <a:off x="7092544" y="3639312"/>
            <a:ext cx="3657600" cy="457200"/>
          </a:xfrm>
          <a:prstGeom prst="rect">
            <a:avLst/>
          </a:prstGeom>
          <a:noFill/>
          <a:ln/>
        </p:spPr>
        <p:txBody>
          <a:bodyPr wrap="square" lIns="0" tIns="0" rIns="0" bIns="0" rtlCol="0" anchor="ctr"/>
          <a:lstStyle/>
          <a:p>
            <a:pPr marL="0" indent="0">
              <a:buNone/>
            </a:pPr>
            <a:r>
              <a:rPr lang="en-US" sz="1700" b="1" dirty="0">
                <a:solidFill>
                  <a:schemeClr val="tx2"/>
                </a:solidFill>
              </a:rPr>
              <a:t>Di luar cakupan</a:t>
            </a:r>
            <a:endParaRPr lang="en-US" sz="1700" dirty="0"/>
          </a:p>
        </p:txBody>
      </p:sp>
      <p:sp>
        <p:nvSpPr>
          <p:cNvPr id="27" name="Text 20"/>
          <p:cNvSpPr txBox="1"/>
          <p:nvPr/>
        </p:nvSpPr>
        <p:spPr>
          <a:xfrm>
            <a:off x="6498184" y="4279392"/>
            <a:ext cx="4870552" cy="173736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Penggajian dan perhitungan lembur</a:t>
            </a:r>
            <a:endParaRPr lang="en-US" sz="1400" dirty="0"/>
          </a:p>
          <a:p>
            <a:pPr marL="228600" indent="-228600">
              <a:spcAft>
                <a:spcPts val="600"/>
              </a:spcAft>
              <a:buSzPct val="100000"/>
              <a:buChar char="•"/>
            </a:pPr>
            <a:r>
              <a:rPr lang="en-US" sz="1400" dirty="0">
                <a:solidFill>
                  <a:schemeClr val="tx1"/>
                </a:solidFill>
              </a:rPr>
              <a:t>Integrasi HRIS/SIMRS (belum ada)</a:t>
            </a:r>
            <a:endParaRPr lang="en-US" sz="1400" dirty="0"/>
          </a:p>
          <a:p>
            <a:pPr marL="228600" indent="-228600">
              <a:spcAft>
                <a:spcPts val="600"/>
              </a:spcAft>
              <a:buSzPct val="100000"/>
              <a:buChar char="•"/>
            </a:pPr>
            <a:r>
              <a:rPr lang="en-US" sz="1400" dirty="0">
                <a:solidFill>
                  <a:schemeClr val="tx1"/>
                </a:solidFill>
              </a:rPr>
              <a:t>Mesin fingerprint atau kartu</a:t>
            </a:r>
            <a:endParaRPr lang="en-US" sz="1400" dirty="0"/>
          </a:p>
          <a:p>
            <a:pPr marL="228600" indent="-228600">
              <a:spcAft>
                <a:spcPts val="600"/>
              </a:spcAft>
              <a:buSzPct val="100000"/>
              <a:buChar char="•"/>
            </a:pPr>
            <a:r>
              <a:rPr lang="en-US" sz="1400" dirty="0">
                <a:solidFill>
                  <a:schemeClr val="tx1"/>
                </a:solidFill>
              </a:rPr>
              <a:t>Lebih dari satu lokasi presensi per karyawan</a:t>
            </a:r>
            <a:endParaRPr lang="en-US" sz="1400" dirty="0"/>
          </a:p>
        </p:txBody>
      </p:sp>
      <p:sp>
        <p:nvSpPr>
          <p:cNvPr id="28"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Tiga peran</a:t>
            </a:r>
            <a:endParaRPr lang="en-US" sz="2800" dirty="0"/>
          </a:p>
        </p:txBody>
      </p:sp>
      <p:sp>
        <p:nvSpPr>
          <p:cNvPr id="3" name="Shape 1"/>
          <p:cNvSpPr/>
          <p:nvPr/>
        </p:nvSpPr>
        <p:spPr>
          <a:xfrm>
            <a:off x="548640" y="1325880"/>
            <a:ext cx="3527450" cy="484632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548640" y="1325880"/>
            <a:ext cx="3527450" cy="1143000"/>
          </a:xfrm>
          <a:prstGeom prst="roundRect">
            <a:avLst>
              <a:gd name="adj" fmla="val 9600"/>
            </a:avLst>
          </a:prstGeom>
          <a:solidFill>
            <a:schemeClr val="accent3"/>
          </a:solidFill>
          <a:ln/>
        </p:spPr>
      </p:sp>
      <p:sp>
        <p:nvSpPr>
          <p:cNvPr id="5" name="Shape 3"/>
          <p:cNvSpPr/>
          <p:nvPr/>
        </p:nvSpPr>
        <p:spPr>
          <a:xfrm>
            <a:off x="548640" y="2286000"/>
            <a:ext cx="3527450" cy="182880"/>
          </a:xfrm>
          <a:prstGeom prst="rect">
            <a:avLst/>
          </a:prstGeom>
          <a:solidFill>
            <a:schemeClr val="accent3"/>
          </a:solidFill>
          <a:ln/>
        </p:spPr>
      </p:sp>
      <p:sp>
        <p:nvSpPr>
          <p:cNvPr id="6" name="Shape 4"/>
          <p:cNvSpPr/>
          <p:nvPr/>
        </p:nvSpPr>
        <p:spPr>
          <a:xfrm>
            <a:off x="822960" y="1581912"/>
            <a:ext cx="603504" cy="603504"/>
          </a:xfrm>
          <a:prstGeom prst="roundRect">
            <a:avLst>
              <a:gd name="adj" fmla="val 22000"/>
            </a:avLst>
          </a:prstGeom>
          <a:solidFill>
            <a:schemeClr val="bg1">
              <a:alpha val="20000"/>
            </a:schemeClr>
          </a:solidFill>
          <a:ln/>
        </p:spPr>
      </p:sp>
      <p:pic>
        <p:nvPicPr>
          <p:cNvPr id="7" name="Image 0" descr="preencoded.png"/>
          <p:cNvPicPr>
            <a:picLocks noChangeAspect="1"/>
          </p:cNvPicPr>
          <p:nvPr/>
        </p:nvPicPr>
        <p:blipFill>
          <a:blip r:embed="rId3"/>
          <a:stretch>
            <a:fillRect/>
          </a:stretch>
        </p:blipFill>
        <p:spPr>
          <a:xfrm>
            <a:off x="973836" y="1732788"/>
            <a:ext cx="301752" cy="301752"/>
          </a:xfrm>
          <a:prstGeom prst="rect">
            <a:avLst/>
          </a:prstGeom>
        </p:spPr>
      </p:pic>
      <p:sp>
        <p:nvSpPr>
          <p:cNvPr id="8" name="Text 5"/>
          <p:cNvSpPr txBox="1"/>
          <p:nvPr/>
        </p:nvSpPr>
        <p:spPr>
          <a:xfrm>
            <a:off x="1572768" y="1545336"/>
            <a:ext cx="2338730" cy="384048"/>
          </a:xfrm>
          <a:prstGeom prst="rect">
            <a:avLst/>
          </a:prstGeom>
          <a:noFill/>
          <a:ln/>
        </p:spPr>
        <p:txBody>
          <a:bodyPr wrap="square" lIns="0" tIns="0" rIns="0" bIns="0" rtlCol="0" anchor="t"/>
          <a:lstStyle/>
          <a:p>
            <a:pPr marL="0" indent="0">
              <a:buNone/>
            </a:pPr>
            <a:r>
              <a:rPr lang="en-US" sz="2000" b="1" dirty="0">
                <a:solidFill>
                  <a:schemeClr val="bg1"/>
                </a:solidFill>
              </a:rPr>
              <a:t>Karyawan</a:t>
            </a:r>
            <a:endParaRPr lang="en-US" sz="2000" dirty="0"/>
          </a:p>
        </p:txBody>
      </p:sp>
      <p:sp>
        <p:nvSpPr>
          <p:cNvPr id="9" name="Text 6"/>
          <p:cNvSpPr txBox="1"/>
          <p:nvPr/>
        </p:nvSpPr>
        <p:spPr>
          <a:xfrm>
            <a:off x="1572768" y="1929384"/>
            <a:ext cx="2338730" cy="384048"/>
          </a:xfrm>
          <a:prstGeom prst="rect">
            <a:avLst/>
          </a:prstGeom>
          <a:noFill/>
          <a:ln/>
        </p:spPr>
        <p:txBody>
          <a:bodyPr wrap="square" lIns="0" tIns="0" rIns="0" bIns="0" rtlCol="0" anchor="t"/>
          <a:lstStyle/>
          <a:p>
            <a:pPr marL="0" indent="0">
              <a:buNone/>
            </a:pPr>
            <a:r>
              <a:rPr lang="en-US" sz="1200" dirty="0">
                <a:solidFill>
                  <a:schemeClr val="bg1"/>
                </a:solidFill>
              </a:rPr>
              <a:t>Aplikasi /staff</a:t>
            </a:r>
            <a:endParaRPr lang="en-US" sz="1200" dirty="0"/>
          </a:p>
        </p:txBody>
      </p:sp>
      <p:sp>
        <p:nvSpPr>
          <p:cNvPr id="10" name="Text 7"/>
          <p:cNvSpPr txBox="1"/>
          <p:nvPr/>
        </p:nvSpPr>
        <p:spPr>
          <a:xfrm>
            <a:off x="822960" y="2743200"/>
            <a:ext cx="3024530" cy="32918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tx1"/>
                </a:solidFill>
              </a:rPr>
              <a:t>Check in / check out dengan wajah + GPS</a:t>
            </a:r>
            <a:endParaRPr lang="en-US" sz="1400" dirty="0"/>
          </a:p>
          <a:p>
            <a:pPr marL="228600" indent="-228600">
              <a:spcAft>
                <a:spcPts val="1000"/>
              </a:spcAft>
              <a:buSzPct val="100000"/>
              <a:buChar char="•"/>
            </a:pPr>
            <a:r>
              <a:rPr lang="en-US" sz="1400" dirty="0">
                <a:solidFill>
                  <a:schemeClr val="tx1"/>
                </a:solidFill>
              </a:rPr>
              <a:t>Melihat jadwal dan rekap bulanan</a:t>
            </a:r>
            <a:endParaRPr lang="en-US" sz="1400" dirty="0"/>
          </a:p>
          <a:p>
            <a:pPr marL="228600" indent="-228600">
              <a:spcAft>
                <a:spcPts val="1000"/>
              </a:spcAft>
              <a:buSzPct val="100000"/>
              <a:buChar char="•"/>
            </a:pPr>
            <a:r>
              <a:rPr lang="en-US" sz="1400" dirty="0">
                <a:solidFill>
                  <a:schemeClr val="tx1"/>
                </a:solidFill>
              </a:rPr>
              <a:t>Mengajukan izin, sakit (SKD), tukar shift</a:t>
            </a:r>
            <a:endParaRPr lang="en-US" sz="1400" dirty="0"/>
          </a:p>
          <a:p>
            <a:pPr marL="228600" indent="-228600">
              <a:spcAft>
                <a:spcPts val="1000"/>
              </a:spcAft>
              <a:buSzPct val="100000"/>
              <a:buChar char="•"/>
            </a:pPr>
            <a:r>
              <a:rPr lang="en-US" sz="1400" dirty="0">
                <a:solidFill>
                  <a:schemeClr val="tx1"/>
                </a:solidFill>
              </a:rPr>
              <a:t>Membuka dokumen perusahaan &amp; miliknya</a:t>
            </a:r>
            <a:endParaRPr lang="en-US" sz="1400" dirty="0"/>
          </a:p>
          <a:p>
            <a:pPr marL="228600" indent="-228600">
              <a:spcAft>
                <a:spcPts val="1000"/>
              </a:spcAft>
              <a:buSzPct val="100000"/>
              <a:buChar char="•"/>
            </a:pPr>
            <a:r>
              <a:rPr lang="en-US" sz="1400" dirty="0">
                <a:solidFill>
                  <a:schemeClr val="tx1"/>
                </a:solidFill>
              </a:rPr>
              <a:t>Menerima notifikasi push</a:t>
            </a:r>
            <a:endParaRPr lang="en-US" sz="1400" dirty="0"/>
          </a:p>
        </p:txBody>
      </p:sp>
      <p:sp>
        <p:nvSpPr>
          <p:cNvPr id="11" name="Shape 8"/>
          <p:cNvSpPr/>
          <p:nvPr/>
        </p:nvSpPr>
        <p:spPr>
          <a:xfrm>
            <a:off x="4332122" y="1325880"/>
            <a:ext cx="3527450" cy="484632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2" name="Shape 9"/>
          <p:cNvSpPr/>
          <p:nvPr/>
        </p:nvSpPr>
        <p:spPr>
          <a:xfrm>
            <a:off x="4332122" y="1325880"/>
            <a:ext cx="3527450" cy="1143000"/>
          </a:xfrm>
          <a:prstGeom prst="roundRect">
            <a:avLst>
              <a:gd name="adj" fmla="val 9600"/>
            </a:avLst>
          </a:prstGeom>
          <a:solidFill>
            <a:schemeClr val="accent1"/>
          </a:solidFill>
          <a:ln/>
        </p:spPr>
      </p:sp>
      <p:sp>
        <p:nvSpPr>
          <p:cNvPr id="13" name="Shape 10"/>
          <p:cNvSpPr/>
          <p:nvPr/>
        </p:nvSpPr>
        <p:spPr>
          <a:xfrm>
            <a:off x="4332122" y="2286000"/>
            <a:ext cx="3527450" cy="182880"/>
          </a:xfrm>
          <a:prstGeom prst="rect">
            <a:avLst/>
          </a:prstGeom>
          <a:solidFill>
            <a:schemeClr val="accent1"/>
          </a:solidFill>
          <a:ln/>
        </p:spPr>
      </p:sp>
      <p:sp>
        <p:nvSpPr>
          <p:cNvPr id="14" name="Shape 11"/>
          <p:cNvSpPr/>
          <p:nvPr/>
        </p:nvSpPr>
        <p:spPr>
          <a:xfrm>
            <a:off x="4606442" y="1581912"/>
            <a:ext cx="603504" cy="603504"/>
          </a:xfrm>
          <a:prstGeom prst="roundRect">
            <a:avLst>
              <a:gd name="adj" fmla="val 22000"/>
            </a:avLst>
          </a:prstGeom>
          <a:solidFill>
            <a:schemeClr val="bg1">
              <a:alpha val="20000"/>
            </a:schemeClr>
          </a:solidFill>
          <a:ln/>
        </p:spPr>
      </p:sp>
      <p:pic>
        <p:nvPicPr>
          <p:cNvPr id="15" name="Image 1" descr="preencoded.png"/>
          <p:cNvPicPr>
            <a:picLocks noChangeAspect="1"/>
          </p:cNvPicPr>
          <p:nvPr/>
        </p:nvPicPr>
        <p:blipFill>
          <a:blip r:embed="rId4"/>
          <a:stretch>
            <a:fillRect/>
          </a:stretch>
        </p:blipFill>
        <p:spPr>
          <a:xfrm>
            <a:off x="4757318" y="1732788"/>
            <a:ext cx="301752" cy="301752"/>
          </a:xfrm>
          <a:prstGeom prst="rect">
            <a:avLst/>
          </a:prstGeom>
        </p:spPr>
      </p:pic>
      <p:sp>
        <p:nvSpPr>
          <p:cNvPr id="16" name="Text 12"/>
          <p:cNvSpPr txBox="1"/>
          <p:nvPr/>
        </p:nvSpPr>
        <p:spPr>
          <a:xfrm>
            <a:off x="5356250" y="1545336"/>
            <a:ext cx="2338730" cy="384048"/>
          </a:xfrm>
          <a:prstGeom prst="rect">
            <a:avLst/>
          </a:prstGeom>
          <a:noFill/>
          <a:ln/>
        </p:spPr>
        <p:txBody>
          <a:bodyPr wrap="square" lIns="0" tIns="0" rIns="0" bIns="0" rtlCol="0" anchor="t"/>
          <a:lstStyle/>
          <a:p>
            <a:pPr marL="0" indent="0">
              <a:buNone/>
            </a:pPr>
            <a:r>
              <a:rPr lang="en-US" sz="2000" b="1" dirty="0">
                <a:solidFill>
                  <a:schemeClr val="bg1"/>
                </a:solidFill>
              </a:rPr>
              <a:t>Kepala Unit</a:t>
            </a:r>
            <a:endParaRPr lang="en-US" sz="2000" dirty="0"/>
          </a:p>
        </p:txBody>
      </p:sp>
      <p:sp>
        <p:nvSpPr>
          <p:cNvPr id="17" name="Text 13"/>
          <p:cNvSpPr txBox="1"/>
          <p:nvPr/>
        </p:nvSpPr>
        <p:spPr>
          <a:xfrm>
            <a:off x="5356250" y="1929384"/>
            <a:ext cx="2338730" cy="384048"/>
          </a:xfrm>
          <a:prstGeom prst="rect">
            <a:avLst/>
          </a:prstGeom>
          <a:noFill/>
          <a:ln/>
        </p:spPr>
        <p:txBody>
          <a:bodyPr wrap="square" lIns="0" tIns="0" rIns="0" bIns="0" rtlCol="0" anchor="t"/>
          <a:lstStyle/>
          <a:p>
            <a:pPr marL="0" indent="0">
              <a:buNone/>
            </a:pPr>
            <a:r>
              <a:rPr lang="en-US" sz="1200" dirty="0">
                <a:solidFill>
                  <a:schemeClr val="bg1"/>
                </a:solidFill>
              </a:rPr>
              <a:t>Dasbor /admin · unit yang dipimpin</a:t>
            </a:r>
            <a:endParaRPr lang="en-US" sz="1200" dirty="0"/>
          </a:p>
        </p:txBody>
      </p:sp>
      <p:sp>
        <p:nvSpPr>
          <p:cNvPr id="18" name="Text 14"/>
          <p:cNvSpPr txBox="1"/>
          <p:nvPr/>
        </p:nvSpPr>
        <p:spPr>
          <a:xfrm>
            <a:off x="4606442" y="2743200"/>
            <a:ext cx="3024530" cy="32918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tx1"/>
                </a:solidFill>
              </a:rPr>
              <a:t>Memutuskan semua pengajuan unitnya</a:t>
            </a:r>
            <a:endParaRPr lang="en-US" sz="1400" dirty="0"/>
          </a:p>
          <a:p>
            <a:pPr marL="228600" indent="-228600">
              <a:spcAft>
                <a:spcPts val="1000"/>
              </a:spcAft>
              <a:buSzPct val="100000"/>
              <a:buChar char="•"/>
            </a:pPr>
            <a:r>
              <a:rPr lang="en-US" sz="1400" dirty="0">
                <a:solidFill>
                  <a:schemeClr val="tx1"/>
                </a:solidFill>
              </a:rPr>
              <a:t>Menyusun &amp; menerbitkan jadwal (batas tgl 25)</a:t>
            </a:r>
            <a:endParaRPr lang="en-US" sz="1400" dirty="0"/>
          </a:p>
          <a:p>
            <a:pPr marL="228600" indent="-228600">
              <a:spcAft>
                <a:spcPts val="1000"/>
              </a:spcAft>
              <a:buSzPct val="100000"/>
              <a:buChar char="•"/>
            </a:pPr>
            <a:r>
              <a:rPr lang="en-US" sz="1400" dirty="0">
                <a:solidFill>
                  <a:schemeClr val="tx1"/>
                </a:solidFill>
              </a:rPr>
              <a:t>Koreksi absensi (≤ 62 hari, beralasan)</a:t>
            </a:r>
            <a:endParaRPr lang="en-US" sz="1400" dirty="0"/>
          </a:p>
          <a:p>
            <a:pPr marL="228600" indent="-228600">
              <a:spcAft>
                <a:spcPts val="1000"/>
              </a:spcAft>
              <a:buSzPct val="100000"/>
              <a:buChar char="•"/>
            </a:pPr>
            <a:r>
              <a:rPr lang="en-US" sz="1400" dirty="0">
                <a:solidFill>
                  <a:schemeClr val="tx1"/>
                </a:solidFill>
              </a:rPr>
              <a:t>Membaca dokumen karyawan unitnya</a:t>
            </a:r>
            <a:endParaRPr lang="en-US" sz="1400" dirty="0"/>
          </a:p>
          <a:p>
            <a:pPr marL="228600" indent="-228600">
              <a:spcAft>
                <a:spcPts val="1000"/>
              </a:spcAft>
              <a:buSzPct val="100000"/>
              <a:buChar char="•"/>
            </a:pPr>
            <a:r>
              <a:rPr lang="en-US" sz="1400" dirty="0">
                <a:solidFill>
                  <a:schemeClr val="tx1"/>
                </a:solidFill>
              </a:rPr>
              <a:t>Satu akun boleh memimpin banyak unit</a:t>
            </a:r>
            <a:endParaRPr lang="en-US" sz="1400" dirty="0"/>
          </a:p>
        </p:txBody>
      </p:sp>
      <p:sp>
        <p:nvSpPr>
          <p:cNvPr id="19" name="Shape 15"/>
          <p:cNvSpPr/>
          <p:nvPr/>
        </p:nvSpPr>
        <p:spPr>
          <a:xfrm>
            <a:off x="8115605" y="1325880"/>
            <a:ext cx="3527450" cy="484632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0" name="Shape 16"/>
          <p:cNvSpPr/>
          <p:nvPr/>
        </p:nvSpPr>
        <p:spPr>
          <a:xfrm>
            <a:off x="8115605" y="1325880"/>
            <a:ext cx="3527450" cy="1143000"/>
          </a:xfrm>
          <a:prstGeom prst="roundRect">
            <a:avLst>
              <a:gd name="adj" fmla="val 9600"/>
            </a:avLst>
          </a:prstGeom>
          <a:solidFill>
            <a:schemeClr val="tx2"/>
          </a:solidFill>
          <a:ln/>
        </p:spPr>
      </p:sp>
      <p:sp>
        <p:nvSpPr>
          <p:cNvPr id="21" name="Shape 17"/>
          <p:cNvSpPr/>
          <p:nvPr/>
        </p:nvSpPr>
        <p:spPr>
          <a:xfrm>
            <a:off x="8115605" y="2286000"/>
            <a:ext cx="3527450" cy="182880"/>
          </a:xfrm>
          <a:prstGeom prst="rect">
            <a:avLst/>
          </a:prstGeom>
          <a:solidFill>
            <a:schemeClr val="tx2"/>
          </a:solidFill>
          <a:ln/>
        </p:spPr>
      </p:sp>
      <p:sp>
        <p:nvSpPr>
          <p:cNvPr id="22" name="Shape 18"/>
          <p:cNvSpPr/>
          <p:nvPr/>
        </p:nvSpPr>
        <p:spPr>
          <a:xfrm>
            <a:off x="8389925" y="1581912"/>
            <a:ext cx="603504" cy="603504"/>
          </a:xfrm>
          <a:prstGeom prst="roundRect">
            <a:avLst>
              <a:gd name="adj" fmla="val 22000"/>
            </a:avLst>
          </a:prstGeom>
          <a:solidFill>
            <a:schemeClr val="bg1">
              <a:alpha val="20000"/>
            </a:schemeClr>
          </a:solidFill>
          <a:ln/>
        </p:spPr>
      </p:sp>
      <p:pic>
        <p:nvPicPr>
          <p:cNvPr id="23" name="Image 2" descr="preencoded.png"/>
          <p:cNvPicPr>
            <a:picLocks noChangeAspect="1"/>
          </p:cNvPicPr>
          <p:nvPr/>
        </p:nvPicPr>
        <p:blipFill>
          <a:blip r:embed="rId5"/>
          <a:stretch>
            <a:fillRect/>
          </a:stretch>
        </p:blipFill>
        <p:spPr>
          <a:xfrm>
            <a:off x="8540801" y="1732788"/>
            <a:ext cx="301752" cy="301752"/>
          </a:xfrm>
          <a:prstGeom prst="rect">
            <a:avLst/>
          </a:prstGeom>
        </p:spPr>
      </p:pic>
      <p:sp>
        <p:nvSpPr>
          <p:cNvPr id="24" name="Text 19"/>
          <p:cNvSpPr txBox="1"/>
          <p:nvPr/>
        </p:nvSpPr>
        <p:spPr>
          <a:xfrm>
            <a:off x="9139733" y="1545336"/>
            <a:ext cx="2338730" cy="384048"/>
          </a:xfrm>
          <a:prstGeom prst="rect">
            <a:avLst/>
          </a:prstGeom>
          <a:noFill/>
          <a:ln/>
        </p:spPr>
        <p:txBody>
          <a:bodyPr wrap="square" lIns="0" tIns="0" rIns="0" bIns="0" rtlCol="0" anchor="t"/>
          <a:lstStyle/>
          <a:p>
            <a:pPr marL="0" indent="0">
              <a:buNone/>
            </a:pPr>
            <a:r>
              <a:rPr lang="en-US" sz="2000" b="1" dirty="0">
                <a:solidFill>
                  <a:schemeClr val="bg1"/>
                </a:solidFill>
              </a:rPr>
              <a:t>Admin SDM</a:t>
            </a:r>
            <a:endParaRPr lang="en-US" sz="2000" dirty="0"/>
          </a:p>
        </p:txBody>
      </p:sp>
      <p:sp>
        <p:nvSpPr>
          <p:cNvPr id="25" name="Text 20"/>
          <p:cNvSpPr txBox="1"/>
          <p:nvPr/>
        </p:nvSpPr>
        <p:spPr>
          <a:xfrm>
            <a:off x="9139733" y="1929384"/>
            <a:ext cx="2338730" cy="384048"/>
          </a:xfrm>
          <a:prstGeom prst="rect">
            <a:avLst/>
          </a:prstGeom>
          <a:noFill/>
          <a:ln/>
        </p:spPr>
        <p:txBody>
          <a:bodyPr wrap="square" lIns="0" tIns="0" rIns="0" bIns="0" rtlCol="0" anchor="t"/>
          <a:lstStyle/>
          <a:p>
            <a:pPr marL="0" indent="0">
              <a:buNone/>
            </a:pPr>
            <a:r>
              <a:rPr lang="en-US" sz="1200" dirty="0">
                <a:solidFill>
                  <a:schemeClr val="bg1"/>
                </a:solidFill>
              </a:rPr>
              <a:t>Dasbor /admin · semua unit</a:t>
            </a:r>
            <a:endParaRPr lang="en-US" sz="1200" dirty="0"/>
          </a:p>
        </p:txBody>
      </p:sp>
      <p:sp>
        <p:nvSpPr>
          <p:cNvPr id="26" name="Text 21"/>
          <p:cNvSpPr txBox="1"/>
          <p:nvPr/>
        </p:nvSpPr>
        <p:spPr>
          <a:xfrm>
            <a:off x="8389925" y="2743200"/>
            <a:ext cx="3024530" cy="32918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tx1"/>
                </a:solidFill>
              </a:rPr>
              <a:t>Memantau kehadiran &amp; laporan semua unit</a:t>
            </a:r>
            <a:endParaRPr lang="en-US" sz="1400" dirty="0"/>
          </a:p>
          <a:p>
            <a:pPr marL="228600" indent="-228600">
              <a:spcAft>
                <a:spcPts val="1000"/>
              </a:spcAft>
              <a:buSzPct val="100000"/>
              <a:buChar char="•"/>
            </a:pPr>
            <a:r>
              <a:rPr lang="en-US" sz="1400" dirty="0">
                <a:solidFill>
                  <a:schemeClr val="tx1"/>
                </a:solidFill>
              </a:rPr>
              <a:t>Mengelola karyawan, unit, akun admin</a:t>
            </a:r>
            <a:endParaRPr lang="en-US" sz="1400" dirty="0"/>
          </a:p>
          <a:p>
            <a:pPr marL="228600" indent="-228600">
              <a:spcAft>
                <a:spcPts val="1000"/>
              </a:spcAft>
              <a:buSzPct val="100000"/>
              <a:buChar char="•"/>
            </a:pPr>
            <a:r>
              <a:rPr lang="en-US" sz="1400" dirty="0">
                <a:solidFill>
                  <a:schemeClr val="tx1"/>
                </a:solidFill>
              </a:rPr>
              <a:t>Mengelola dokumen, kategori, unggah massal</a:t>
            </a:r>
            <a:endParaRPr lang="en-US" sz="1400" dirty="0"/>
          </a:p>
          <a:p>
            <a:pPr marL="228600" indent="-228600">
              <a:spcAft>
                <a:spcPts val="1000"/>
              </a:spcAft>
              <a:buSzPct val="100000"/>
              <a:buChar char="•"/>
            </a:pPr>
            <a:r>
              <a:rPr lang="en-US" sz="1400" dirty="0">
                <a:solidFill>
                  <a:schemeClr val="tx1"/>
                </a:solidFill>
              </a:rPr>
              <a:t>Pengaturan lokasi, jam shift, SMTP</a:t>
            </a:r>
            <a:endParaRPr lang="en-US" sz="1400" dirty="0"/>
          </a:p>
          <a:p>
            <a:pPr marL="228600" indent="-228600">
              <a:spcAft>
                <a:spcPts val="1000"/>
              </a:spcAft>
              <a:buSzPct val="100000"/>
              <a:buChar char="•"/>
            </a:pPr>
            <a:r>
              <a:rPr lang="en-US" sz="1400" dirty="0">
                <a:solidFill>
                  <a:schemeClr val="tx1"/>
                </a:solidFill>
              </a:rPr>
              <a:t>Memutuskan unit tanpa Kepala Unit</a:t>
            </a:r>
            <a:endParaRPr lang="en-US" sz="1400" dirty="0"/>
          </a:p>
        </p:txBody>
      </p:sp>
      <p:sp>
        <p:nvSpPr>
          <p:cNvPr id="27"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1874520"/>
            <a:ext cx="2743200" cy="548640"/>
          </a:xfrm>
          <a:prstGeom prst="rect">
            <a:avLst/>
          </a:prstGeom>
          <a:noFill/>
          <a:ln/>
        </p:spPr>
        <p:txBody>
          <a:bodyPr wrap="square" lIns="0" tIns="0" rIns="0" bIns="0" rtlCol="0" anchor="t"/>
          <a:lstStyle/>
          <a:p>
            <a:pPr marL="0" indent="0">
              <a:buNone/>
            </a:pPr>
            <a:r>
              <a:rPr lang="en-US" sz="2000" b="1" dirty="0">
                <a:solidFill>
                  <a:srgbClr val="D5ECEF"/>
                </a:solidFill>
              </a:rPr>
              <a:t>05</a:t>
            </a:r>
            <a:endParaRPr lang="en-US" sz="2000" dirty="0"/>
          </a:p>
        </p:txBody>
      </p:sp>
      <p:sp>
        <p:nvSpPr>
          <p:cNvPr id="3" name="Text 1"/>
          <p:cNvSpPr>
            <a:spLocks noGrp="1"/>
          </p:cNvSpPr>
          <p:nvPr>
            <p:ph type="title" idx="101" hasCustomPrompt="1"/>
          </p:nvPr>
        </p:nvSpPr>
        <p:spPr>
          <a:xfrm>
            <a:off x="548640" y="2514600"/>
            <a:ext cx="6583680" cy="914400"/>
          </a:xfrm>
          <a:prstGeom prst="rect">
            <a:avLst/>
          </a:prstGeom>
          <a:noFill/>
          <a:ln/>
        </p:spPr>
        <p:txBody>
          <a:bodyPr wrap="square" lIns="0" tIns="0" rIns="0" bIns="0" rtlCol="0" anchor="ctr"/>
          <a:lstStyle/>
          <a:p>
            <a:pPr marL="0" indent="0" algn="l">
              <a:buNone/>
            </a:pPr>
            <a:r>
              <a:rPr lang="en-US" sz="5400" b="1" dirty="0">
                <a:solidFill>
                  <a:schemeClr val="bg1"/>
                </a:solidFill>
                <a:latin typeface="Aptos Display" pitchFamily="34" charset="0"/>
                <a:ea typeface="Aptos Display" pitchFamily="34" charset="-122"/>
                <a:cs typeface="Aptos Display" pitchFamily="34" charset="-120"/>
              </a:rPr>
              <a:t>Alur &amp; algoritma</a:t>
            </a:r>
            <a:endParaRPr lang="en-US" sz="5400" dirty="0"/>
          </a:p>
        </p:txBody>
      </p:sp>
      <p:sp>
        <p:nvSpPr>
          <p:cNvPr id="4" name="Text 1"/>
          <p:cNvSpPr>
            <a:spLocks noGrp="1"/>
          </p:cNvSpPr>
          <p:nvPr>
            <p:ph type="body" idx="102" hasCustomPrompt="1"/>
          </p:nvPr>
        </p:nvSpPr>
        <p:spPr>
          <a:xfrm>
            <a:off x="548640" y="3520440"/>
            <a:ext cx="6035040" cy="914400"/>
          </a:xfrm>
          <a:prstGeom prst="rect">
            <a:avLst/>
          </a:prstGeom>
          <a:noFill/>
          <a:ln/>
        </p:spPr>
        <p:txBody>
          <a:bodyPr wrap="square" lIns="0" tIns="0" rIns="0" bIns="0" rtlCol="0" anchor="t"/>
          <a:lstStyle/>
          <a:p>
            <a:pPr marL="0" indent="0" algn="l">
              <a:buNone/>
            </a:pPr>
            <a:r>
              <a:rPr lang="en-US" sz="2000" dirty="0">
                <a:solidFill>
                  <a:srgbClr val="D5ECEF"/>
                </a:solidFill>
              </a:rPr>
              <a:t>Verifikasi presensi, jendela absen, status harian, jadwal, dan persetujuan</a:t>
            </a:r>
            <a:endParaRPr lang="en-US" sz="2000" dirty="0"/>
          </a:p>
        </p:txBody>
      </p:sp>
      <p:sp>
        <p:nvSpPr>
          <p:cNvPr id="5" name="Shape 3"/>
          <p:cNvSpPr/>
          <p:nvPr/>
        </p:nvSpPr>
        <p:spPr>
          <a:xfrm>
            <a:off x="7818120" y="1417320"/>
            <a:ext cx="1005840" cy="1005840"/>
          </a:xfrm>
          <a:prstGeom prst="roundRect">
            <a:avLst>
              <a:gd name="adj" fmla="val 22000"/>
            </a:avLst>
          </a:prstGeom>
          <a:solidFill>
            <a:schemeClr val="tx2"/>
          </a:solidFill>
          <a:ln/>
        </p:spPr>
      </p:sp>
      <p:pic>
        <p:nvPicPr>
          <p:cNvPr id="6" name="Image 0" descr="preencoded.png"/>
          <p:cNvPicPr>
            <a:picLocks noChangeAspect="1"/>
          </p:cNvPicPr>
          <p:nvPr/>
        </p:nvPicPr>
        <p:blipFill>
          <a:blip r:embed="rId3"/>
          <a:stretch>
            <a:fillRect/>
          </a:stretch>
        </p:blipFill>
        <p:spPr>
          <a:xfrm>
            <a:off x="8069580" y="1668780"/>
            <a:ext cx="502920" cy="502920"/>
          </a:xfrm>
          <a:prstGeom prst="rect">
            <a:avLst/>
          </a:prstGeom>
        </p:spPr>
      </p:pic>
      <p:sp>
        <p:nvSpPr>
          <p:cNvPr id="7" name="Shape 4"/>
          <p:cNvSpPr/>
          <p:nvPr/>
        </p:nvSpPr>
        <p:spPr>
          <a:xfrm>
            <a:off x="9025128" y="1417320"/>
            <a:ext cx="1005840" cy="1005840"/>
          </a:xfrm>
          <a:prstGeom prst="roundRect">
            <a:avLst>
              <a:gd name="adj" fmla="val 22000"/>
            </a:avLst>
          </a:prstGeom>
          <a:solidFill>
            <a:schemeClr val="bg1">
              <a:alpha val="12000"/>
            </a:schemeClr>
          </a:solidFill>
          <a:ln/>
        </p:spPr>
      </p:sp>
      <p:sp>
        <p:nvSpPr>
          <p:cNvPr id="8" name="Shape 5"/>
          <p:cNvSpPr/>
          <p:nvPr/>
        </p:nvSpPr>
        <p:spPr>
          <a:xfrm>
            <a:off x="10232136" y="1417320"/>
            <a:ext cx="1005840" cy="1005840"/>
          </a:xfrm>
          <a:prstGeom prst="roundRect">
            <a:avLst>
              <a:gd name="adj" fmla="val 22000"/>
            </a:avLst>
          </a:prstGeom>
          <a:solidFill>
            <a:schemeClr val="accent3"/>
          </a:solidFill>
          <a:ln/>
        </p:spPr>
      </p:sp>
      <p:pic>
        <p:nvPicPr>
          <p:cNvPr id="9" name="Image 1" descr="preencoded.png"/>
          <p:cNvPicPr>
            <a:picLocks noChangeAspect="1"/>
          </p:cNvPicPr>
          <p:nvPr/>
        </p:nvPicPr>
        <p:blipFill>
          <a:blip r:embed="rId4"/>
          <a:stretch>
            <a:fillRect/>
          </a:stretch>
        </p:blipFill>
        <p:spPr>
          <a:xfrm>
            <a:off x="10483596" y="1668780"/>
            <a:ext cx="502920" cy="502920"/>
          </a:xfrm>
          <a:prstGeom prst="rect">
            <a:avLst/>
          </a:prstGeom>
        </p:spPr>
      </p:pic>
      <p:sp>
        <p:nvSpPr>
          <p:cNvPr id="10" name="Shape 6"/>
          <p:cNvSpPr/>
          <p:nvPr/>
        </p:nvSpPr>
        <p:spPr>
          <a:xfrm>
            <a:off x="7818120" y="2624328"/>
            <a:ext cx="1005840" cy="1005840"/>
          </a:xfrm>
          <a:prstGeom prst="roundRect">
            <a:avLst>
              <a:gd name="adj" fmla="val 22000"/>
            </a:avLst>
          </a:prstGeom>
          <a:solidFill>
            <a:schemeClr val="bg1">
              <a:alpha val="12000"/>
            </a:schemeClr>
          </a:solidFill>
          <a:ln/>
        </p:spPr>
      </p:sp>
      <p:sp>
        <p:nvSpPr>
          <p:cNvPr id="11" name="Shape 7"/>
          <p:cNvSpPr/>
          <p:nvPr/>
        </p:nvSpPr>
        <p:spPr>
          <a:xfrm>
            <a:off x="9025128" y="2624328"/>
            <a:ext cx="1005840" cy="1005840"/>
          </a:xfrm>
          <a:prstGeom prst="roundRect">
            <a:avLst>
              <a:gd name="adj" fmla="val 22000"/>
            </a:avLst>
          </a:prstGeom>
          <a:solidFill>
            <a:schemeClr val="bg1"/>
          </a:solidFill>
          <a:ln/>
        </p:spPr>
      </p:sp>
      <p:pic>
        <p:nvPicPr>
          <p:cNvPr id="12" name="Image 2" descr="Logo ABiTA"/>
          <p:cNvPicPr>
            <a:picLocks noChangeAspect="1"/>
          </p:cNvPicPr>
          <p:nvPr/>
        </p:nvPicPr>
        <p:blipFill>
          <a:blip r:embed="rId5"/>
          <a:stretch>
            <a:fillRect/>
          </a:stretch>
        </p:blipFill>
        <p:spPr>
          <a:xfrm>
            <a:off x="9145829" y="2745029"/>
            <a:ext cx="764438" cy="764438"/>
          </a:xfrm>
          <a:prstGeom prst="rect">
            <a:avLst/>
          </a:prstGeom>
        </p:spPr>
      </p:pic>
      <p:sp>
        <p:nvSpPr>
          <p:cNvPr id="13" name="Shape 8"/>
          <p:cNvSpPr/>
          <p:nvPr/>
        </p:nvSpPr>
        <p:spPr>
          <a:xfrm>
            <a:off x="10232136" y="2624328"/>
            <a:ext cx="1005840" cy="1005840"/>
          </a:xfrm>
          <a:prstGeom prst="roundRect">
            <a:avLst>
              <a:gd name="adj" fmla="val 22000"/>
            </a:avLst>
          </a:prstGeom>
          <a:solidFill>
            <a:schemeClr val="bg1">
              <a:alpha val="12000"/>
            </a:schemeClr>
          </a:solidFill>
          <a:ln/>
        </p:spPr>
      </p:sp>
      <p:sp>
        <p:nvSpPr>
          <p:cNvPr id="14" name="Shape 9"/>
          <p:cNvSpPr/>
          <p:nvPr/>
        </p:nvSpPr>
        <p:spPr>
          <a:xfrm>
            <a:off x="7818120" y="3831336"/>
            <a:ext cx="1005840" cy="1005840"/>
          </a:xfrm>
          <a:prstGeom prst="roundRect">
            <a:avLst>
              <a:gd name="adj" fmla="val 22000"/>
            </a:avLst>
          </a:prstGeom>
          <a:solidFill>
            <a:schemeClr val="accent3"/>
          </a:solidFill>
          <a:ln/>
        </p:spPr>
      </p:sp>
      <p:pic>
        <p:nvPicPr>
          <p:cNvPr id="15" name="Image 3" descr="preencoded.png"/>
          <p:cNvPicPr>
            <a:picLocks noChangeAspect="1"/>
          </p:cNvPicPr>
          <p:nvPr/>
        </p:nvPicPr>
        <p:blipFill>
          <a:blip r:embed="rId6"/>
          <a:stretch>
            <a:fillRect/>
          </a:stretch>
        </p:blipFill>
        <p:spPr>
          <a:xfrm>
            <a:off x="8069580" y="4082796"/>
            <a:ext cx="502920" cy="502920"/>
          </a:xfrm>
          <a:prstGeom prst="rect">
            <a:avLst/>
          </a:prstGeom>
        </p:spPr>
      </p:pic>
      <p:sp>
        <p:nvSpPr>
          <p:cNvPr id="16" name="Shape 10"/>
          <p:cNvSpPr/>
          <p:nvPr/>
        </p:nvSpPr>
        <p:spPr>
          <a:xfrm>
            <a:off x="9025128" y="3831336"/>
            <a:ext cx="1005840" cy="1005840"/>
          </a:xfrm>
          <a:prstGeom prst="roundRect">
            <a:avLst>
              <a:gd name="adj" fmla="val 22000"/>
            </a:avLst>
          </a:prstGeom>
          <a:solidFill>
            <a:schemeClr val="bg1">
              <a:alpha val="12000"/>
            </a:schemeClr>
          </a:solidFill>
          <a:ln/>
        </p:spPr>
      </p:sp>
      <p:sp>
        <p:nvSpPr>
          <p:cNvPr id="17" name="Shape 11"/>
          <p:cNvSpPr/>
          <p:nvPr/>
        </p:nvSpPr>
        <p:spPr>
          <a:xfrm>
            <a:off x="10232136" y="3831336"/>
            <a:ext cx="1005840" cy="1005840"/>
          </a:xfrm>
          <a:prstGeom prst="roundRect">
            <a:avLst>
              <a:gd name="adj" fmla="val 22000"/>
            </a:avLst>
          </a:prstGeom>
          <a:solidFill>
            <a:schemeClr val="tx2"/>
          </a:solidFill>
          <a:ln/>
        </p:spPr>
      </p:sp>
      <p:pic>
        <p:nvPicPr>
          <p:cNvPr id="18" name="Image 4" descr="preencoded.png"/>
          <p:cNvPicPr>
            <a:picLocks noChangeAspect="1"/>
          </p:cNvPicPr>
          <p:nvPr/>
        </p:nvPicPr>
        <p:blipFill>
          <a:blip r:embed="rId7"/>
          <a:stretch>
            <a:fillRect/>
          </a:stretch>
        </p:blipFill>
        <p:spPr>
          <a:xfrm>
            <a:off x="10483596" y="4082796"/>
            <a:ext cx="502920" cy="502920"/>
          </a:xfrm>
          <a:prstGeom prst="rect">
            <a:avLst/>
          </a:prstGeom>
        </p:spPr>
      </p:pic>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D5ECE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Lapisan anti-kecurangan</a:t>
            </a:r>
            <a:endParaRPr lang="en-US" sz="2800" dirty="0"/>
          </a:p>
        </p:txBody>
      </p:sp>
      <p:sp>
        <p:nvSpPr>
          <p:cNvPr id="3" name="Shape 1"/>
          <p:cNvSpPr/>
          <p:nvPr/>
        </p:nvSpPr>
        <p:spPr>
          <a:xfrm>
            <a:off x="548640"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accent2"/>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Liveness</a:t>
            </a:r>
            <a:endParaRPr lang="en-US" sz="1700" dirty="0"/>
          </a:p>
        </p:txBody>
      </p:sp>
      <p:sp>
        <p:nvSpPr>
          <p:cNvPr id="7" name="Text 4"/>
          <p:cNvSpPr txBox="1"/>
          <p:nvPr/>
        </p:nvSpPr>
        <p:spPr>
          <a:xfrm>
            <a:off x="822960" y="2331720"/>
            <a:ext cx="2032940" cy="1097280"/>
          </a:xfrm>
          <a:prstGeom prst="rect">
            <a:avLst/>
          </a:prstGeom>
          <a:noFill/>
          <a:ln/>
        </p:spPr>
        <p:txBody>
          <a:bodyPr wrap="square" lIns="0" tIns="0" rIns="0" bIns="0" rtlCol="0" anchor="t"/>
          <a:lstStyle/>
          <a:p>
            <a:pPr marL="0" indent="0">
              <a:buNone/>
            </a:pPr>
            <a:r>
              <a:rPr lang="en-US" sz="1300" dirty="0">
                <a:solidFill>
                  <a:schemeClr val="tx1"/>
                </a:solidFill>
              </a:rPr>
              <a:t>Hadap → toleh kiri/kanan acak → hadap; rasio hidung 0,58 / 0,42.</a:t>
            </a:r>
            <a:endParaRPr lang="en-US" sz="1300" dirty="0"/>
          </a:p>
        </p:txBody>
      </p:sp>
      <p:sp>
        <p:nvSpPr>
          <p:cNvPr id="8" name="Shape 5"/>
          <p:cNvSpPr/>
          <p:nvPr/>
        </p:nvSpPr>
        <p:spPr>
          <a:xfrm>
            <a:off x="3386252"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9" name="Shape 6"/>
          <p:cNvSpPr/>
          <p:nvPr/>
        </p:nvSpPr>
        <p:spPr>
          <a:xfrm>
            <a:off x="3660572" y="1600200"/>
            <a:ext cx="566928" cy="566928"/>
          </a:xfrm>
          <a:prstGeom prst="roundRect">
            <a:avLst>
              <a:gd name="adj" fmla="val 22000"/>
            </a:avLst>
          </a:prstGeom>
          <a:solidFill>
            <a:schemeClr val="accent1"/>
          </a:solidFill>
          <a:ln/>
        </p:spPr>
      </p:sp>
      <p:pic>
        <p:nvPicPr>
          <p:cNvPr id="10" name="Image 1" descr="preencoded.png"/>
          <p:cNvPicPr>
            <a:picLocks noChangeAspect="1"/>
          </p:cNvPicPr>
          <p:nvPr/>
        </p:nvPicPr>
        <p:blipFill>
          <a:blip r:embed="rId4"/>
          <a:stretch>
            <a:fillRect/>
          </a:stretch>
        </p:blipFill>
        <p:spPr>
          <a:xfrm>
            <a:off x="3802304" y="1741932"/>
            <a:ext cx="283464" cy="283464"/>
          </a:xfrm>
          <a:prstGeom prst="rect">
            <a:avLst/>
          </a:prstGeom>
        </p:spPr>
      </p:pic>
      <p:sp>
        <p:nvSpPr>
          <p:cNvPr id="11" name="Text 7"/>
          <p:cNvSpPr txBox="1"/>
          <p:nvPr/>
        </p:nvSpPr>
        <p:spPr>
          <a:xfrm>
            <a:off x="4373804"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Wajah kedua</a:t>
            </a:r>
            <a:endParaRPr lang="en-US" sz="1700" dirty="0"/>
          </a:p>
        </p:txBody>
      </p:sp>
      <p:sp>
        <p:nvSpPr>
          <p:cNvPr id="12" name="Text 8"/>
          <p:cNvSpPr txBox="1"/>
          <p:nvPr/>
        </p:nvSpPr>
        <p:spPr>
          <a:xfrm>
            <a:off x="3660572" y="2331720"/>
            <a:ext cx="2032940" cy="1097280"/>
          </a:xfrm>
          <a:prstGeom prst="rect">
            <a:avLst/>
          </a:prstGeom>
          <a:noFill/>
          <a:ln/>
        </p:spPr>
        <p:txBody>
          <a:bodyPr wrap="square" lIns="0" tIns="0" rIns="0" bIns="0" rtlCol="0" anchor="t"/>
          <a:lstStyle/>
          <a:p>
            <a:pPr marL="0" indent="0">
              <a:buNone/>
            </a:pPr>
            <a:r>
              <a:rPr lang="en-US" sz="1300" dirty="0">
                <a:solidFill>
                  <a:schemeClr val="tx1"/>
                </a:solidFill>
              </a:rPr>
              <a:t>Ditolak bila wajah lain ≥ 80% ukuran wajah utama.</a:t>
            </a:r>
            <a:endParaRPr lang="en-US" sz="1300" dirty="0"/>
          </a:p>
        </p:txBody>
      </p:sp>
      <p:sp>
        <p:nvSpPr>
          <p:cNvPr id="13" name="Shape 9"/>
          <p:cNvSpPr/>
          <p:nvPr/>
        </p:nvSpPr>
        <p:spPr>
          <a:xfrm>
            <a:off x="6223864"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4" name="Shape 10"/>
          <p:cNvSpPr/>
          <p:nvPr/>
        </p:nvSpPr>
        <p:spPr>
          <a:xfrm>
            <a:off x="6498184" y="1600200"/>
            <a:ext cx="566928" cy="566928"/>
          </a:xfrm>
          <a:prstGeom prst="roundRect">
            <a:avLst>
              <a:gd name="adj" fmla="val 22000"/>
            </a:avLst>
          </a:prstGeom>
          <a:solidFill>
            <a:schemeClr val="accent1"/>
          </a:solidFill>
          <a:ln/>
        </p:spPr>
      </p:sp>
      <p:pic>
        <p:nvPicPr>
          <p:cNvPr id="15" name="Image 2" descr="preencoded.png"/>
          <p:cNvPicPr>
            <a:picLocks noChangeAspect="1"/>
          </p:cNvPicPr>
          <p:nvPr/>
        </p:nvPicPr>
        <p:blipFill>
          <a:blip r:embed="rId5"/>
          <a:stretch>
            <a:fillRect/>
          </a:stretch>
        </p:blipFill>
        <p:spPr>
          <a:xfrm>
            <a:off x="6639916" y="1741932"/>
            <a:ext cx="283464" cy="283464"/>
          </a:xfrm>
          <a:prstGeom prst="rect">
            <a:avLst/>
          </a:prstGeom>
        </p:spPr>
      </p:pic>
      <p:sp>
        <p:nvSpPr>
          <p:cNvPr id="16" name="Text 11"/>
          <p:cNvSpPr txBox="1"/>
          <p:nvPr/>
        </p:nvSpPr>
        <p:spPr>
          <a:xfrm>
            <a:off x="7211416"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Sesi sekali pakai</a:t>
            </a:r>
            <a:endParaRPr lang="en-US" sz="1700" dirty="0"/>
          </a:p>
        </p:txBody>
      </p:sp>
      <p:sp>
        <p:nvSpPr>
          <p:cNvPr id="17" name="Text 12"/>
          <p:cNvSpPr txBox="1"/>
          <p:nvPr/>
        </p:nvSpPr>
        <p:spPr>
          <a:xfrm>
            <a:off x="6498184" y="2331720"/>
            <a:ext cx="2032940" cy="1097280"/>
          </a:xfrm>
          <a:prstGeom prst="rect">
            <a:avLst/>
          </a:prstGeom>
          <a:noFill/>
          <a:ln/>
        </p:spPr>
        <p:txBody>
          <a:bodyPr wrap="square" lIns="0" tIns="0" rIns="0" bIns="0" rtlCol="0" anchor="t"/>
          <a:lstStyle/>
          <a:p>
            <a:pPr marL="0" indent="0">
              <a:buNone/>
            </a:pPr>
            <a:r>
              <a:rPr lang="en-US" sz="1300" dirty="0">
                <a:solidFill>
                  <a:schemeClr val="tx1"/>
                </a:solidFill>
              </a:rPr>
              <a:t>Klaim atomik; dipakai ulang = SESSION_USED.</a:t>
            </a:r>
            <a:endParaRPr lang="en-US" sz="1300" dirty="0"/>
          </a:p>
        </p:txBody>
      </p:sp>
      <p:sp>
        <p:nvSpPr>
          <p:cNvPr id="18" name="Shape 13"/>
          <p:cNvSpPr/>
          <p:nvPr/>
        </p:nvSpPr>
        <p:spPr>
          <a:xfrm>
            <a:off x="9061475"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9" name="Shape 14"/>
          <p:cNvSpPr/>
          <p:nvPr/>
        </p:nvSpPr>
        <p:spPr>
          <a:xfrm>
            <a:off x="9335795" y="1600200"/>
            <a:ext cx="566928" cy="566928"/>
          </a:xfrm>
          <a:prstGeom prst="roundRect">
            <a:avLst>
              <a:gd name="adj" fmla="val 22000"/>
            </a:avLst>
          </a:prstGeom>
          <a:solidFill>
            <a:schemeClr val="accent1"/>
          </a:solidFill>
          <a:ln/>
        </p:spPr>
      </p:sp>
      <p:pic>
        <p:nvPicPr>
          <p:cNvPr id="20" name="Image 3" descr="preencoded.png"/>
          <p:cNvPicPr>
            <a:picLocks noChangeAspect="1"/>
          </p:cNvPicPr>
          <p:nvPr/>
        </p:nvPicPr>
        <p:blipFill>
          <a:blip r:embed="rId6"/>
          <a:stretch>
            <a:fillRect/>
          </a:stretch>
        </p:blipFill>
        <p:spPr>
          <a:xfrm>
            <a:off x="9477527" y="1741932"/>
            <a:ext cx="283464" cy="283464"/>
          </a:xfrm>
          <a:prstGeom prst="rect">
            <a:avLst/>
          </a:prstGeom>
        </p:spPr>
      </p:pic>
      <p:sp>
        <p:nvSpPr>
          <p:cNvPr id="21" name="Text 15"/>
          <p:cNvSpPr txBox="1"/>
          <p:nvPr/>
        </p:nvSpPr>
        <p:spPr>
          <a:xfrm>
            <a:off x="10049027"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Geofence</a:t>
            </a:r>
            <a:endParaRPr lang="en-US" sz="1700" dirty="0"/>
          </a:p>
        </p:txBody>
      </p:sp>
      <p:sp>
        <p:nvSpPr>
          <p:cNvPr id="22" name="Text 16"/>
          <p:cNvSpPr txBox="1"/>
          <p:nvPr/>
        </p:nvSpPr>
        <p:spPr>
          <a:xfrm>
            <a:off x="9335795" y="2331720"/>
            <a:ext cx="2032940" cy="1097280"/>
          </a:xfrm>
          <a:prstGeom prst="rect">
            <a:avLst/>
          </a:prstGeom>
          <a:noFill/>
          <a:ln/>
        </p:spPr>
        <p:txBody>
          <a:bodyPr wrap="square" lIns="0" tIns="0" rIns="0" bIns="0" rtlCol="0" anchor="t"/>
          <a:lstStyle/>
          <a:p>
            <a:pPr marL="0" indent="0">
              <a:buNone/>
            </a:pPr>
            <a:r>
              <a:rPr lang="en-US" sz="1300" dirty="0">
                <a:solidFill>
                  <a:schemeClr val="tx1"/>
                </a:solidFill>
              </a:rPr>
              <a:t>Jarak − min(akurasi, 100 m) ≤ radius; lokasi palsu ditolak.</a:t>
            </a:r>
            <a:endParaRPr lang="en-US" sz="1300" dirty="0"/>
          </a:p>
        </p:txBody>
      </p:sp>
      <p:sp>
        <p:nvSpPr>
          <p:cNvPr id="23" name="Shape 17"/>
          <p:cNvSpPr/>
          <p:nvPr/>
        </p:nvSpPr>
        <p:spPr>
          <a:xfrm>
            <a:off x="548640"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Shape 18"/>
          <p:cNvSpPr/>
          <p:nvPr/>
        </p:nvSpPr>
        <p:spPr>
          <a:xfrm>
            <a:off x="822960" y="4096512"/>
            <a:ext cx="566928" cy="566928"/>
          </a:xfrm>
          <a:prstGeom prst="roundRect">
            <a:avLst>
              <a:gd name="adj" fmla="val 22000"/>
            </a:avLst>
          </a:prstGeom>
          <a:solidFill>
            <a:schemeClr val="accent1"/>
          </a:solidFill>
          <a:ln/>
        </p:spPr>
      </p:sp>
      <p:pic>
        <p:nvPicPr>
          <p:cNvPr id="25" name="Image 4" descr="preencoded.png"/>
          <p:cNvPicPr>
            <a:picLocks noChangeAspect="1"/>
          </p:cNvPicPr>
          <p:nvPr/>
        </p:nvPicPr>
        <p:blipFill>
          <a:blip r:embed="rId7"/>
          <a:stretch>
            <a:fillRect/>
          </a:stretch>
        </p:blipFill>
        <p:spPr>
          <a:xfrm>
            <a:off x="964692" y="4238244"/>
            <a:ext cx="283464" cy="283464"/>
          </a:xfrm>
          <a:prstGeom prst="rect">
            <a:avLst/>
          </a:prstGeom>
        </p:spPr>
      </p:pic>
      <p:sp>
        <p:nvSpPr>
          <p:cNvPr id="26" name="Text 19"/>
          <p:cNvSpPr txBox="1"/>
          <p:nvPr/>
        </p:nvSpPr>
        <p:spPr>
          <a:xfrm>
            <a:off x="1536192"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Template adaptif</a:t>
            </a:r>
            <a:endParaRPr lang="en-US" sz="1700" dirty="0"/>
          </a:p>
        </p:txBody>
      </p:sp>
      <p:sp>
        <p:nvSpPr>
          <p:cNvPr id="27" name="Text 20"/>
          <p:cNvSpPr txBox="1"/>
          <p:nvPr/>
        </p:nvSpPr>
        <p:spPr>
          <a:xfrm>
            <a:off x="822960" y="4828032"/>
            <a:ext cx="2032940" cy="1097280"/>
          </a:xfrm>
          <a:prstGeom prst="rect">
            <a:avLst/>
          </a:prstGeom>
          <a:noFill/>
          <a:ln/>
        </p:spPr>
        <p:txBody>
          <a:bodyPr wrap="square" lIns="0" tIns="0" rIns="0" bIns="0" rtlCol="0" anchor="t"/>
          <a:lstStyle/>
          <a:p>
            <a:pPr marL="0" indent="0">
              <a:buNone/>
            </a:pPr>
            <a:r>
              <a:rPr lang="en-US" sz="1300" dirty="0">
                <a:solidFill>
                  <a:schemeClr val="tx1"/>
                </a:solidFill>
              </a:rPr>
              <a:t>Diperbarui hanya bila skor ≥ 0,65, bobot 10%.</a:t>
            </a:r>
            <a:endParaRPr lang="en-US" sz="1300" dirty="0"/>
          </a:p>
        </p:txBody>
      </p:sp>
      <p:sp>
        <p:nvSpPr>
          <p:cNvPr id="28" name="Shape 21"/>
          <p:cNvSpPr/>
          <p:nvPr/>
        </p:nvSpPr>
        <p:spPr>
          <a:xfrm>
            <a:off x="3386252"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9" name="Shape 22"/>
          <p:cNvSpPr/>
          <p:nvPr/>
        </p:nvSpPr>
        <p:spPr>
          <a:xfrm>
            <a:off x="3660572" y="4096512"/>
            <a:ext cx="566928" cy="566928"/>
          </a:xfrm>
          <a:prstGeom prst="roundRect">
            <a:avLst>
              <a:gd name="adj" fmla="val 22000"/>
            </a:avLst>
          </a:prstGeom>
          <a:solidFill>
            <a:schemeClr val="accent1"/>
          </a:solidFill>
          <a:ln/>
        </p:spPr>
      </p:sp>
      <p:pic>
        <p:nvPicPr>
          <p:cNvPr id="30" name="Image 5" descr="preencoded.png"/>
          <p:cNvPicPr>
            <a:picLocks noChangeAspect="1"/>
          </p:cNvPicPr>
          <p:nvPr/>
        </p:nvPicPr>
        <p:blipFill>
          <a:blip r:embed="rId8"/>
          <a:stretch>
            <a:fillRect/>
          </a:stretch>
        </p:blipFill>
        <p:spPr>
          <a:xfrm>
            <a:off x="3802304" y="4238244"/>
            <a:ext cx="283464" cy="283464"/>
          </a:xfrm>
          <a:prstGeom prst="rect">
            <a:avLst/>
          </a:prstGeom>
        </p:spPr>
      </p:pic>
      <p:sp>
        <p:nvSpPr>
          <p:cNvPr id="31" name="Text 23"/>
          <p:cNvSpPr txBox="1"/>
          <p:nvPr/>
        </p:nvSpPr>
        <p:spPr>
          <a:xfrm>
            <a:off x="4373804"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Pindai ulang aman</a:t>
            </a:r>
            <a:endParaRPr lang="en-US" sz="1700" dirty="0"/>
          </a:p>
        </p:txBody>
      </p:sp>
      <p:sp>
        <p:nvSpPr>
          <p:cNvPr id="32" name="Text 24"/>
          <p:cNvSpPr txBox="1"/>
          <p:nvPr/>
        </p:nvSpPr>
        <p:spPr>
          <a:xfrm>
            <a:off x="3660572" y="4828032"/>
            <a:ext cx="2032940" cy="1097280"/>
          </a:xfrm>
          <a:prstGeom prst="rect">
            <a:avLst/>
          </a:prstGeom>
          <a:noFill/>
          <a:ln/>
        </p:spPr>
        <p:txBody>
          <a:bodyPr wrap="square" lIns="0" tIns="0" rIns="0" bIns="0" rtlCol="0" anchor="t"/>
          <a:lstStyle/>
          <a:p>
            <a:pPr marL="0" indent="0">
              <a:buNone/>
            </a:pPr>
            <a:r>
              <a:rPr lang="en-US" sz="1300" dirty="0">
                <a:solidFill>
                  <a:schemeClr val="tx1"/>
                </a:solidFill>
              </a:rPr>
              <a:t>Wajah baru harus cocok dengan template lama.</a:t>
            </a:r>
            <a:endParaRPr lang="en-US" sz="1300" dirty="0"/>
          </a:p>
        </p:txBody>
      </p:sp>
      <p:sp>
        <p:nvSpPr>
          <p:cNvPr id="33" name="Shape 25"/>
          <p:cNvSpPr/>
          <p:nvPr/>
        </p:nvSpPr>
        <p:spPr>
          <a:xfrm>
            <a:off x="6223864"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4" name="Shape 26"/>
          <p:cNvSpPr/>
          <p:nvPr/>
        </p:nvSpPr>
        <p:spPr>
          <a:xfrm>
            <a:off x="6498184" y="4096512"/>
            <a:ext cx="566928" cy="566928"/>
          </a:xfrm>
          <a:prstGeom prst="roundRect">
            <a:avLst>
              <a:gd name="adj" fmla="val 22000"/>
            </a:avLst>
          </a:prstGeom>
          <a:solidFill>
            <a:schemeClr val="accent6"/>
          </a:solidFill>
          <a:ln/>
        </p:spPr>
      </p:sp>
      <p:pic>
        <p:nvPicPr>
          <p:cNvPr id="35" name="Image 6" descr="preencoded.png"/>
          <p:cNvPicPr>
            <a:picLocks noChangeAspect="1"/>
          </p:cNvPicPr>
          <p:nvPr/>
        </p:nvPicPr>
        <p:blipFill>
          <a:blip r:embed="rId9"/>
          <a:stretch>
            <a:fillRect/>
          </a:stretch>
        </p:blipFill>
        <p:spPr>
          <a:xfrm>
            <a:off x="6639916" y="4238244"/>
            <a:ext cx="283464" cy="283464"/>
          </a:xfrm>
          <a:prstGeom prst="rect">
            <a:avLst/>
          </a:prstGeom>
        </p:spPr>
      </p:pic>
      <p:sp>
        <p:nvSpPr>
          <p:cNvPr id="36" name="Text 27"/>
          <p:cNvSpPr txBox="1"/>
          <p:nvPr/>
        </p:nvSpPr>
        <p:spPr>
          <a:xfrm>
            <a:off x="7211416"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Kualitas foto</a:t>
            </a:r>
            <a:endParaRPr lang="en-US" sz="1700" dirty="0"/>
          </a:p>
        </p:txBody>
      </p:sp>
      <p:sp>
        <p:nvSpPr>
          <p:cNvPr id="37" name="Text 28"/>
          <p:cNvSpPr txBox="1"/>
          <p:nvPr/>
        </p:nvSpPr>
        <p:spPr>
          <a:xfrm>
            <a:off x="6498184" y="4828032"/>
            <a:ext cx="2032940" cy="1097280"/>
          </a:xfrm>
          <a:prstGeom prst="rect">
            <a:avLst/>
          </a:prstGeom>
          <a:noFill/>
          <a:ln/>
        </p:spPr>
        <p:txBody>
          <a:bodyPr wrap="square" lIns="0" tIns="0" rIns="0" bIns="0" rtlCol="0" anchor="t"/>
          <a:lstStyle/>
          <a:p>
            <a:pPr marL="0" indent="0">
              <a:buNone/>
            </a:pPr>
            <a:r>
              <a:rPr lang="en-US" sz="1300" dirty="0">
                <a:solidFill>
                  <a:schemeClr val="tx1"/>
                </a:solidFill>
              </a:rPr>
              <a:t>Wajah ≥ 15% lebar foto, kecerahan 40–235; dicek di server.</a:t>
            </a:r>
            <a:endParaRPr lang="en-US" sz="1300" dirty="0"/>
          </a:p>
        </p:txBody>
      </p:sp>
      <p:sp>
        <p:nvSpPr>
          <p:cNvPr id="38" name="Shape 29"/>
          <p:cNvSpPr/>
          <p:nvPr/>
        </p:nvSpPr>
        <p:spPr>
          <a:xfrm>
            <a:off x="9061475"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9" name="Shape 30"/>
          <p:cNvSpPr/>
          <p:nvPr/>
        </p:nvSpPr>
        <p:spPr>
          <a:xfrm>
            <a:off x="9335795" y="4096512"/>
            <a:ext cx="566928" cy="566928"/>
          </a:xfrm>
          <a:prstGeom prst="roundRect">
            <a:avLst>
              <a:gd name="adj" fmla="val 22000"/>
            </a:avLst>
          </a:prstGeom>
          <a:solidFill>
            <a:schemeClr val="accent6"/>
          </a:solidFill>
          <a:ln/>
        </p:spPr>
      </p:sp>
      <p:pic>
        <p:nvPicPr>
          <p:cNvPr id="40" name="Image 7" descr="preencoded.png"/>
          <p:cNvPicPr>
            <a:picLocks noChangeAspect="1"/>
          </p:cNvPicPr>
          <p:nvPr/>
        </p:nvPicPr>
        <p:blipFill>
          <a:blip r:embed="rId10"/>
          <a:stretch>
            <a:fillRect/>
          </a:stretch>
        </p:blipFill>
        <p:spPr>
          <a:xfrm>
            <a:off x="9477527" y="4238244"/>
            <a:ext cx="283464" cy="283464"/>
          </a:xfrm>
          <a:prstGeom prst="rect">
            <a:avLst/>
          </a:prstGeom>
        </p:spPr>
      </p:pic>
      <p:sp>
        <p:nvSpPr>
          <p:cNvPr id="41" name="Text 31"/>
          <p:cNvSpPr txBox="1"/>
          <p:nvPr/>
        </p:nvSpPr>
        <p:spPr>
          <a:xfrm>
            <a:off x="10049027"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Batas laju</a:t>
            </a:r>
            <a:endParaRPr lang="en-US" sz="1700" dirty="0"/>
          </a:p>
        </p:txBody>
      </p:sp>
      <p:sp>
        <p:nvSpPr>
          <p:cNvPr id="42" name="Text 32"/>
          <p:cNvSpPr txBox="1"/>
          <p:nvPr/>
        </p:nvSpPr>
        <p:spPr>
          <a:xfrm>
            <a:off x="9335795" y="4828032"/>
            <a:ext cx="2032940" cy="1097280"/>
          </a:xfrm>
          <a:prstGeom prst="rect">
            <a:avLst/>
          </a:prstGeom>
          <a:noFill/>
          <a:ln/>
        </p:spPr>
        <p:txBody>
          <a:bodyPr wrap="square" lIns="0" tIns="0" rIns="0" bIns="0" rtlCol="0" anchor="t"/>
          <a:lstStyle/>
          <a:p>
            <a:pPr marL="0" indent="0">
              <a:buNone/>
            </a:pPr>
            <a:r>
              <a:rPr lang="en-US" sz="1300" dirty="0">
                <a:solidFill>
                  <a:schemeClr val="tx1"/>
                </a:solidFill>
              </a:rPr>
              <a:t>10 verifikasi/menit per akun; IP dibaca anti-palsu.</a:t>
            </a:r>
            <a:endParaRPr lang="en-US" sz="1300" dirty="0"/>
          </a:p>
        </p:txBody>
      </p:sp>
      <p:sp>
        <p:nvSpPr>
          <p:cNvPr id="43"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Jendela absen membatasi kapan check in dan check out sah</a:t>
            </a:r>
            <a:endParaRPr lang="en-US" sz="2800" dirty="0"/>
          </a:p>
        </p:txBody>
      </p:sp>
      <p:sp>
        <p:nvSpPr>
          <p:cNvPr id="3" name="Shape 1"/>
          <p:cNvSpPr/>
          <p:nvPr/>
        </p:nvSpPr>
        <p:spPr>
          <a:xfrm>
            <a:off x="548640" y="1325880"/>
            <a:ext cx="3527450" cy="1143000"/>
          </a:xfrm>
          <a:prstGeom prst="roundRect">
            <a:avLst>
              <a:gd name="adj" fmla="val 9600"/>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554480"/>
            <a:ext cx="182880" cy="182880"/>
          </a:xfrm>
          <a:prstGeom prst="ellipse">
            <a:avLst/>
          </a:prstGeom>
          <a:solidFill>
            <a:srgbClr val="5E6B7D"/>
          </a:solidFill>
          <a:ln/>
        </p:spPr>
      </p:sp>
      <p:sp>
        <p:nvSpPr>
          <p:cNvPr id="5" name="Text 3"/>
          <p:cNvSpPr txBox="1"/>
          <p:nvPr/>
        </p:nvSpPr>
        <p:spPr>
          <a:xfrm>
            <a:off x="1115568" y="1463040"/>
            <a:ext cx="2704490" cy="365760"/>
          </a:xfrm>
          <a:prstGeom prst="rect">
            <a:avLst/>
          </a:prstGeom>
          <a:noFill/>
          <a:ln/>
        </p:spPr>
        <p:txBody>
          <a:bodyPr wrap="square" lIns="0" tIns="0" rIns="0" bIns="0" rtlCol="0" anchor="t"/>
          <a:lstStyle/>
          <a:p>
            <a:pPr marL="0" indent="0">
              <a:buNone/>
            </a:pPr>
            <a:r>
              <a:rPr lang="en-US" sz="1500" b="1" dirty="0">
                <a:solidFill>
                  <a:schemeClr val="tx2"/>
                </a:solidFill>
              </a:rPr>
              <a:t>Belum buka / sudah tutup</a:t>
            </a:r>
            <a:endParaRPr lang="en-US" sz="1500" dirty="0"/>
          </a:p>
        </p:txBody>
      </p:sp>
      <p:sp>
        <p:nvSpPr>
          <p:cNvPr id="6" name="Text 4"/>
          <p:cNvSpPr txBox="1"/>
          <p:nvPr/>
        </p:nvSpPr>
        <p:spPr>
          <a:xfrm>
            <a:off x="822960" y="1874520"/>
            <a:ext cx="3024530" cy="548640"/>
          </a:xfrm>
          <a:prstGeom prst="rect">
            <a:avLst/>
          </a:prstGeom>
          <a:noFill/>
          <a:ln/>
        </p:spPr>
        <p:txBody>
          <a:bodyPr wrap="square" lIns="0" tIns="0" rIns="0" bIns="0" rtlCol="0" anchor="t"/>
          <a:lstStyle/>
          <a:p>
            <a:pPr marL="0" indent="0">
              <a:buNone/>
            </a:pPr>
            <a:r>
              <a:rPr lang="en-US" sz="1300" dirty="0">
                <a:solidFill>
                  <a:schemeClr val="tx1"/>
                </a:solidFill>
              </a:rPr>
              <a:t>Server menolak dengan jam buka atau tutup jendela.</a:t>
            </a:r>
            <a:endParaRPr lang="en-US" sz="1300" dirty="0"/>
          </a:p>
        </p:txBody>
      </p:sp>
      <p:sp>
        <p:nvSpPr>
          <p:cNvPr id="7" name="Shape 5"/>
          <p:cNvSpPr/>
          <p:nvPr/>
        </p:nvSpPr>
        <p:spPr>
          <a:xfrm>
            <a:off x="4332122" y="1325880"/>
            <a:ext cx="3527450" cy="1143000"/>
          </a:xfrm>
          <a:prstGeom prst="roundRect">
            <a:avLst>
              <a:gd name="adj" fmla="val 9600"/>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8" name="Shape 6"/>
          <p:cNvSpPr/>
          <p:nvPr/>
        </p:nvSpPr>
        <p:spPr>
          <a:xfrm>
            <a:off x="4606442" y="1554480"/>
            <a:ext cx="182880" cy="182880"/>
          </a:xfrm>
          <a:prstGeom prst="ellipse">
            <a:avLst/>
          </a:prstGeom>
          <a:solidFill>
            <a:srgbClr val="F2555A"/>
          </a:solidFill>
          <a:ln/>
        </p:spPr>
      </p:sp>
      <p:sp>
        <p:nvSpPr>
          <p:cNvPr id="9" name="Text 7"/>
          <p:cNvSpPr txBox="1"/>
          <p:nvPr/>
        </p:nvSpPr>
        <p:spPr>
          <a:xfrm>
            <a:off x="4899050" y="1463040"/>
            <a:ext cx="2704490" cy="365760"/>
          </a:xfrm>
          <a:prstGeom prst="rect">
            <a:avLst/>
          </a:prstGeom>
          <a:noFill/>
          <a:ln/>
        </p:spPr>
        <p:txBody>
          <a:bodyPr wrap="square" lIns="0" tIns="0" rIns="0" bIns="0" rtlCol="0" anchor="t"/>
          <a:lstStyle/>
          <a:p>
            <a:pPr marL="0" indent="0">
              <a:buNone/>
            </a:pPr>
            <a:r>
              <a:rPr lang="en-US" sz="1500" b="1" dirty="0">
                <a:solidFill>
                  <a:schemeClr val="tx2"/>
                </a:solidFill>
              </a:rPr>
              <a:t>Lupa check out</a:t>
            </a:r>
            <a:endParaRPr lang="en-US" sz="1500" dirty="0"/>
          </a:p>
        </p:txBody>
      </p:sp>
      <p:sp>
        <p:nvSpPr>
          <p:cNvPr id="10" name="Text 8"/>
          <p:cNvSpPr txBox="1"/>
          <p:nvPr/>
        </p:nvSpPr>
        <p:spPr>
          <a:xfrm>
            <a:off x="4606442" y="1874520"/>
            <a:ext cx="3024530" cy="548640"/>
          </a:xfrm>
          <a:prstGeom prst="rect">
            <a:avLst/>
          </a:prstGeom>
          <a:noFill/>
          <a:ln/>
        </p:spPr>
        <p:txBody>
          <a:bodyPr wrap="square" lIns="0" tIns="0" rIns="0" bIns="0" rtlCol="0" anchor="t"/>
          <a:lstStyle/>
          <a:p>
            <a:pPr marL="0" indent="0">
              <a:buNone/>
            </a:pPr>
            <a:r>
              <a:rPr lang="en-US" sz="1300" dirty="0">
                <a:solidFill>
                  <a:schemeClr val="tx1"/>
                </a:solidFill>
              </a:rPr>
              <a:t>Hari itu berstatus tanpa_pulang; tidak ada check out otomatis.</a:t>
            </a:r>
            <a:endParaRPr lang="en-US" sz="1300" dirty="0"/>
          </a:p>
        </p:txBody>
      </p:sp>
      <p:sp>
        <p:nvSpPr>
          <p:cNvPr id="11" name="Shape 9"/>
          <p:cNvSpPr/>
          <p:nvPr/>
        </p:nvSpPr>
        <p:spPr>
          <a:xfrm>
            <a:off x="8115605" y="1325880"/>
            <a:ext cx="3527450" cy="1143000"/>
          </a:xfrm>
          <a:prstGeom prst="roundRect">
            <a:avLst>
              <a:gd name="adj" fmla="val 9600"/>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2" name="Shape 10"/>
          <p:cNvSpPr/>
          <p:nvPr/>
        </p:nvSpPr>
        <p:spPr>
          <a:xfrm>
            <a:off x="8389925" y="1554480"/>
            <a:ext cx="182880" cy="182880"/>
          </a:xfrm>
          <a:prstGeom prst="ellipse">
            <a:avLst/>
          </a:prstGeom>
          <a:solidFill>
            <a:srgbClr val="00434D"/>
          </a:solidFill>
          <a:ln/>
        </p:spPr>
      </p:sp>
      <p:sp>
        <p:nvSpPr>
          <p:cNvPr id="13" name="Text 11"/>
          <p:cNvSpPr txBox="1"/>
          <p:nvPr/>
        </p:nvSpPr>
        <p:spPr>
          <a:xfrm>
            <a:off x="8682533" y="1463040"/>
            <a:ext cx="2704490" cy="365760"/>
          </a:xfrm>
          <a:prstGeom prst="rect">
            <a:avLst/>
          </a:prstGeom>
          <a:noFill/>
          <a:ln/>
        </p:spPr>
        <p:txBody>
          <a:bodyPr wrap="square" lIns="0" tIns="0" rIns="0" bIns="0" rtlCol="0" anchor="t"/>
          <a:lstStyle/>
          <a:p>
            <a:pPr marL="0" indent="0">
              <a:buNone/>
            </a:pPr>
            <a:r>
              <a:rPr lang="en-US" sz="1500" b="1" dirty="0">
                <a:solidFill>
                  <a:schemeClr val="tx2"/>
                </a:solidFill>
              </a:rPr>
              <a:t>Shift malam</a:t>
            </a:r>
            <a:endParaRPr lang="en-US" sz="1500" dirty="0"/>
          </a:p>
        </p:txBody>
      </p:sp>
      <p:sp>
        <p:nvSpPr>
          <p:cNvPr id="14" name="Text 12"/>
          <p:cNvSpPr txBox="1"/>
          <p:nvPr/>
        </p:nvSpPr>
        <p:spPr>
          <a:xfrm>
            <a:off x="8389925" y="1874520"/>
            <a:ext cx="3024530" cy="548640"/>
          </a:xfrm>
          <a:prstGeom prst="rect">
            <a:avLst/>
          </a:prstGeom>
          <a:noFill/>
          <a:ln/>
        </p:spPr>
        <p:txBody>
          <a:bodyPr wrap="square" lIns="0" tIns="0" rIns="0" bIns="0" rtlCol="0" anchor="t"/>
          <a:lstStyle/>
          <a:p>
            <a:pPr marL="0" indent="0">
              <a:buNone/>
            </a:pPr>
            <a:r>
              <a:rPr lang="en-US" sz="1300" dirty="0">
                <a:solidFill>
                  <a:schemeClr val="tx1"/>
                </a:solidFill>
              </a:rPr>
              <a:t>22:00–07:00 dicatat ke tanggal mulainya.</a:t>
            </a:r>
            <a:endParaRPr lang="en-US" sz="1300" dirty="0"/>
          </a:p>
        </p:txBody>
      </p:sp>
      <p:sp>
        <p:nvSpPr>
          <p:cNvPr id="15" name="Shape 13"/>
          <p:cNvSpPr/>
          <p:nvPr/>
        </p:nvSpPr>
        <p:spPr>
          <a:xfrm>
            <a:off x="548640" y="2697480"/>
            <a:ext cx="11094415" cy="2514600"/>
          </a:xfrm>
          <a:prstGeom prst="roundRect">
            <a:avLst>
              <a:gd name="adj" fmla="val 436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6" name="Shape 14"/>
          <p:cNvSpPr/>
          <p:nvPr/>
        </p:nvSpPr>
        <p:spPr>
          <a:xfrm>
            <a:off x="3213398" y="2926080"/>
            <a:ext cx="5764900" cy="502920"/>
          </a:xfrm>
          <a:prstGeom prst="roundRect">
            <a:avLst>
              <a:gd name="adj" fmla="val 18182"/>
            </a:avLst>
          </a:prstGeom>
          <a:solidFill>
            <a:srgbClr val="00434D"/>
          </a:solidFill>
          <a:ln/>
        </p:spPr>
      </p:sp>
      <p:sp>
        <p:nvSpPr>
          <p:cNvPr id="17" name="Text 15"/>
          <p:cNvSpPr txBox="1"/>
          <p:nvPr/>
        </p:nvSpPr>
        <p:spPr>
          <a:xfrm>
            <a:off x="3213398" y="2926080"/>
            <a:ext cx="5764900" cy="502920"/>
          </a:xfrm>
          <a:prstGeom prst="rect">
            <a:avLst/>
          </a:prstGeom>
          <a:noFill/>
          <a:ln/>
        </p:spPr>
        <p:txBody>
          <a:bodyPr wrap="square" lIns="0" tIns="0" rIns="0" bIns="0" rtlCol="0" anchor="ctr"/>
          <a:lstStyle/>
          <a:p>
            <a:pPr marL="0" indent="0" algn="ctr">
              <a:buNone/>
            </a:pPr>
            <a:r>
              <a:rPr lang="en-US" sz="1400" b="1" dirty="0">
                <a:solidFill>
                  <a:schemeClr val="bg1"/>
                </a:solidFill>
              </a:rPr>
              <a:t>Shift Pagi 07:00 – 15:00</a:t>
            </a:r>
            <a:endParaRPr lang="en-US" sz="1400" dirty="0"/>
          </a:p>
        </p:txBody>
      </p:sp>
      <p:sp>
        <p:nvSpPr>
          <p:cNvPr id="18" name="Shape 16"/>
          <p:cNvSpPr/>
          <p:nvPr/>
        </p:nvSpPr>
        <p:spPr>
          <a:xfrm>
            <a:off x="1772173" y="3611880"/>
            <a:ext cx="2161838" cy="502920"/>
          </a:xfrm>
          <a:prstGeom prst="roundRect">
            <a:avLst>
              <a:gd name="adj" fmla="val 18182"/>
            </a:avLst>
          </a:prstGeom>
          <a:solidFill>
            <a:srgbClr val="2E9E6B"/>
          </a:solidFill>
          <a:ln/>
        </p:spPr>
      </p:sp>
      <p:sp>
        <p:nvSpPr>
          <p:cNvPr id="19" name="Text 17"/>
          <p:cNvSpPr txBox="1"/>
          <p:nvPr/>
        </p:nvSpPr>
        <p:spPr>
          <a:xfrm>
            <a:off x="1772173" y="3611880"/>
            <a:ext cx="2161838" cy="502920"/>
          </a:xfrm>
          <a:prstGeom prst="rect">
            <a:avLst/>
          </a:prstGeom>
          <a:noFill/>
          <a:ln/>
        </p:spPr>
        <p:txBody>
          <a:bodyPr wrap="square" lIns="0" tIns="0" rIns="0" bIns="0" rtlCol="0" anchor="ctr"/>
          <a:lstStyle/>
          <a:p>
            <a:pPr marL="0" indent="0" algn="ctr">
              <a:buNone/>
            </a:pPr>
            <a:r>
              <a:rPr lang="en-US" sz="1400" b="1" dirty="0">
                <a:solidFill>
                  <a:schemeClr val="bg1"/>
                </a:solidFill>
              </a:rPr>
              <a:t>Check in 05:00 – 08:00</a:t>
            </a:r>
            <a:endParaRPr lang="en-US" sz="1400" dirty="0"/>
          </a:p>
        </p:txBody>
      </p:sp>
      <p:sp>
        <p:nvSpPr>
          <p:cNvPr id="20" name="Shape 18"/>
          <p:cNvSpPr/>
          <p:nvPr/>
        </p:nvSpPr>
        <p:spPr>
          <a:xfrm>
            <a:off x="8257685" y="3611880"/>
            <a:ext cx="2161838" cy="502920"/>
          </a:xfrm>
          <a:prstGeom prst="roundRect">
            <a:avLst>
              <a:gd name="adj" fmla="val 18182"/>
            </a:avLst>
          </a:prstGeom>
          <a:solidFill>
            <a:srgbClr val="E9A23B"/>
          </a:solidFill>
          <a:ln/>
        </p:spPr>
      </p:sp>
      <p:sp>
        <p:nvSpPr>
          <p:cNvPr id="21" name="Text 19"/>
          <p:cNvSpPr txBox="1"/>
          <p:nvPr/>
        </p:nvSpPr>
        <p:spPr>
          <a:xfrm>
            <a:off x="8257685" y="3611880"/>
            <a:ext cx="2161838" cy="502920"/>
          </a:xfrm>
          <a:prstGeom prst="rect">
            <a:avLst/>
          </a:prstGeom>
          <a:noFill/>
          <a:ln/>
        </p:spPr>
        <p:txBody>
          <a:bodyPr wrap="square" lIns="0" tIns="0" rIns="0" bIns="0" rtlCol="0" anchor="ctr"/>
          <a:lstStyle/>
          <a:p>
            <a:pPr marL="0" indent="0" algn="ctr">
              <a:buNone/>
            </a:pPr>
            <a:r>
              <a:rPr lang="en-US" sz="1400" b="1" dirty="0">
                <a:solidFill>
                  <a:schemeClr val="tx1"/>
                </a:solidFill>
              </a:rPr>
              <a:t>Check out 14:00 – 17:00</a:t>
            </a:r>
            <a:endParaRPr lang="en-US" sz="1400" dirty="0"/>
          </a:p>
        </p:txBody>
      </p:sp>
      <p:sp>
        <p:nvSpPr>
          <p:cNvPr id="22" name="Shape 20"/>
          <p:cNvSpPr/>
          <p:nvPr/>
        </p:nvSpPr>
        <p:spPr>
          <a:xfrm>
            <a:off x="1051560" y="4663440"/>
            <a:ext cx="10088575" cy="914"/>
          </a:xfrm>
          <a:prstGeom prst="line">
            <a:avLst/>
          </a:prstGeom>
          <a:noFill/>
          <a:ln w="15875">
            <a:solidFill>
              <a:srgbClr val="5E6B7D"/>
            </a:solidFill>
            <a:prstDash val="solid"/>
          </a:ln>
        </p:spPr>
      </p:sp>
      <p:sp>
        <p:nvSpPr>
          <p:cNvPr id="23" name="Shape 21"/>
          <p:cNvSpPr/>
          <p:nvPr/>
        </p:nvSpPr>
        <p:spPr>
          <a:xfrm>
            <a:off x="1051560" y="4590288"/>
            <a:ext cx="914" cy="146304"/>
          </a:xfrm>
          <a:prstGeom prst="line">
            <a:avLst/>
          </a:prstGeom>
          <a:noFill/>
          <a:ln w="15875">
            <a:solidFill>
              <a:srgbClr val="5E6B7D"/>
            </a:solidFill>
            <a:prstDash val="solid"/>
          </a:ln>
        </p:spPr>
      </p:sp>
      <p:sp>
        <p:nvSpPr>
          <p:cNvPr id="24" name="Text 22"/>
          <p:cNvSpPr txBox="1"/>
          <p:nvPr/>
        </p:nvSpPr>
        <p:spPr>
          <a:xfrm>
            <a:off x="685800"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04:00</a:t>
            </a:r>
            <a:endParaRPr lang="en-US" sz="1100" dirty="0"/>
          </a:p>
        </p:txBody>
      </p:sp>
      <p:sp>
        <p:nvSpPr>
          <p:cNvPr id="25" name="Shape 23"/>
          <p:cNvSpPr/>
          <p:nvPr/>
        </p:nvSpPr>
        <p:spPr>
          <a:xfrm>
            <a:off x="2492785" y="4590288"/>
            <a:ext cx="914" cy="146304"/>
          </a:xfrm>
          <a:prstGeom prst="line">
            <a:avLst/>
          </a:prstGeom>
          <a:noFill/>
          <a:ln w="15875">
            <a:solidFill>
              <a:srgbClr val="5E6B7D"/>
            </a:solidFill>
            <a:prstDash val="solid"/>
          </a:ln>
        </p:spPr>
      </p:sp>
      <p:sp>
        <p:nvSpPr>
          <p:cNvPr id="26" name="Text 24"/>
          <p:cNvSpPr txBox="1"/>
          <p:nvPr/>
        </p:nvSpPr>
        <p:spPr>
          <a:xfrm>
            <a:off x="2127025"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06:00</a:t>
            </a:r>
            <a:endParaRPr lang="en-US" sz="1100" dirty="0"/>
          </a:p>
        </p:txBody>
      </p:sp>
      <p:sp>
        <p:nvSpPr>
          <p:cNvPr id="27" name="Shape 25"/>
          <p:cNvSpPr/>
          <p:nvPr/>
        </p:nvSpPr>
        <p:spPr>
          <a:xfrm>
            <a:off x="3934010" y="4590288"/>
            <a:ext cx="914" cy="146304"/>
          </a:xfrm>
          <a:prstGeom prst="line">
            <a:avLst/>
          </a:prstGeom>
          <a:noFill/>
          <a:ln w="15875">
            <a:solidFill>
              <a:srgbClr val="5E6B7D"/>
            </a:solidFill>
            <a:prstDash val="solid"/>
          </a:ln>
        </p:spPr>
      </p:sp>
      <p:sp>
        <p:nvSpPr>
          <p:cNvPr id="28" name="Text 26"/>
          <p:cNvSpPr txBox="1"/>
          <p:nvPr/>
        </p:nvSpPr>
        <p:spPr>
          <a:xfrm>
            <a:off x="3568250"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08:00</a:t>
            </a:r>
            <a:endParaRPr lang="en-US" sz="1100" dirty="0"/>
          </a:p>
        </p:txBody>
      </p:sp>
      <p:sp>
        <p:nvSpPr>
          <p:cNvPr id="29" name="Shape 27"/>
          <p:cNvSpPr/>
          <p:nvPr/>
        </p:nvSpPr>
        <p:spPr>
          <a:xfrm>
            <a:off x="5375235" y="4590288"/>
            <a:ext cx="914" cy="146304"/>
          </a:xfrm>
          <a:prstGeom prst="line">
            <a:avLst/>
          </a:prstGeom>
          <a:noFill/>
          <a:ln w="15875">
            <a:solidFill>
              <a:srgbClr val="5E6B7D"/>
            </a:solidFill>
            <a:prstDash val="solid"/>
          </a:ln>
        </p:spPr>
      </p:sp>
      <p:sp>
        <p:nvSpPr>
          <p:cNvPr id="30" name="Text 28"/>
          <p:cNvSpPr txBox="1"/>
          <p:nvPr/>
        </p:nvSpPr>
        <p:spPr>
          <a:xfrm>
            <a:off x="5009475"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10:00</a:t>
            </a:r>
            <a:endParaRPr lang="en-US" sz="1100" dirty="0"/>
          </a:p>
        </p:txBody>
      </p:sp>
      <p:sp>
        <p:nvSpPr>
          <p:cNvPr id="31" name="Shape 29"/>
          <p:cNvSpPr/>
          <p:nvPr/>
        </p:nvSpPr>
        <p:spPr>
          <a:xfrm>
            <a:off x="6816460" y="4590288"/>
            <a:ext cx="914" cy="146304"/>
          </a:xfrm>
          <a:prstGeom prst="line">
            <a:avLst/>
          </a:prstGeom>
          <a:noFill/>
          <a:ln w="15875">
            <a:solidFill>
              <a:srgbClr val="5E6B7D"/>
            </a:solidFill>
            <a:prstDash val="solid"/>
          </a:ln>
        </p:spPr>
      </p:sp>
      <p:sp>
        <p:nvSpPr>
          <p:cNvPr id="32" name="Text 30"/>
          <p:cNvSpPr txBox="1"/>
          <p:nvPr/>
        </p:nvSpPr>
        <p:spPr>
          <a:xfrm>
            <a:off x="6450700"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12:00</a:t>
            </a:r>
            <a:endParaRPr lang="en-US" sz="1100" dirty="0"/>
          </a:p>
        </p:txBody>
      </p:sp>
      <p:sp>
        <p:nvSpPr>
          <p:cNvPr id="33" name="Shape 31"/>
          <p:cNvSpPr/>
          <p:nvPr/>
        </p:nvSpPr>
        <p:spPr>
          <a:xfrm>
            <a:off x="8257685" y="4590288"/>
            <a:ext cx="914" cy="146304"/>
          </a:xfrm>
          <a:prstGeom prst="line">
            <a:avLst/>
          </a:prstGeom>
          <a:noFill/>
          <a:ln w="15875">
            <a:solidFill>
              <a:srgbClr val="5E6B7D"/>
            </a:solidFill>
            <a:prstDash val="solid"/>
          </a:ln>
        </p:spPr>
      </p:sp>
      <p:sp>
        <p:nvSpPr>
          <p:cNvPr id="34" name="Text 32"/>
          <p:cNvSpPr txBox="1"/>
          <p:nvPr/>
        </p:nvSpPr>
        <p:spPr>
          <a:xfrm>
            <a:off x="7891925"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14:00</a:t>
            </a:r>
            <a:endParaRPr lang="en-US" sz="1100" dirty="0"/>
          </a:p>
        </p:txBody>
      </p:sp>
      <p:sp>
        <p:nvSpPr>
          <p:cNvPr id="35" name="Shape 33"/>
          <p:cNvSpPr/>
          <p:nvPr/>
        </p:nvSpPr>
        <p:spPr>
          <a:xfrm>
            <a:off x="9698910" y="4590288"/>
            <a:ext cx="914" cy="146304"/>
          </a:xfrm>
          <a:prstGeom prst="line">
            <a:avLst/>
          </a:prstGeom>
          <a:noFill/>
          <a:ln w="15875">
            <a:solidFill>
              <a:srgbClr val="5E6B7D"/>
            </a:solidFill>
            <a:prstDash val="solid"/>
          </a:ln>
        </p:spPr>
      </p:sp>
      <p:sp>
        <p:nvSpPr>
          <p:cNvPr id="36" name="Text 34"/>
          <p:cNvSpPr txBox="1"/>
          <p:nvPr/>
        </p:nvSpPr>
        <p:spPr>
          <a:xfrm>
            <a:off x="9333150"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16:00</a:t>
            </a:r>
            <a:endParaRPr lang="en-US" sz="1100" dirty="0"/>
          </a:p>
        </p:txBody>
      </p:sp>
      <p:sp>
        <p:nvSpPr>
          <p:cNvPr id="37" name="Shape 35"/>
          <p:cNvSpPr/>
          <p:nvPr/>
        </p:nvSpPr>
        <p:spPr>
          <a:xfrm>
            <a:off x="11140135" y="4590288"/>
            <a:ext cx="914" cy="146304"/>
          </a:xfrm>
          <a:prstGeom prst="line">
            <a:avLst/>
          </a:prstGeom>
          <a:noFill/>
          <a:ln w="15875">
            <a:solidFill>
              <a:srgbClr val="5E6B7D"/>
            </a:solidFill>
            <a:prstDash val="solid"/>
          </a:ln>
        </p:spPr>
      </p:sp>
      <p:sp>
        <p:nvSpPr>
          <p:cNvPr id="38" name="Text 36"/>
          <p:cNvSpPr txBox="1"/>
          <p:nvPr/>
        </p:nvSpPr>
        <p:spPr>
          <a:xfrm>
            <a:off x="10774375" y="4800600"/>
            <a:ext cx="731520" cy="274320"/>
          </a:xfrm>
          <a:prstGeom prst="rect">
            <a:avLst/>
          </a:prstGeom>
          <a:noFill/>
          <a:ln/>
        </p:spPr>
        <p:txBody>
          <a:bodyPr wrap="square" lIns="0" tIns="0" rIns="0" bIns="0" rtlCol="0" anchor="t"/>
          <a:lstStyle/>
          <a:p>
            <a:pPr marL="0" indent="0" algn="ctr">
              <a:buNone/>
            </a:pPr>
            <a:r>
              <a:rPr lang="en-US" sz="1100" dirty="0">
                <a:solidFill>
                  <a:schemeClr val="accent5"/>
                </a:solidFill>
              </a:rPr>
              <a:t>18:00</a:t>
            </a:r>
            <a:endParaRPr lang="en-US" sz="1100" dirty="0"/>
          </a:p>
        </p:txBody>
      </p:sp>
      <p:sp>
        <p:nvSpPr>
          <p:cNvPr id="39" name="Text 37"/>
          <p:cNvSpPr txBox="1"/>
          <p:nvPr/>
        </p:nvSpPr>
        <p:spPr>
          <a:xfrm>
            <a:off x="1040653" y="4206240"/>
            <a:ext cx="1463040" cy="274320"/>
          </a:xfrm>
          <a:prstGeom prst="rect">
            <a:avLst/>
          </a:prstGeom>
          <a:noFill/>
          <a:ln/>
        </p:spPr>
        <p:txBody>
          <a:bodyPr wrap="square" lIns="0" tIns="0" rIns="0" bIns="0" rtlCol="0" anchor="t"/>
          <a:lstStyle/>
          <a:p>
            <a:pPr marL="0" indent="0" algn="ctr">
              <a:buNone/>
            </a:pPr>
            <a:r>
              <a:rPr lang="en-US" sz="1050" dirty="0">
                <a:solidFill>
                  <a:schemeClr val="accent5"/>
                </a:solidFill>
              </a:rPr>
              <a:t>mulai − 120 mnt</a:t>
            </a:r>
            <a:endParaRPr lang="en-US" sz="1050" dirty="0"/>
          </a:p>
        </p:txBody>
      </p:sp>
      <p:sp>
        <p:nvSpPr>
          <p:cNvPr id="40" name="Text 38"/>
          <p:cNvSpPr txBox="1"/>
          <p:nvPr/>
        </p:nvSpPr>
        <p:spPr>
          <a:xfrm>
            <a:off x="3202490" y="4206240"/>
            <a:ext cx="1463040" cy="274320"/>
          </a:xfrm>
          <a:prstGeom prst="rect">
            <a:avLst/>
          </a:prstGeom>
          <a:noFill/>
          <a:ln/>
        </p:spPr>
        <p:txBody>
          <a:bodyPr wrap="square" lIns="0" tIns="0" rIns="0" bIns="0" rtlCol="0" anchor="t"/>
          <a:lstStyle/>
          <a:p>
            <a:pPr marL="0" indent="0" algn="ctr">
              <a:buNone/>
            </a:pPr>
            <a:r>
              <a:rPr lang="en-US" sz="1050" dirty="0">
                <a:solidFill>
                  <a:schemeClr val="accent5"/>
                </a:solidFill>
              </a:rPr>
              <a:t>mulai + 60 mnt</a:t>
            </a:r>
            <a:endParaRPr lang="en-US" sz="1050" dirty="0"/>
          </a:p>
        </p:txBody>
      </p:sp>
      <p:sp>
        <p:nvSpPr>
          <p:cNvPr id="41" name="Text 39"/>
          <p:cNvSpPr txBox="1"/>
          <p:nvPr/>
        </p:nvSpPr>
        <p:spPr>
          <a:xfrm>
            <a:off x="7526165" y="4206240"/>
            <a:ext cx="1463040" cy="274320"/>
          </a:xfrm>
          <a:prstGeom prst="rect">
            <a:avLst/>
          </a:prstGeom>
          <a:noFill/>
          <a:ln/>
        </p:spPr>
        <p:txBody>
          <a:bodyPr wrap="square" lIns="0" tIns="0" rIns="0" bIns="0" rtlCol="0" anchor="t"/>
          <a:lstStyle/>
          <a:p>
            <a:pPr marL="0" indent="0" algn="ctr">
              <a:buNone/>
            </a:pPr>
            <a:r>
              <a:rPr lang="en-US" sz="1050" dirty="0">
                <a:solidFill>
                  <a:schemeClr val="accent5"/>
                </a:solidFill>
              </a:rPr>
              <a:t>selesai − 60 mnt</a:t>
            </a:r>
            <a:endParaRPr lang="en-US" sz="1050" dirty="0"/>
          </a:p>
        </p:txBody>
      </p:sp>
      <p:sp>
        <p:nvSpPr>
          <p:cNvPr id="42" name="Text 40"/>
          <p:cNvSpPr txBox="1"/>
          <p:nvPr/>
        </p:nvSpPr>
        <p:spPr>
          <a:xfrm>
            <a:off x="9688003" y="4206240"/>
            <a:ext cx="1463040" cy="274320"/>
          </a:xfrm>
          <a:prstGeom prst="rect">
            <a:avLst/>
          </a:prstGeom>
          <a:noFill/>
          <a:ln/>
        </p:spPr>
        <p:txBody>
          <a:bodyPr wrap="square" lIns="0" tIns="0" rIns="0" bIns="0" rtlCol="0" anchor="t"/>
          <a:lstStyle/>
          <a:p>
            <a:pPr marL="0" indent="0" algn="ctr">
              <a:buNone/>
            </a:pPr>
            <a:r>
              <a:rPr lang="en-US" sz="1050" dirty="0">
                <a:solidFill>
                  <a:schemeClr val="accent5"/>
                </a:solidFill>
              </a:rPr>
              <a:t>selesai + 120 mnt</a:t>
            </a:r>
            <a:endParaRPr lang="en-US" sz="1050" dirty="0"/>
          </a:p>
        </p:txBody>
      </p:sp>
      <p:sp>
        <p:nvSpPr>
          <p:cNvPr id="43" name="Text 41"/>
          <p:cNvSpPr txBox="1"/>
          <p:nvPr/>
        </p:nvSpPr>
        <p:spPr>
          <a:xfrm>
            <a:off x="548640" y="5440680"/>
            <a:ext cx="11094415" cy="457200"/>
          </a:xfrm>
          <a:prstGeom prst="rect">
            <a:avLst/>
          </a:prstGeom>
          <a:noFill/>
          <a:ln/>
        </p:spPr>
        <p:txBody>
          <a:bodyPr wrap="square" lIns="0" tIns="0" rIns="0" bIns="0" rtlCol="0" anchor="t"/>
          <a:lstStyle/>
          <a:p>
            <a:pPr marL="0" indent="0">
              <a:buNone/>
            </a:pPr>
            <a:r>
              <a:rPr lang="en-US" sz="1400" dirty="0">
                <a:solidFill>
                  <a:schemeClr val="tx1"/>
                </a:solidFill>
              </a:rPr>
              <a:t>Warna jam: masuk lebih awal hijau, tepat waktu netral, terlambat kuning → merah (penuh di 60 menit); pulang sebaliknya.</a:t>
            </a:r>
            <a:endParaRPr lang="en-US" sz="1400" dirty="0"/>
          </a:p>
        </p:txBody>
      </p:sp>
      <p:sp>
        <p:nvSpPr>
          <p:cNvPr id="44"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Sepuluh status harian dari jadwal, absen, dan pengajuan</a:t>
            </a:r>
            <a:endParaRPr lang="en-US" sz="2800" dirty="0"/>
          </a:p>
        </p:txBody>
      </p:sp>
      <p:sp>
        <p:nvSpPr>
          <p:cNvPr id="3" name="Shape 1"/>
          <p:cNvSpPr/>
          <p:nvPr/>
        </p:nvSpPr>
        <p:spPr>
          <a:xfrm>
            <a:off x="548640" y="1371600"/>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04672" y="1700784"/>
            <a:ext cx="219456" cy="219456"/>
          </a:xfrm>
          <a:prstGeom prst="ellipse">
            <a:avLst/>
          </a:prstGeom>
          <a:solidFill>
            <a:srgbClr val="2E9E6B"/>
          </a:solidFill>
          <a:ln/>
        </p:spPr>
      </p:sp>
      <p:sp>
        <p:nvSpPr>
          <p:cNvPr id="5" name="Text 3"/>
          <p:cNvSpPr txBox="1"/>
          <p:nvPr/>
        </p:nvSpPr>
        <p:spPr>
          <a:xfrm>
            <a:off x="1143000" y="1600200"/>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Hadir</a:t>
            </a:r>
            <a:endParaRPr lang="en-US" sz="1700" dirty="0"/>
          </a:p>
        </p:txBody>
      </p:sp>
      <p:sp>
        <p:nvSpPr>
          <p:cNvPr id="6" name="Text 4"/>
          <p:cNvSpPr txBox="1"/>
          <p:nvPr/>
        </p:nvSpPr>
        <p:spPr>
          <a:xfrm>
            <a:off x="804672" y="2194560"/>
            <a:ext cx="1556857" cy="685800"/>
          </a:xfrm>
          <a:prstGeom prst="rect">
            <a:avLst/>
          </a:prstGeom>
          <a:noFill/>
          <a:ln/>
        </p:spPr>
        <p:txBody>
          <a:bodyPr wrap="square" lIns="0" tIns="0" rIns="0" bIns="0" rtlCol="0" anchor="t"/>
          <a:lstStyle/>
          <a:p>
            <a:pPr marL="0" indent="0">
              <a:buNone/>
            </a:pPr>
            <a:r>
              <a:rPr lang="en-US" sz="1300" dirty="0">
                <a:solidFill>
                  <a:schemeClr val="accent5"/>
                </a:solidFill>
              </a:rPr>
              <a:t>check in tepat waktu</a:t>
            </a:r>
            <a:endParaRPr lang="en-US" sz="1300" dirty="0"/>
          </a:p>
        </p:txBody>
      </p:sp>
      <p:sp>
        <p:nvSpPr>
          <p:cNvPr id="7" name="Shape 5"/>
          <p:cNvSpPr/>
          <p:nvPr/>
        </p:nvSpPr>
        <p:spPr>
          <a:xfrm>
            <a:off x="2818729" y="1371600"/>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8" name="Shape 6"/>
          <p:cNvSpPr/>
          <p:nvPr/>
        </p:nvSpPr>
        <p:spPr>
          <a:xfrm>
            <a:off x="3074761" y="1700784"/>
            <a:ext cx="219456" cy="219456"/>
          </a:xfrm>
          <a:prstGeom prst="ellipse">
            <a:avLst/>
          </a:prstGeom>
          <a:solidFill>
            <a:srgbClr val="E9A23B"/>
          </a:solidFill>
          <a:ln/>
        </p:spPr>
      </p:sp>
      <p:sp>
        <p:nvSpPr>
          <p:cNvPr id="9" name="Text 7"/>
          <p:cNvSpPr txBox="1"/>
          <p:nvPr/>
        </p:nvSpPr>
        <p:spPr>
          <a:xfrm>
            <a:off x="3413089" y="1600200"/>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Telat</a:t>
            </a:r>
            <a:endParaRPr lang="en-US" sz="1700" dirty="0"/>
          </a:p>
        </p:txBody>
      </p:sp>
      <p:sp>
        <p:nvSpPr>
          <p:cNvPr id="10" name="Text 8"/>
          <p:cNvSpPr txBox="1"/>
          <p:nvPr/>
        </p:nvSpPr>
        <p:spPr>
          <a:xfrm>
            <a:off x="3074761" y="2194560"/>
            <a:ext cx="1556857" cy="685800"/>
          </a:xfrm>
          <a:prstGeom prst="rect">
            <a:avLst/>
          </a:prstGeom>
          <a:noFill/>
          <a:ln/>
        </p:spPr>
        <p:txBody>
          <a:bodyPr wrap="square" lIns="0" tIns="0" rIns="0" bIns="0" rtlCol="0" anchor="t"/>
          <a:lstStyle/>
          <a:p>
            <a:pPr marL="0" indent="0">
              <a:buNone/>
            </a:pPr>
            <a:r>
              <a:rPr lang="en-US" sz="1300" dirty="0">
                <a:solidFill>
                  <a:schemeClr val="accent5"/>
                </a:solidFill>
              </a:rPr>
              <a:t>check in setelah jam mulai</a:t>
            </a:r>
            <a:endParaRPr lang="en-US" sz="1300" dirty="0"/>
          </a:p>
        </p:txBody>
      </p:sp>
      <p:sp>
        <p:nvSpPr>
          <p:cNvPr id="11" name="Shape 9"/>
          <p:cNvSpPr/>
          <p:nvPr/>
        </p:nvSpPr>
        <p:spPr>
          <a:xfrm>
            <a:off x="5088819" y="1371600"/>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2" name="Shape 10"/>
          <p:cNvSpPr/>
          <p:nvPr/>
        </p:nvSpPr>
        <p:spPr>
          <a:xfrm>
            <a:off x="5344851" y="1700784"/>
            <a:ext cx="219456" cy="219456"/>
          </a:xfrm>
          <a:prstGeom prst="ellipse">
            <a:avLst/>
          </a:prstGeom>
          <a:solidFill>
            <a:srgbClr val="2E9E6B"/>
          </a:solidFill>
          <a:ln/>
        </p:spPr>
      </p:sp>
      <p:sp>
        <p:nvSpPr>
          <p:cNvPr id="13" name="Text 11"/>
          <p:cNvSpPr txBox="1"/>
          <p:nvPr/>
        </p:nvSpPr>
        <p:spPr>
          <a:xfrm>
            <a:off x="5683179" y="1600200"/>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Selesai</a:t>
            </a:r>
            <a:endParaRPr lang="en-US" sz="1700" dirty="0"/>
          </a:p>
        </p:txBody>
      </p:sp>
      <p:sp>
        <p:nvSpPr>
          <p:cNvPr id="14" name="Text 12"/>
          <p:cNvSpPr txBox="1"/>
          <p:nvPr/>
        </p:nvSpPr>
        <p:spPr>
          <a:xfrm>
            <a:off x="5344851" y="2194560"/>
            <a:ext cx="1556857" cy="685800"/>
          </a:xfrm>
          <a:prstGeom prst="rect">
            <a:avLst/>
          </a:prstGeom>
          <a:noFill/>
          <a:ln/>
        </p:spPr>
        <p:txBody>
          <a:bodyPr wrap="square" lIns="0" tIns="0" rIns="0" bIns="0" rtlCol="0" anchor="t"/>
          <a:lstStyle/>
          <a:p>
            <a:pPr marL="0" indent="0">
              <a:buNone/>
            </a:pPr>
            <a:r>
              <a:rPr lang="en-US" sz="1300" dirty="0">
                <a:solidFill>
                  <a:schemeClr val="accent5"/>
                </a:solidFill>
              </a:rPr>
              <a:t>check in + check out</a:t>
            </a:r>
            <a:endParaRPr lang="en-US" sz="1300" dirty="0"/>
          </a:p>
        </p:txBody>
      </p:sp>
      <p:sp>
        <p:nvSpPr>
          <p:cNvPr id="15" name="Shape 13"/>
          <p:cNvSpPr/>
          <p:nvPr/>
        </p:nvSpPr>
        <p:spPr>
          <a:xfrm>
            <a:off x="7358908" y="1371600"/>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6" name="Shape 14"/>
          <p:cNvSpPr/>
          <p:nvPr/>
        </p:nvSpPr>
        <p:spPr>
          <a:xfrm>
            <a:off x="7614940" y="1700784"/>
            <a:ext cx="219456" cy="219456"/>
          </a:xfrm>
          <a:prstGeom prst="ellipse">
            <a:avLst/>
          </a:prstGeom>
          <a:solidFill>
            <a:srgbClr val="E07A3B"/>
          </a:solidFill>
          <a:ln/>
        </p:spPr>
      </p:sp>
      <p:sp>
        <p:nvSpPr>
          <p:cNvPr id="17" name="Text 15"/>
          <p:cNvSpPr txBox="1"/>
          <p:nvPr/>
        </p:nvSpPr>
        <p:spPr>
          <a:xfrm>
            <a:off x="7953268" y="1600200"/>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Tanpa pulang</a:t>
            </a:r>
            <a:endParaRPr lang="en-US" sz="1700" dirty="0"/>
          </a:p>
        </p:txBody>
      </p:sp>
      <p:sp>
        <p:nvSpPr>
          <p:cNvPr id="18" name="Text 16"/>
          <p:cNvSpPr txBox="1"/>
          <p:nvPr/>
        </p:nvSpPr>
        <p:spPr>
          <a:xfrm>
            <a:off x="7614940" y="2194560"/>
            <a:ext cx="1556857" cy="685800"/>
          </a:xfrm>
          <a:prstGeom prst="rect">
            <a:avLst/>
          </a:prstGeom>
          <a:noFill/>
          <a:ln/>
        </p:spPr>
        <p:txBody>
          <a:bodyPr wrap="square" lIns="0" tIns="0" rIns="0" bIns="0" rtlCol="0" anchor="t"/>
          <a:lstStyle/>
          <a:p>
            <a:pPr marL="0" indent="0">
              <a:buNone/>
            </a:pPr>
            <a:r>
              <a:rPr lang="en-US" sz="1300" dirty="0">
                <a:solidFill>
                  <a:schemeClr val="accent5"/>
                </a:solidFill>
              </a:rPr>
              <a:t>jendela check out lewat</a:t>
            </a:r>
            <a:endParaRPr lang="en-US" sz="1300" dirty="0"/>
          </a:p>
        </p:txBody>
      </p:sp>
      <p:sp>
        <p:nvSpPr>
          <p:cNvPr id="19" name="Shape 17"/>
          <p:cNvSpPr/>
          <p:nvPr/>
        </p:nvSpPr>
        <p:spPr>
          <a:xfrm>
            <a:off x="9628998" y="1371600"/>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0" name="Shape 18"/>
          <p:cNvSpPr/>
          <p:nvPr/>
        </p:nvSpPr>
        <p:spPr>
          <a:xfrm>
            <a:off x="9885030" y="1700784"/>
            <a:ext cx="219456" cy="219456"/>
          </a:xfrm>
          <a:prstGeom prst="ellipse">
            <a:avLst/>
          </a:prstGeom>
          <a:solidFill>
            <a:srgbClr val="4F5BD5"/>
          </a:solidFill>
          <a:ln/>
        </p:spPr>
      </p:sp>
      <p:sp>
        <p:nvSpPr>
          <p:cNvPr id="21" name="Text 19"/>
          <p:cNvSpPr txBox="1"/>
          <p:nvPr/>
        </p:nvSpPr>
        <p:spPr>
          <a:xfrm>
            <a:off x="10223358" y="1600200"/>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Izin</a:t>
            </a:r>
            <a:endParaRPr lang="en-US" sz="1700" dirty="0"/>
          </a:p>
        </p:txBody>
      </p:sp>
      <p:sp>
        <p:nvSpPr>
          <p:cNvPr id="22" name="Text 20"/>
          <p:cNvSpPr txBox="1"/>
          <p:nvPr/>
        </p:nvSpPr>
        <p:spPr>
          <a:xfrm>
            <a:off x="9885030" y="2194560"/>
            <a:ext cx="1556857" cy="685800"/>
          </a:xfrm>
          <a:prstGeom prst="rect">
            <a:avLst/>
          </a:prstGeom>
          <a:noFill/>
          <a:ln/>
        </p:spPr>
        <p:txBody>
          <a:bodyPr wrap="square" lIns="0" tIns="0" rIns="0" bIns="0" rtlCol="0" anchor="t"/>
          <a:lstStyle/>
          <a:p>
            <a:pPr marL="0" indent="0">
              <a:buNone/>
            </a:pPr>
            <a:r>
              <a:rPr lang="en-US" sz="1300" dirty="0">
                <a:solidFill>
                  <a:schemeClr val="accent5"/>
                </a:solidFill>
              </a:rPr>
              <a:t>disetujui Kepala Unit</a:t>
            </a:r>
            <a:endParaRPr lang="en-US" sz="1300" dirty="0"/>
          </a:p>
        </p:txBody>
      </p:sp>
      <p:sp>
        <p:nvSpPr>
          <p:cNvPr id="23" name="Shape 21"/>
          <p:cNvSpPr/>
          <p:nvPr/>
        </p:nvSpPr>
        <p:spPr>
          <a:xfrm>
            <a:off x="548640" y="3319272"/>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Shape 22"/>
          <p:cNvSpPr/>
          <p:nvPr/>
        </p:nvSpPr>
        <p:spPr>
          <a:xfrm>
            <a:off x="804672" y="3648456"/>
            <a:ext cx="219456" cy="219456"/>
          </a:xfrm>
          <a:prstGeom prst="ellipse">
            <a:avLst/>
          </a:prstGeom>
          <a:solidFill>
            <a:srgbClr val="F2555A"/>
          </a:solidFill>
          <a:ln/>
        </p:spPr>
      </p:sp>
      <p:sp>
        <p:nvSpPr>
          <p:cNvPr id="25" name="Text 23"/>
          <p:cNvSpPr txBox="1"/>
          <p:nvPr/>
        </p:nvSpPr>
        <p:spPr>
          <a:xfrm>
            <a:off x="1143000" y="3547872"/>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Sakit</a:t>
            </a:r>
            <a:endParaRPr lang="en-US" sz="1700" dirty="0"/>
          </a:p>
        </p:txBody>
      </p:sp>
      <p:sp>
        <p:nvSpPr>
          <p:cNvPr id="26" name="Text 24"/>
          <p:cNvSpPr txBox="1"/>
          <p:nvPr/>
        </p:nvSpPr>
        <p:spPr>
          <a:xfrm>
            <a:off x="804672" y="4142232"/>
            <a:ext cx="1556857" cy="685800"/>
          </a:xfrm>
          <a:prstGeom prst="rect">
            <a:avLst/>
          </a:prstGeom>
          <a:noFill/>
          <a:ln/>
        </p:spPr>
        <p:txBody>
          <a:bodyPr wrap="square" lIns="0" tIns="0" rIns="0" bIns="0" rtlCol="0" anchor="t"/>
          <a:lstStyle/>
          <a:p>
            <a:pPr marL="0" indent="0">
              <a:buNone/>
            </a:pPr>
            <a:r>
              <a:rPr lang="en-US" sz="1300" dirty="0">
                <a:solidFill>
                  <a:schemeClr val="accent5"/>
                </a:solidFill>
              </a:rPr>
              <a:t>SKD disetujui</a:t>
            </a:r>
            <a:endParaRPr lang="en-US" sz="1300" dirty="0"/>
          </a:p>
        </p:txBody>
      </p:sp>
      <p:sp>
        <p:nvSpPr>
          <p:cNvPr id="27" name="Shape 25"/>
          <p:cNvSpPr/>
          <p:nvPr/>
        </p:nvSpPr>
        <p:spPr>
          <a:xfrm>
            <a:off x="2818729" y="3319272"/>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8" name="Shape 26"/>
          <p:cNvSpPr/>
          <p:nvPr/>
        </p:nvSpPr>
        <p:spPr>
          <a:xfrm>
            <a:off x="3074761" y="3648456"/>
            <a:ext cx="219456" cy="219456"/>
          </a:xfrm>
          <a:prstGeom prst="ellipse">
            <a:avLst/>
          </a:prstGeom>
          <a:solidFill>
            <a:srgbClr val="F2555A"/>
          </a:solidFill>
          <a:ln/>
        </p:spPr>
      </p:sp>
      <p:sp>
        <p:nvSpPr>
          <p:cNvPr id="29" name="Text 27"/>
          <p:cNvSpPr txBox="1"/>
          <p:nvPr/>
        </p:nvSpPr>
        <p:spPr>
          <a:xfrm>
            <a:off x="3413089" y="3547872"/>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Gagal</a:t>
            </a:r>
            <a:endParaRPr lang="en-US" sz="1700" dirty="0"/>
          </a:p>
        </p:txBody>
      </p:sp>
      <p:sp>
        <p:nvSpPr>
          <p:cNvPr id="30" name="Text 28"/>
          <p:cNvSpPr txBox="1"/>
          <p:nvPr/>
        </p:nvSpPr>
        <p:spPr>
          <a:xfrm>
            <a:off x="3074761" y="4142232"/>
            <a:ext cx="1556857" cy="685800"/>
          </a:xfrm>
          <a:prstGeom prst="rect">
            <a:avLst/>
          </a:prstGeom>
          <a:noFill/>
          <a:ln/>
        </p:spPr>
        <p:txBody>
          <a:bodyPr wrap="square" lIns="0" tIns="0" rIns="0" bIns="0" rtlCol="0" anchor="t"/>
          <a:lstStyle/>
          <a:p>
            <a:pPr marL="0" indent="0">
              <a:buNone/>
            </a:pPr>
            <a:r>
              <a:rPr lang="en-US" sz="1300" dirty="0">
                <a:solidFill>
                  <a:schemeClr val="accent5"/>
                </a:solidFill>
              </a:rPr>
              <a:t>verifikasi terakhir gagal</a:t>
            </a:r>
            <a:endParaRPr lang="en-US" sz="1300" dirty="0"/>
          </a:p>
        </p:txBody>
      </p:sp>
      <p:sp>
        <p:nvSpPr>
          <p:cNvPr id="31" name="Shape 29"/>
          <p:cNvSpPr/>
          <p:nvPr/>
        </p:nvSpPr>
        <p:spPr>
          <a:xfrm>
            <a:off x="5088819" y="3319272"/>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2" name="Shape 30"/>
          <p:cNvSpPr/>
          <p:nvPr/>
        </p:nvSpPr>
        <p:spPr>
          <a:xfrm>
            <a:off x="5344851" y="3648456"/>
            <a:ext cx="219456" cy="219456"/>
          </a:xfrm>
          <a:prstGeom prst="ellipse">
            <a:avLst/>
          </a:prstGeom>
          <a:solidFill>
            <a:srgbClr val="5E6B7D"/>
          </a:solidFill>
          <a:ln/>
        </p:spPr>
      </p:sp>
      <p:sp>
        <p:nvSpPr>
          <p:cNvPr id="33" name="Text 31"/>
          <p:cNvSpPr txBox="1"/>
          <p:nvPr/>
        </p:nvSpPr>
        <p:spPr>
          <a:xfrm>
            <a:off x="5683179" y="3547872"/>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Belum</a:t>
            </a:r>
            <a:endParaRPr lang="en-US" sz="1700" dirty="0"/>
          </a:p>
        </p:txBody>
      </p:sp>
      <p:sp>
        <p:nvSpPr>
          <p:cNvPr id="34" name="Text 32"/>
          <p:cNvSpPr txBox="1"/>
          <p:nvPr/>
        </p:nvSpPr>
        <p:spPr>
          <a:xfrm>
            <a:off x="5344851" y="4142232"/>
            <a:ext cx="1556857" cy="685800"/>
          </a:xfrm>
          <a:prstGeom prst="rect">
            <a:avLst/>
          </a:prstGeom>
          <a:noFill/>
          <a:ln/>
        </p:spPr>
        <p:txBody>
          <a:bodyPr wrap="square" lIns="0" tIns="0" rIns="0" bIns="0" rtlCol="0" anchor="t"/>
          <a:lstStyle/>
          <a:p>
            <a:pPr marL="0" indent="0">
              <a:buNone/>
            </a:pPr>
            <a:r>
              <a:rPr lang="en-US" sz="1300" dirty="0">
                <a:solidFill>
                  <a:schemeClr val="accent5"/>
                </a:solidFill>
              </a:rPr>
              <a:t>jendela masih buka</a:t>
            </a:r>
            <a:endParaRPr lang="en-US" sz="1300" dirty="0"/>
          </a:p>
        </p:txBody>
      </p:sp>
      <p:sp>
        <p:nvSpPr>
          <p:cNvPr id="35" name="Shape 33"/>
          <p:cNvSpPr/>
          <p:nvPr/>
        </p:nvSpPr>
        <p:spPr>
          <a:xfrm>
            <a:off x="7358908" y="3319272"/>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6" name="Shape 34"/>
          <p:cNvSpPr/>
          <p:nvPr/>
        </p:nvSpPr>
        <p:spPr>
          <a:xfrm>
            <a:off x="7614940" y="3648456"/>
            <a:ext cx="219456" cy="219456"/>
          </a:xfrm>
          <a:prstGeom prst="ellipse">
            <a:avLst/>
          </a:prstGeom>
          <a:solidFill>
            <a:srgbClr val="C82829"/>
          </a:solidFill>
          <a:ln/>
        </p:spPr>
      </p:sp>
      <p:sp>
        <p:nvSpPr>
          <p:cNvPr id="37" name="Text 35"/>
          <p:cNvSpPr txBox="1"/>
          <p:nvPr/>
        </p:nvSpPr>
        <p:spPr>
          <a:xfrm>
            <a:off x="7953268" y="3547872"/>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Alpa</a:t>
            </a:r>
            <a:endParaRPr lang="en-US" sz="1700" dirty="0"/>
          </a:p>
        </p:txBody>
      </p:sp>
      <p:sp>
        <p:nvSpPr>
          <p:cNvPr id="38" name="Text 36"/>
          <p:cNvSpPr txBox="1"/>
          <p:nvPr/>
        </p:nvSpPr>
        <p:spPr>
          <a:xfrm>
            <a:off x="7614940" y="4142232"/>
            <a:ext cx="1556857" cy="685800"/>
          </a:xfrm>
          <a:prstGeom prst="rect">
            <a:avLst/>
          </a:prstGeom>
          <a:noFill/>
          <a:ln/>
        </p:spPr>
        <p:txBody>
          <a:bodyPr wrap="square" lIns="0" tIns="0" rIns="0" bIns="0" rtlCol="0" anchor="t"/>
          <a:lstStyle/>
          <a:p>
            <a:pPr marL="0" indent="0">
              <a:buNone/>
            </a:pPr>
            <a:r>
              <a:rPr lang="en-US" sz="1300" dirty="0">
                <a:solidFill>
                  <a:schemeClr val="accent5"/>
                </a:solidFill>
              </a:rPr>
              <a:t>jendela tutup tanpa absen</a:t>
            </a:r>
            <a:endParaRPr lang="en-US" sz="1300" dirty="0"/>
          </a:p>
        </p:txBody>
      </p:sp>
      <p:sp>
        <p:nvSpPr>
          <p:cNvPr id="39" name="Shape 37"/>
          <p:cNvSpPr/>
          <p:nvPr/>
        </p:nvSpPr>
        <p:spPr>
          <a:xfrm>
            <a:off x="9628998" y="3319272"/>
            <a:ext cx="2014057" cy="1691640"/>
          </a:xfrm>
          <a:prstGeom prst="roundRect">
            <a:avLst>
              <a:gd name="adj" fmla="val 648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0" name="Shape 38"/>
          <p:cNvSpPr/>
          <p:nvPr/>
        </p:nvSpPr>
        <p:spPr>
          <a:xfrm>
            <a:off x="9885030" y="3648456"/>
            <a:ext cx="219456" cy="219456"/>
          </a:xfrm>
          <a:prstGeom prst="ellipse">
            <a:avLst/>
          </a:prstGeom>
          <a:solidFill>
            <a:srgbClr val="97A1B0"/>
          </a:solidFill>
          <a:ln/>
        </p:spPr>
      </p:sp>
      <p:sp>
        <p:nvSpPr>
          <p:cNvPr id="41" name="Text 39"/>
          <p:cNvSpPr txBox="1"/>
          <p:nvPr/>
        </p:nvSpPr>
        <p:spPr>
          <a:xfrm>
            <a:off x="10223358" y="3547872"/>
            <a:ext cx="1282537" cy="411480"/>
          </a:xfrm>
          <a:prstGeom prst="rect">
            <a:avLst/>
          </a:prstGeom>
          <a:noFill/>
          <a:ln/>
        </p:spPr>
        <p:txBody>
          <a:bodyPr wrap="square" lIns="0" tIns="0" rIns="0" bIns="0" rtlCol="0" anchor="ctr"/>
          <a:lstStyle/>
          <a:p>
            <a:pPr marL="0" indent="0">
              <a:buNone/>
            </a:pPr>
            <a:r>
              <a:rPr lang="en-US" sz="1700" b="1" dirty="0">
                <a:solidFill>
                  <a:schemeClr val="tx2"/>
                </a:solidFill>
              </a:rPr>
              <a:t>Libur</a:t>
            </a:r>
            <a:endParaRPr lang="en-US" sz="1700" dirty="0"/>
          </a:p>
        </p:txBody>
      </p:sp>
      <p:sp>
        <p:nvSpPr>
          <p:cNvPr id="42" name="Text 40"/>
          <p:cNvSpPr txBox="1"/>
          <p:nvPr/>
        </p:nvSpPr>
        <p:spPr>
          <a:xfrm>
            <a:off x="9885030" y="4142232"/>
            <a:ext cx="1556857" cy="685800"/>
          </a:xfrm>
          <a:prstGeom prst="rect">
            <a:avLst/>
          </a:prstGeom>
          <a:noFill/>
          <a:ln/>
        </p:spPr>
        <p:txBody>
          <a:bodyPr wrap="square" lIns="0" tIns="0" rIns="0" bIns="0" rtlCol="0" anchor="t"/>
          <a:lstStyle/>
          <a:p>
            <a:pPr marL="0" indent="0">
              <a:buNone/>
            </a:pPr>
            <a:r>
              <a:rPr lang="en-US" sz="1300" dirty="0">
                <a:solidFill>
                  <a:schemeClr val="accent5"/>
                </a:solidFill>
              </a:rPr>
              <a:t>tanpa jadwal / hari libur</a:t>
            </a:r>
            <a:endParaRPr lang="en-US" sz="1300" dirty="0"/>
          </a:p>
        </p:txBody>
      </p:sp>
      <p:sp>
        <p:nvSpPr>
          <p:cNvPr id="43" name="Shape 41"/>
          <p:cNvSpPr/>
          <p:nvPr/>
        </p:nvSpPr>
        <p:spPr>
          <a:xfrm>
            <a:off x="548640" y="5257800"/>
            <a:ext cx="11094415" cy="777240"/>
          </a:xfrm>
          <a:prstGeom prst="roundRect">
            <a:avLst>
              <a:gd name="adj" fmla="val 14118"/>
            </a:avLst>
          </a:prstGeom>
          <a:solidFill>
            <a:schemeClr val="tx2"/>
          </a:solidFill>
          <a:ln w="12700">
            <a:solidFill>
              <a:srgbClr val="E1E8EC"/>
            </a:solidFill>
            <a:prstDash val="solid"/>
          </a:ln>
          <a:effectLst>
            <a:outerShdw blurRad="76200" dist="19050" dir="5400000" algn="bl" rotWithShape="0">
              <a:srgbClr val="0B2A33">
                <a:alpha val="7000"/>
              </a:srgbClr>
            </a:outerShdw>
          </a:effectLst>
        </p:spPr>
      </p:sp>
      <p:sp>
        <p:nvSpPr>
          <p:cNvPr id="44" name="Text 42"/>
          <p:cNvSpPr txBox="1"/>
          <p:nvPr/>
        </p:nvSpPr>
        <p:spPr>
          <a:xfrm>
            <a:off x="868680" y="5257800"/>
            <a:ext cx="10454335" cy="777240"/>
          </a:xfrm>
          <a:prstGeom prst="rect">
            <a:avLst/>
          </a:prstGeom>
          <a:noFill/>
          <a:ln/>
        </p:spPr>
        <p:txBody>
          <a:bodyPr wrap="square" lIns="0" tIns="0" rIns="0" bIns="0" rtlCol="0" anchor="ctr"/>
          <a:lstStyle/>
          <a:p>
            <a:pPr marL="0" indent="0">
              <a:buNone/>
            </a:pPr>
            <a:r>
              <a:rPr lang="en-US" sz="1500" b="1" dirty="0">
                <a:solidFill>
                  <a:schemeClr val="bg1"/>
                </a:solidFill>
              </a:rPr>
              <a:t>Dihitung hadir: </a:t>
            </a:r>
            <a:r>
              <a:rPr lang="en-US" sz="1500" dirty="0">
                <a:solidFill>
                  <a:schemeClr val="bg1"/>
                </a:solidFill>
              </a:rPr>
              <a:t>hadir + telat + selesai + tanpa_pulang. Keterlambatan dihitung sejak menit pertama (tanpa toleransi).</a:t>
            </a:r>
            <a:endParaRPr lang="en-US" sz="1500" dirty="0"/>
          </a:p>
        </p:txBody>
      </p:sp>
      <p:sp>
        <p:nvSpPr>
          <p:cNvPr id="4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Satu tahap persetujuan, Admin SDM sebagai cadangan</a:t>
            </a:r>
            <a:endParaRPr lang="en-US" sz="2800" dirty="0"/>
          </a:p>
        </p:txBody>
      </p:sp>
      <p:sp>
        <p:nvSpPr>
          <p:cNvPr id="3" name="Shape 1"/>
          <p:cNvSpPr/>
          <p:nvPr/>
        </p:nvSpPr>
        <p:spPr>
          <a:xfrm>
            <a:off x="548640" y="1444752"/>
            <a:ext cx="685800" cy="685800"/>
          </a:xfrm>
          <a:prstGeom prst="roundRect">
            <a:avLst>
              <a:gd name="adj" fmla="val 22000"/>
            </a:avLst>
          </a:prstGeom>
          <a:solidFill>
            <a:schemeClr val="accent3"/>
          </a:solidFill>
          <a:ln/>
        </p:spPr>
      </p:sp>
      <p:pic>
        <p:nvPicPr>
          <p:cNvPr id="4" name="Image 0" descr="preencoded.png"/>
          <p:cNvPicPr>
            <a:picLocks noChangeAspect="1"/>
          </p:cNvPicPr>
          <p:nvPr/>
        </p:nvPicPr>
        <p:blipFill>
          <a:blip r:embed="rId3"/>
          <a:stretch>
            <a:fillRect/>
          </a:stretch>
        </p:blipFill>
        <p:spPr>
          <a:xfrm>
            <a:off x="720090" y="1616202"/>
            <a:ext cx="342900" cy="342900"/>
          </a:xfrm>
          <a:prstGeom prst="rect">
            <a:avLst/>
          </a:prstGeom>
        </p:spPr>
      </p:pic>
      <p:sp>
        <p:nvSpPr>
          <p:cNvPr id="5" name="Text 2"/>
          <p:cNvSpPr txBox="1"/>
          <p:nvPr/>
        </p:nvSpPr>
        <p:spPr>
          <a:xfrm>
            <a:off x="1417320" y="1444752"/>
            <a:ext cx="1280160" cy="685800"/>
          </a:xfrm>
          <a:prstGeom prst="rect">
            <a:avLst/>
          </a:prstGeom>
          <a:noFill/>
          <a:ln/>
        </p:spPr>
        <p:txBody>
          <a:bodyPr wrap="square" lIns="0" tIns="0" rIns="0" bIns="0" rtlCol="0" anchor="ctr"/>
          <a:lstStyle/>
          <a:p>
            <a:pPr marL="0" indent="0">
              <a:buNone/>
            </a:pPr>
            <a:r>
              <a:rPr lang="en-US" sz="1700" b="1" dirty="0">
                <a:solidFill>
                  <a:schemeClr val="tx2"/>
                </a:solidFill>
              </a:rPr>
              <a:t>Izin / sakit</a:t>
            </a:r>
            <a:endParaRPr lang="en-US" sz="1700" dirty="0"/>
          </a:p>
        </p:txBody>
      </p:sp>
      <p:sp>
        <p:nvSpPr>
          <p:cNvPr id="6" name="Shape 3"/>
          <p:cNvSpPr/>
          <p:nvPr/>
        </p:nvSpPr>
        <p:spPr>
          <a:xfrm>
            <a:off x="2697480" y="132588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7" name="Text 4"/>
          <p:cNvSpPr txBox="1"/>
          <p:nvPr/>
        </p:nvSpPr>
        <p:spPr>
          <a:xfrm>
            <a:off x="2880360" y="1325880"/>
            <a:ext cx="1676324" cy="960120"/>
          </a:xfrm>
          <a:prstGeom prst="rect">
            <a:avLst/>
          </a:prstGeom>
          <a:noFill/>
          <a:ln/>
        </p:spPr>
        <p:txBody>
          <a:bodyPr wrap="square" lIns="0" tIns="0" rIns="0" bIns="0" rtlCol="0" anchor="ctr"/>
          <a:lstStyle/>
          <a:p>
            <a:pPr marL="0" indent="0">
              <a:buNone/>
            </a:pPr>
            <a:r>
              <a:rPr lang="en-US" sz="1300" dirty="0">
                <a:solidFill>
                  <a:schemeClr val="tx1"/>
                </a:solidFill>
              </a:rPr>
              <a:t>Karyawan mengajukan (sakit: unggah SKD)</a:t>
            </a:r>
            <a:endParaRPr lang="en-US" sz="1300" dirty="0"/>
          </a:p>
        </p:txBody>
      </p:sp>
      <p:sp>
        <p:nvSpPr>
          <p:cNvPr id="8" name="Shape 5"/>
          <p:cNvSpPr/>
          <p:nvPr/>
        </p:nvSpPr>
        <p:spPr>
          <a:xfrm>
            <a:off x="4739564" y="1801368"/>
            <a:ext cx="228600" cy="914"/>
          </a:xfrm>
          <a:prstGeom prst="line">
            <a:avLst/>
          </a:prstGeom>
          <a:noFill/>
          <a:ln w="15875">
            <a:solidFill>
              <a:srgbClr val="5E6B7D"/>
            </a:solidFill>
            <a:prstDash val="solid"/>
            <a:tailEnd type="triangle"/>
          </a:ln>
        </p:spPr>
      </p:sp>
      <p:sp>
        <p:nvSpPr>
          <p:cNvPr id="9" name="Shape 6"/>
          <p:cNvSpPr/>
          <p:nvPr/>
        </p:nvSpPr>
        <p:spPr>
          <a:xfrm>
            <a:off x="5013884" y="132588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0" name="Text 7"/>
          <p:cNvSpPr txBox="1"/>
          <p:nvPr/>
        </p:nvSpPr>
        <p:spPr>
          <a:xfrm>
            <a:off x="5196764" y="1325880"/>
            <a:ext cx="1676324" cy="960120"/>
          </a:xfrm>
          <a:prstGeom prst="rect">
            <a:avLst/>
          </a:prstGeom>
          <a:noFill/>
          <a:ln/>
        </p:spPr>
        <p:txBody>
          <a:bodyPr wrap="square" lIns="0" tIns="0" rIns="0" bIns="0" rtlCol="0" anchor="ctr"/>
          <a:lstStyle/>
          <a:p>
            <a:pPr marL="0" indent="0">
              <a:buNone/>
            </a:pPr>
            <a:r>
              <a:rPr lang="en-US" sz="1300" dirty="0">
                <a:solidFill>
                  <a:schemeClr val="tx1"/>
                </a:solidFill>
              </a:rPr>
              <a:t>Kepala Unit unit itu menerima notifikasi</a:t>
            </a:r>
            <a:endParaRPr lang="en-US" sz="1300" dirty="0"/>
          </a:p>
        </p:txBody>
      </p:sp>
      <p:sp>
        <p:nvSpPr>
          <p:cNvPr id="11" name="Shape 8"/>
          <p:cNvSpPr/>
          <p:nvPr/>
        </p:nvSpPr>
        <p:spPr>
          <a:xfrm>
            <a:off x="7055968" y="1801368"/>
            <a:ext cx="228600" cy="914"/>
          </a:xfrm>
          <a:prstGeom prst="line">
            <a:avLst/>
          </a:prstGeom>
          <a:noFill/>
          <a:ln w="15875">
            <a:solidFill>
              <a:srgbClr val="5E6B7D"/>
            </a:solidFill>
            <a:prstDash val="solid"/>
            <a:tailEnd type="triangle"/>
          </a:ln>
        </p:spPr>
      </p:sp>
      <p:sp>
        <p:nvSpPr>
          <p:cNvPr id="12" name="Shape 9"/>
          <p:cNvSpPr/>
          <p:nvPr/>
        </p:nvSpPr>
        <p:spPr>
          <a:xfrm>
            <a:off x="7330288" y="132588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3" name="Text 10"/>
          <p:cNvSpPr txBox="1"/>
          <p:nvPr/>
        </p:nvSpPr>
        <p:spPr>
          <a:xfrm>
            <a:off x="7513168" y="1325880"/>
            <a:ext cx="1676324" cy="960120"/>
          </a:xfrm>
          <a:prstGeom prst="rect">
            <a:avLst/>
          </a:prstGeom>
          <a:noFill/>
          <a:ln/>
        </p:spPr>
        <p:txBody>
          <a:bodyPr wrap="square" lIns="0" tIns="0" rIns="0" bIns="0" rtlCol="0" anchor="ctr"/>
          <a:lstStyle/>
          <a:p>
            <a:pPr marL="0" indent="0">
              <a:buNone/>
            </a:pPr>
            <a:r>
              <a:rPr lang="en-US" sz="1300" dirty="0">
                <a:solidFill>
                  <a:schemeClr val="tx1"/>
                </a:solidFill>
              </a:rPr>
              <a:t>Setuju / tolak (alasan wajib bila tolak)</a:t>
            </a:r>
            <a:endParaRPr lang="en-US" sz="1300" dirty="0"/>
          </a:p>
        </p:txBody>
      </p:sp>
      <p:sp>
        <p:nvSpPr>
          <p:cNvPr id="14" name="Shape 11"/>
          <p:cNvSpPr/>
          <p:nvPr/>
        </p:nvSpPr>
        <p:spPr>
          <a:xfrm>
            <a:off x="9372371" y="1801368"/>
            <a:ext cx="228600" cy="914"/>
          </a:xfrm>
          <a:prstGeom prst="line">
            <a:avLst/>
          </a:prstGeom>
          <a:noFill/>
          <a:ln w="15875">
            <a:solidFill>
              <a:srgbClr val="5E6B7D"/>
            </a:solidFill>
            <a:prstDash val="solid"/>
            <a:tailEnd type="triangle"/>
          </a:ln>
        </p:spPr>
      </p:sp>
      <p:sp>
        <p:nvSpPr>
          <p:cNvPr id="15" name="Shape 12"/>
          <p:cNvSpPr/>
          <p:nvPr/>
        </p:nvSpPr>
        <p:spPr>
          <a:xfrm>
            <a:off x="9646691" y="132588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6" name="Text 13"/>
          <p:cNvSpPr txBox="1"/>
          <p:nvPr/>
        </p:nvSpPr>
        <p:spPr>
          <a:xfrm>
            <a:off x="9829571" y="1325880"/>
            <a:ext cx="1676324" cy="960120"/>
          </a:xfrm>
          <a:prstGeom prst="rect">
            <a:avLst/>
          </a:prstGeom>
          <a:noFill/>
          <a:ln/>
        </p:spPr>
        <p:txBody>
          <a:bodyPr wrap="square" lIns="0" tIns="0" rIns="0" bIns="0" rtlCol="0" anchor="ctr"/>
          <a:lstStyle/>
          <a:p>
            <a:pPr marL="0" indent="0">
              <a:buNone/>
            </a:pPr>
            <a:r>
              <a:rPr lang="en-US" sz="1300" dirty="0">
                <a:solidFill>
                  <a:schemeClr val="tx1"/>
                </a:solidFill>
              </a:rPr>
              <a:t>Status harian otomatis izin / sakit</a:t>
            </a:r>
            <a:endParaRPr lang="en-US" sz="1300" dirty="0"/>
          </a:p>
        </p:txBody>
      </p:sp>
      <p:sp>
        <p:nvSpPr>
          <p:cNvPr id="17" name="Shape 14"/>
          <p:cNvSpPr/>
          <p:nvPr/>
        </p:nvSpPr>
        <p:spPr>
          <a:xfrm>
            <a:off x="548640" y="2633472"/>
            <a:ext cx="685800" cy="685800"/>
          </a:xfrm>
          <a:prstGeom prst="roundRect">
            <a:avLst>
              <a:gd name="adj" fmla="val 22000"/>
            </a:avLst>
          </a:prstGeom>
          <a:solidFill>
            <a:schemeClr val="accent1"/>
          </a:solidFill>
          <a:ln/>
        </p:spPr>
      </p:sp>
      <p:pic>
        <p:nvPicPr>
          <p:cNvPr id="18" name="Image 1" descr="preencoded.png"/>
          <p:cNvPicPr>
            <a:picLocks noChangeAspect="1"/>
          </p:cNvPicPr>
          <p:nvPr/>
        </p:nvPicPr>
        <p:blipFill>
          <a:blip r:embed="rId4"/>
          <a:stretch>
            <a:fillRect/>
          </a:stretch>
        </p:blipFill>
        <p:spPr>
          <a:xfrm>
            <a:off x="720090" y="2804922"/>
            <a:ext cx="342900" cy="342900"/>
          </a:xfrm>
          <a:prstGeom prst="rect">
            <a:avLst/>
          </a:prstGeom>
        </p:spPr>
      </p:pic>
      <p:sp>
        <p:nvSpPr>
          <p:cNvPr id="19" name="Text 15"/>
          <p:cNvSpPr txBox="1"/>
          <p:nvPr/>
        </p:nvSpPr>
        <p:spPr>
          <a:xfrm>
            <a:off x="1417320" y="2633472"/>
            <a:ext cx="1280160" cy="685800"/>
          </a:xfrm>
          <a:prstGeom prst="rect">
            <a:avLst/>
          </a:prstGeom>
          <a:noFill/>
          <a:ln/>
        </p:spPr>
        <p:txBody>
          <a:bodyPr wrap="square" lIns="0" tIns="0" rIns="0" bIns="0" rtlCol="0" anchor="ctr"/>
          <a:lstStyle/>
          <a:p>
            <a:pPr marL="0" indent="0">
              <a:buNone/>
            </a:pPr>
            <a:r>
              <a:rPr lang="en-US" sz="1700" b="1" dirty="0">
                <a:solidFill>
                  <a:schemeClr val="tx2"/>
                </a:solidFill>
              </a:rPr>
              <a:t>Tukar shift</a:t>
            </a:r>
            <a:endParaRPr lang="en-US" sz="1700" dirty="0"/>
          </a:p>
        </p:txBody>
      </p:sp>
      <p:sp>
        <p:nvSpPr>
          <p:cNvPr id="20" name="Shape 16"/>
          <p:cNvSpPr/>
          <p:nvPr/>
        </p:nvSpPr>
        <p:spPr>
          <a:xfrm>
            <a:off x="2697480" y="251460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1" name="Text 17"/>
          <p:cNvSpPr txBox="1"/>
          <p:nvPr/>
        </p:nvSpPr>
        <p:spPr>
          <a:xfrm>
            <a:off x="2880360" y="2514600"/>
            <a:ext cx="1676324" cy="960120"/>
          </a:xfrm>
          <a:prstGeom prst="rect">
            <a:avLst/>
          </a:prstGeom>
          <a:noFill/>
          <a:ln/>
        </p:spPr>
        <p:txBody>
          <a:bodyPr wrap="square" lIns="0" tIns="0" rIns="0" bIns="0" rtlCol="0" anchor="ctr"/>
          <a:lstStyle/>
          <a:p>
            <a:pPr marL="0" indent="0">
              <a:buNone/>
            </a:pPr>
            <a:r>
              <a:rPr lang="en-US" sz="1300" dirty="0">
                <a:solidFill>
                  <a:schemeClr val="tx1"/>
                </a:solidFill>
              </a:rPr>
              <a:t>Pilih rekan satu unit yang memenuhi syarat</a:t>
            </a:r>
            <a:endParaRPr lang="en-US" sz="1300" dirty="0"/>
          </a:p>
        </p:txBody>
      </p:sp>
      <p:sp>
        <p:nvSpPr>
          <p:cNvPr id="22" name="Shape 18"/>
          <p:cNvSpPr/>
          <p:nvPr/>
        </p:nvSpPr>
        <p:spPr>
          <a:xfrm>
            <a:off x="4739564" y="2990088"/>
            <a:ext cx="228600" cy="914"/>
          </a:xfrm>
          <a:prstGeom prst="line">
            <a:avLst/>
          </a:prstGeom>
          <a:noFill/>
          <a:ln w="15875">
            <a:solidFill>
              <a:srgbClr val="5E6B7D"/>
            </a:solidFill>
            <a:prstDash val="solid"/>
            <a:tailEnd type="triangle"/>
          </a:ln>
        </p:spPr>
      </p:sp>
      <p:sp>
        <p:nvSpPr>
          <p:cNvPr id="23" name="Shape 19"/>
          <p:cNvSpPr/>
          <p:nvPr/>
        </p:nvSpPr>
        <p:spPr>
          <a:xfrm>
            <a:off x="5013884" y="251460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Text 20"/>
          <p:cNvSpPr txBox="1"/>
          <p:nvPr/>
        </p:nvSpPr>
        <p:spPr>
          <a:xfrm>
            <a:off x="5196764" y="2514600"/>
            <a:ext cx="1676324" cy="960120"/>
          </a:xfrm>
          <a:prstGeom prst="rect">
            <a:avLst/>
          </a:prstGeom>
          <a:noFill/>
          <a:ln/>
        </p:spPr>
        <p:txBody>
          <a:bodyPr wrap="square" lIns="0" tIns="0" rIns="0" bIns="0" rtlCol="0" anchor="ctr"/>
          <a:lstStyle/>
          <a:p>
            <a:pPr marL="0" indent="0">
              <a:buNone/>
            </a:pPr>
            <a:r>
              <a:rPr lang="en-US" sz="1300" dirty="0">
                <a:solidFill>
                  <a:schemeClr val="tx1"/>
                </a:solidFill>
              </a:rPr>
              <a:t>Rekan diberi tahu (tidak perlu menyetujui)</a:t>
            </a:r>
            <a:endParaRPr lang="en-US" sz="1300" dirty="0"/>
          </a:p>
        </p:txBody>
      </p:sp>
      <p:sp>
        <p:nvSpPr>
          <p:cNvPr id="25" name="Shape 21"/>
          <p:cNvSpPr/>
          <p:nvPr/>
        </p:nvSpPr>
        <p:spPr>
          <a:xfrm>
            <a:off x="7055968" y="2990088"/>
            <a:ext cx="228600" cy="914"/>
          </a:xfrm>
          <a:prstGeom prst="line">
            <a:avLst/>
          </a:prstGeom>
          <a:noFill/>
          <a:ln w="15875">
            <a:solidFill>
              <a:srgbClr val="5E6B7D"/>
            </a:solidFill>
            <a:prstDash val="solid"/>
            <a:tailEnd type="triangle"/>
          </a:ln>
        </p:spPr>
      </p:sp>
      <p:sp>
        <p:nvSpPr>
          <p:cNvPr id="26" name="Shape 22"/>
          <p:cNvSpPr/>
          <p:nvPr/>
        </p:nvSpPr>
        <p:spPr>
          <a:xfrm>
            <a:off x="7330288" y="251460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7" name="Text 23"/>
          <p:cNvSpPr txBox="1"/>
          <p:nvPr/>
        </p:nvSpPr>
        <p:spPr>
          <a:xfrm>
            <a:off x="7513168" y="2514600"/>
            <a:ext cx="1676324" cy="960120"/>
          </a:xfrm>
          <a:prstGeom prst="rect">
            <a:avLst/>
          </a:prstGeom>
          <a:noFill/>
          <a:ln/>
        </p:spPr>
        <p:txBody>
          <a:bodyPr wrap="square" lIns="0" tIns="0" rIns="0" bIns="0" rtlCol="0" anchor="ctr"/>
          <a:lstStyle/>
          <a:p>
            <a:pPr marL="0" indent="0">
              <a:buNone/>
            </a:pPr>
            <a:r>
              <a:rPr lang="en-US" sz="1300" dirty="0">
                <a:solidFill>
                  <a:schemeClr val="tx1"/>
                </a:solidFill>
              </a:rPr>
              <a:t>Kepala Unit memutuskan</a:t>
            </a:r>
            <a:endParaRPr lang="en-US" sz="1300" dirty="0"/>
          </a:p>
        </p:txBody>
      </p:sp>
      <p:sp>
        <p:nvSpPr>
          <p:cNvPr id="28" name="Shape 24"/>
          <p:cNvSpPr/>
          <p:nvPr/>
        </p:nvSpPr>
        <p:spPr>
          <a:xfrm>
            <a:off x="9372371" y="2990088"/>
            <a:ext cx="228600" cy="914"/>
          </a:xfrm>
          <a:prstGeom prst="line">
            <a:avLst/>
          </a:prstGeom>
          <a:noFill/>
          <a:ln w="15875">
            <a:solidFill>
              <a:srgbClr val="5E6B7D"/>
            </a:solidFill>
            <a:prstDash val="solid"/>
            <a:tailEnd type="triangle"/>
          </a:ln>
        </p:spPr>
      </p:sp>
      <p:sp>
        <p:nvSpPr>
          <p:cNvPr id="29" name="Shape 25"/>
          <p:cNvSpPr/>
          <p:nvPr/>
        </p:nvSpPr>
        <p:spPr>
          <a:xfrm>
            <a:off x="9646691" y="251460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0" name="Text 26"/>
          <p:cNvSpPr txBox="1"/>
          <p:nvPr/>
        </p:nvSpPr>
        <p:spPr>
          <a:xfrm>
            <a:off x="9829571" y="2514600"/>
            <a:ext cx="1676324" cy="960120"/>
          </a:xfrm>
          <a:prstGeom prst="rect">
            <a:avLst/>
          </a:prstGeom>
          <a:noFill/>
          <a:ln/>
        </p:spPr>
        <p:txBody>
          <a:bodyPr wrap="square" lIns="0" tIns="0" rIns="0" bIns="0" rtlCol="0" anchor="ctr"/>
          <a:lstStyle/>
          <a:p>
            <a:pPr marL="0" indent="0">
              <a:buNone/>
            </a:pPr>
            <a:r>
              <a:rPr lang="en-US" sz="1300" dirty="0">
                <a:solidFill>
                  <a:schemeClr val="tx1"/>
                </a:solidFill>
              </a:rPr>
              <a:t>Jadwal kedua orang berubah otomatis</a:t>
            </a:r>
            <a:endParaRPr lang="en-US" sz="1300" dirty="0"/>
          </a:p>
        </p:txBody>
      </p:sp>
      <p:sp>
        <p:nvSpPr>
          <p:cNvPr id="31" name="Shape 27"/>
          <p:cNvSpPr/>
          <p:nvPr/>
        </p:nvSpPr>
        <p:spPr>
          <a:xfrm>
            <a:off x="548640" y="3822192"/>
            <a:ext cx="685800" cy="685800"/>
          </a:xfrm>
          <a:prstGeom prst="roundRect">
            <a:avLst>
              <a:gd name="adj" fmla="val 22000"/>
            </a:avLst>
          </a:prstGeom>
          <a:solidFill>
            <a:schemeClr val="accent4"/>
          </a:solidFill>
          <a:ln/>
        </p:spPr>
      </p:sp>
      <p:pic>
        <p:nvPicPr>
          <p:cNvPr id="32" name="Image 2" descr="preencoded.png"/>
          <p:cNvPicPr>
            <a:picLocks noChangeAspect="1"/>
          </p:cNvPicPr>
          <p:nvPr/>
        </p:nvPicPr>
        <p:blipFill>
          <a:blip r:embed="rId5"/>
          <a:stretch>
            <a:fillRect/>
          </a:stretch>
        </p:blipFill>
        <p:spPr>
          <a:xfrm>
            <a:off x="720090" y="3993642"/>
            <a:ext cx="342900" cy="342900"/>
          </a:xfrm>
          <a:prstGeom prst="rect">
            <a:avLst/>
          </a:prstGeom>
        </p:spPr>
      </p:pic>
      <p:sp>
        <p:nvSpPr>
          <p:cNvPr id="33" name="Text 28"/>
          <p:cNvSpPr txBox="1"/>
          <p:nvPr/>
        </p:nvSpPr>
        <p:spPr>
          <a:xfrm>
            <a:off x="1417320" y="3822192"/>
            <a:ext cx="1280160" cy="685800"/>
          </a:xfrm>
          <a:prstGeom prst="rect">
            <a:avLst/>
          </a:prstGeom>
          <a:noFill/>
          <a:ln/>
        </p:spPr>
        <p:txBody>
          <a:bodyPr wrap="square" lIns="0" tIns="0" rIns="0" bIns="0" rtlCol="0" anchor="ctr"/>
          <a:lstStyle/>
          <a:p>
            <a:pPr marL="0" indent="0">
              <a:buNone/>
            </a:pPr>
            <a:r>
              <a:rPr lang="en-US" sz="1700" b="1" dirty="0">
                <a:solidFill>
                  <a:schemeClr val="tx2"/>
                </a:solidFill>
              </a:rPr>
              <a:t>Cadangan</a:t>
            </a:r>
            <a:endParaRPr lang="en-US" sz="1700" dirty="0"/>
          </a:p>
        </p:txBody>
      </p:sp>
      <p:sp>
        <p:nvSpPr>
          <p:cNvPr id="34" name="Shape 29"/>
          <p:cNvSpPr/>
          <p:nvPr/>
        </p:nvSpPr>
        <p:spPr>
          <a:xfrm>
            <a:off x="2697480" y="370332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5" name="Text 30"/>
          <p:cNvSpPr txBox="1"/>
          <p:nvPr/>
        </p:nvSpPr>
        <p:spPr>
          <a:xfrm>
            <a:off x="2880360" y="3703320"/>
            <a:ext cx="1676324" cy="960120"/>
          </a:xfrm>
          <a:prstGeom prst="rect">
            <a:avLst/>
          </a:prstGeom>
          <a:noFill/>
          <a:ln/>
        </p:spPr>
        <p:txBody>
          <a:bodyPr wrap="square" lIns="0" tIns="0" rIns="0" bIns="0" rtlCol="0" anchor="ctr"/>
          <a:lstStyle/>
          <a:p>
            <a:pPr marL="0" indent="0">
              <a:buNone/>
            </a:pPr>
            <a:r>
              <a:rPr lang="en-US" sz="1300" dirty="0">
                <a:solidFill>
                  <a:schemeClr val="tx1"/>
                </a:solidFill>
              </a:rPr>
              <a:t>Menunggu &gt; 48 jam: ditandai tereskalasi</a:t>
            </a:r>
            <a:endParaRPr lang="en-US" sz="1300" dirty="0"/>
          </a:p>
        </p:txBody>
      </p:sp>
      <p:sp>
        <p:nvSpPr>
          <p:cNvPr id="36" name="Shape 31"/>
          <p:cNvSpPr/>
          <p:nvPr/>
        </p:nvSpPr>
        <p:spPr>
          <a:xfrm>
            <a:off x="4739564" y="4178808"/>
            <a:ext cx="228600" cy="914"/>
          </a:xfrm>
          <a:prstGeom prst="line">
            <a:avLst/>
          </a:prstGeom>
          <a:noFill/>
          <a:ln w="15875">
            <a:solidFill>
              <a:srgbClr val="5E6B7D"/>
            </a:solidFill>
            <a:prstDash val="solid"/>
            <a:tailEnd type="triangle"/>
          </a:ln>
        </p:spPr>
      </p:sp>
      <p:sp>
        <p:nvSpPr>
          <p:cNvPr id="37" name="Shape 32"/>
          <p:cNvSpPr/>
          <p:nvPr/>
        </p:nvSpPr>
        <p:spPr>
          <a:xfrm>
            <a:off x="5013884" y="370332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8" name="Text 33"/>
          <p:cNvSpPr txBox="1"/>
          <p:nvPr/>
        </p:nvSpPr>
        <p:spPr>
          <a:xfrm>
            <a:off x="5196764" y="3703320"/>
            <a:ext cx="1676324" cy="960120"/>
          </a:xfrm>
          <a:prstGeom prst="rect">
            <a:avLst/>
          </a:prstGeom>
          <a:noFill/>
          <a:ln/>
        </p:spPr>
        <p:txBody>
          <a:bodyPr wrap="square" lIns="0" tIns="0" rIns="0" bIns="0" rtlCol="0" anchor="ctr"/>
          <a:lstStyle/>
          <a:p>
            <a:pPr marL="0" indent="0">
              <a:buNone/>
            </a:pPr>
            <a:r>
              <a:rPr lang="en-US" sz="1300" dirty="0">
                <a:solidFill>
                  <a:schemeClr val="tx1"/>
                </a:solidFill>
              </a:rPr>
              <a:t>Unit tanpa Kepala Unit: Admin SDM</a:t>
            </a:r>
            <a:endParaRPr lang="en-US" sz="1300" dirty="0"/>
          </a:p>
        </p:txBody>
      </p:sp>
      <p:sp>
        <p:nvSpPr>
          <p:cNvPr id="39" name="Shape 34"/>
          <p:cNvSpPr/>
          <p:nvPr/>
        </p:nvSpPr>
        <p:spPr>
          <a:xfrm>
            <a:off x="7055968" y="4178808"/>
            <a:ext cx="228600" cy="914"/>
          </a:xfrm>
          <a:prstGeom prst="line">
            <a:avLst/>
          </a:prstGeom>
          <a:noFill/>
          <a:ln w="15875">
            <a:solidFill>
              <a:srgbClr val="5E6B7D"/>
            </a:solidFill>
            <a:prstDash val="solid"/>
            <a:tailEnd type="triangle"/>
          </a:ln>
        </p:spPr>
      </p:sp>
      <p:sp>
        <p:nvSpPr>
          <p:cNvPr id="40" name="Shape 35"/>
          <p:cNvSpPr/>
          <p:nvPr/>
        </p:nvSpPr>
        <p:spPr>
          <a:xfrm>
            <a:off x="7330288" y="370332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1" name="Text 36"/>
          <p:cNvSpPr txBox="1"/>
          <p:nvPr/>
        </p:nvSpPr>
        <p:spPr>
          <a:xfrm>
            <a:off x="7513168" y="3703320"/>
            <a:ext cx="1676324" cy="960120"/>
          </a:xfrm>
          <a:prstGeom prst="rect">
            <a:avLst/>
          </a:prstGeom>
          <a:noFill/>
          <a:ln/>
        </p:spPr>
        <p:txBody>
          <a:bodyPr wrap="square" lIns="0" tIns="0" rIns="0" bIns="0" rtlCol="0" anchor="ctr"/>
          <a:lstStyle/>
          <a:p>
            <a:pPr marL="0" indent="0">
              <a:buNone/>
            </a:pPr>
            <a:r>
              <a:rPr lang="en-US" sz="1300" dirty="0">
                <a:solidFill>
                  <a:schemeClr val="tx1"/>
                </a:solidFill>
              </a:rPr>
              <a:t>Keputusan massal dari daftar pengajuan</a:t>
            </a:r>
            <a:endParaRPr lang="en-US" sz="1300" dirty="0"/>
          </a:p>
        </p:txBody>
      </p:sp>
      <p:sp>
        <p:nvSpPr>
          <p:cNvPr id="42" name="Shape 37"/>
          <p:cNvSpPr/>
          <p:nvPr/>
        </p:nvSpPr>
        <p:spPr>
          <a:xfrm>
            <a:off x="9372371" y="4178808"/>
            <a:ext cx="228600" cy="914"/>
          </a:xfrm>
          <a:prstGeom prst="line">
            <a:avLst/>
          </a:prstGeom>
          <a:noFill/>
          <a:ln w="15875">
            <a:solidFill>
              <a:srgbClr val="5E6B7D"/>
            </a:solidFill>
            <a:prstDash val="solid"/>
            <a:tailEnd type="triangle"/>
          </a:ln>
        </p:spPr>
      </p:sp>
      <p:sp>
        <p:nvSpPr>
          <p:cNvPr id="43" name="Shape 38"/>
          <p:cNvSpPr/>
          <p:nvPr/>
        </p:nvSpPr>
        <p:spPr>
          <a:xfrm>
            <a:off x="9646691" y="3703320"/>
            <a:ext cx="1996364" cy="960120"/>
          </a:xfrm>
          <a:prstGeom prst="roundRect">
            <a:avLst>
              <a:gd name="adj" fmla="val 11429"/>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4" name="Text 39"/>
          <p:cNvSpPr txBox="1"/>
          <p:nvPr/>
        </p:nvSpPr>
        <p:spPr>
          <a:xfrm>
            <a:off x="9829571" y="3703320"/>
            <a:ext cx="1676324" cy="960120"/>
          </a:xfrm>
          <a:prstGeom prst="rect">
            <a:avLst/>
          </a:prstGeom>
          <a:noFill/>
          <a:ln/>
        </p:spPr>
        <p:txBody>
          <a:bodyPr wrap="square" lIns="0" tIns="0" rIns="0" bIns="0" rtlCol="0" anchor="ctr"/>
          <a:lstStyle/>
          <a:p>
            <a:pPr marL="0" indent="0">
              <a:buNone/>
            </a:pPr>
            <a:r>
              <a:rPr lang="en-US" sz="1300" dirty="0">
                <a:solidFill>
                  <a:schemeClr val="tx1"/>
                </a:solidFill>
              </a:rPr>
              <a:t>Semua keputusan tercatat di audit_logs</a:t>
            </a:r>
            <a:endParaRPr lang="en-US" sz="1300" dirty="0"/>
          </a:p>
        </p:txBody>
      </p:sp>
      <p:sp>
        <p:nvSpPr>
          <p:cNvPr id="45" name="Shape 40"/>
          <p:cNvSpPr/>
          <p:nvPr/>
        </p:nvSpPr>
        <p:spPr>
          <a:xfrm>
            <a:off x="548640" y="5029200"/>
            <a:ext cx="11094415" cy="1051560"/>
          </a:xfrm>
          <a:prstGeom prst="roundRect">
            <a:avLst>
              <a:gd name="adj" fmla="val 10435"/>
            </a:avLst>
          </a:prstGeom>
          <a:solidFill>
            <a:schemeClr val="tx2"/>
          </a:solidFill>
          <a:ln w="12700">
            <a:solidFill>
              <a:srgbClr val="E1E8EC"/>
            </a:solidFill>
            <a:prstDash val="solid"/>
          </a:ln>
          <a:effectLst>
            <a:outerShdw blurRad="76200" dist="19050" dir="5400000" algn="bl" rotWithShape="0">
              <a:srgbClr val="0B2A33">
                <a:alpha val="7000"/>
              </a:srgbClr>
            </a:outerShdw>
          </a:effectLst>
        </p:spPr>
      </p:sp>
      <p:sp>
        <p:nvSpPr>
          <p:cNvPr id="46" name="Text 41"/>
          <p:cNvSpPr txBox="1"/>
          <p:nvPr/>
        </p:nvSpPr>
        <p:spPr>
          <a:xfrm>
            <a:off x="868680" y="5029200"/>
            <a:ext cx="10454335" cy="1051560"/>
          </a:xfrm>
          <a:prstGeom prst="rect">
            <a:avLst/>
          </a:prstGeom>
          <a:noFill/>
          <a:ln/>
        </p:spPr>
        <p:txBody>
          <a:bodyPr wrap="square" lIns="0" tIns="0" rIns="0" bIns="0" rtlCol="0" anchor="ctr"/>
          <a:lstStyle/>
          <a:p>
            <a:pPr marL="0" indent="0">
              <a:buNone/>
            </a:pPr>
            <a:r>
              <a:rPr lang="en-US" sz="1400" b="1" dirty="0">
                <a:solidFill>
                  <a:schemeClr val="bg1"/>
                </a:solidFill>
              </a:rPr>
              <a:t>Aturan tukar shift</a:t>
            </a:r>
            <a:endParaRPr lang="en-US" sz="1400" dirty="0"/>
          </a:p>
          <a:p>
            <a:pPr marL="0" indent="0">
              <a:buNone/>
            </a:pPr>
            <a:r>
              <a:rPr lang="en-US" sz="1400" dirty="0">
                <a:solidFill>
                  <a:schemeClr val="bg1"/>
                </a:solidFill>
              </a:rPr>
              <a:t>Tanggal sama: kedua orang bertukar jenis shift (harus berbeda). Beda tanggal: masing-masing harus libur di tanggal tujuan.</a:t>
            </a:r>
            <a:endParaRPr lang="en-US" sz="1400" dirty="0"/>
          </a:p>
        </p:txBody>
      </p:sp>
      <p:sp>
        <p:nvSpPr>
          <p:cNvPr id="47"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Lupa check out ditangani tanpa check out otomatis</a:t>
            </a:r>
            <a:endParaRPr lang="en-US" sz="2800" dirty="0"/>
          </a:p>
        </p:txBody>
      </p:sp>
      <p:sp>
        <p:nvSpPr>
          <p:cNvPr id="3" name="Shape 1"/>
          <p:cNvSpPr/>
          <p:nvPr/>
        </p:nvSpPr>
        <p:spPr>
          <a:xfrm>
            <a:off x="1805940" y="2377440"/>
            <a:ext cx="8579815" cy="914"/>
          </a:xfrm>
          <a:prstGeom prst="line">
            <a:avLst/>
          </a:prstGeom>
          <a:noFill/>
          <a:ln w="38100">
            <a:solidFill>
              <a:srgbClr val="E1E8EC"/>
            </a:solidFill>
            <a:prstDash val="solid"/>
          </a:ln>
        </p:spPr>
      </p:sp>
      <p:sp>
        <p:nvSpPr>
          <p:cNvPr id="4" name="Shape 2"/>
          <p:cNvSpPr/>
          <p:nvPr/>
        </p:nvSpPr>
        <p:spPr>
          <a:xfrm>
            <a:off x="1586484" y="2157984"/>
            <a:ext cx="438912" cy="438912"/>
          </a:xfrm>
          <a:prstGeom prst="ellipse">
            <a:avLst/>
          </a:prstGeom>
          <a:solidFill>
            <a:srgbClr val="00434D"/>
          </a:solidFill>
          <a:ln w="38100">
            <a:solidFill>
              <a:schemeClr val="bg1"/>
            </a:solidFill>
            <a:prstDash val="solid"/>
          </a:ln>
        </p:spPr>
      </p:sp>
      <p:sp>
        <p:nvSpPr>
          <p:cNvPr id="5" name="Text 3"/>
          <p:cNvSpPr txBox="1"/>
          <p:nvPr/>
        </p:nvSpPr>
        <p:spPr>
          <a:xfrm>
            <a:off x="891540" y="1417320"/>
            <a:ext cx="182880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mj-lt" pitchFamily="34" charset="0"/>
                <a:ea typeface="+mj-lt" pitchFamily="34" charset="-122"/>
                <a:cs typeface="+mj-lt" pitchFamily="34" charset="-120"/>
              </a:rPr>
              <a:t>15:00</a:t>
            </a:r>
            <a:endParaRPr lang="en-US" sz="2200" dirty="0"/>
          </a:p>
        </p:txBody>
      </p:sp>
      <p:sp>
        <p:nvSpPr>
          <p:cNvPr id="6" name="Shape 4"/>
          <p:cNvSpPr/>
          <p:nvPr/>
        </p:nvSpPr>
        <p:spPr>
          <a:xfrm>
            <a:off x="548640" y="2880360"/>
            <a:ext cx="2514600" cy="1874520"/>
          </a:xfrm>
          <a:prstGeom prst="roundRect">
            <a:avLst>
              <a:gd name="adj" fmla="val 58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7" name="Text 5"/>
          <p:cNvSpPr txBox="1"/>
          <p:nvPr/>
        </p:nvSpPr>
        <p:spPr>
          <a:xfrm>
            <a:off x="777240" y="3063240"/>
            <a:ext cx="2057400" cy="365760"/>
          </a:xfrm>
          <a:prstGeom prst="rect">
            <a:avLst/>
          </a:prstGeom>
          <a:noFill/>
          <a:ln/>
        </p:spPr>
        <p:txBody>
          <a:bodyPr wrap="square" lIns="0" tIns="0" rIns="0" bIns="0" rtlCol="0" anchor="t"/>
          <a:lstStyle/>
          <a:p>
            <a:pPr marL="0" indent="0">
              <a:buNone/>
            </a:pPr>
            <a:r>
              <a:rPr lang="en-US" sz="1700" b="1" dirty="0">
                <a:solidFill>
                  <a:schemeClr val="tx2"/>
                </a:solidFill>
              </a:rPr>
              <a:t>Shift selesai</a:t>
            </a:r>
            <a:endParaRPr lang="en-US" sz="1700" dirty="0"/>
          </a:p>
        </p:txBody>
      </p:sp>
      <p:sp>
        <p:nvSpPr>
          <p:cNvPr id="8" name="Text 6"/>
          <p:cNvSpPr txBox="1"/>
          <p:nvPr/>
        </p:nvSpPr>
        <p:spPr>
          <a:xfrm>
            <a:off x="777240" y="3474720"/>
            <a:ext cx="2057400" cy="1143000"/>
          </a:xfrm>
          <a:prstGeom prst="rect">
            <a:avLst/>
          </a:prstGeom>
          <a:noFill/>
          <a:ln/>
        </p:spPr>
        <p:txBody>
          <a:bodyPr wrap="square" lIns="0" tIns="0" rIns="0" bIns="0" rtlCol="0" anchor="t"/>
          <a:lstStyle/>
          <a:p>
            <a:pPr marL="0" indent="0">
              <a:buNone/>
            </a:pPr>
            <a:r>
              <a:rPr lang="en-US" sz="1400" dirty="0">
                <a:solidFill>
                  <a:schemeClr val="tx1"/>
                </a:solidFill>
              </a:rPr>
              <a:t>Jendela check out sudah buka sejak 14:00</a:t>
            </a:r>
            <a:endParaRPr lang="en-US" sz="1400" dirty="0"/>
          </a:p>
        </p:txBody>
      </p:sp>
      <p:sp>
        <p:nvSpPr>
          <p:cNvPr id="9" name="Shape 7"/>
          <p:cNvSpPr/>
          <p:nvPr/>
        </p:nvSpPr>
        <p:spPr>
          <a:xfrm>
            <a:off x="4446422" y="2157984"/>
            <a:ext cx="438912" cy="438912"/>
          </a:xfrm>
          <a:prstGeom prst="ellipse">
            <a:avLst/>
          </a:prstGeom>
          <a:solidFill>
            <a:srgbClr val="007A87"/>
          </a:solidFill>
          <a:ln w="38100">
            <a:solidFill>
              <a:schemeClr val="bg1"/>
            </a:solidFill>
            <a:prstDash val="solid"/>
          </a:ln>
        </p:spPr>
      </p:sp>
      <p:sp>
        <p:nvSpPr>
          <p:cNvPr id="10" name="Text 8"/>
          <p:cNvSpPr txBox="1"/>
          <p:nvPr/>
        </p:nvSpPr>
        <p:spPr>
          <a:xfrm>
            <a:off x="3751478" y="1417320"/>
            <a:ext cx="182880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mj-lt" pitchFamily="34" charset="0"/>
                <a:ea typeface="+mj-lt" pitchFamily="34" charset="-122"/>
                <a:cs typeface="+mj-lt" pitchFamily="34" charset="-120"/>
              </a:rPr>
              <a:t>15:30</a:t>
            </a:r>
            <a:endParaRPr lang="en-US" sz="2200" dirty="0"/>
          </a:p>
        </p:txBody>
      </p:sp>
      <p:sp>
        <p:nvSpPr>
          <p:cNvPr id="11" name="Shape 9"/>
          <p:cNvSpPr/>
          <p:nvPr/>
        </p:nvSpPr>
        <p:spPr>
          <a:xfrm>
            <a:off x="3408578" y="2880360"/>
            <a:ext cx="2514600" cy="1874520"/>
          </a:xfrm>
          <a:prstGeom prst="roundRect">
            <a:avLst>
              <a:gd name="adj" fmla="val 58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2" name="Text 10"/>
          <p:cNvSpPr txBox="1"/>
          <p:nvPr/>
        </p:nvSpPr>
        <p:spPr>
          <a:xfrm>
            <a:off x="3637178" y="3063240"/>
            <a:ext cx="2057400" cy="365760"/>
          </a:xfrm>
          <a:prstGeom prst="rect">
            <a:avLst/>
          </a:prstGeom>
          <a:noFill/>
          <a:ln/>
        </p:spPr>
        <p:txBody>
          <a:bodyPr wrap="square" lIns="0" tIns="0" rIns="0" bIns="0" rtlCol="0" anchor="t"/>
          <a:lstStyle/>
          <a:p>
            <a:pPr marL="0" indent="0">
              <a:buNone/>
            </a:pPr>
            <a:r>
              <a:rPr lang="en-US" sz="1700" b="1" dirty="0">
                <a:solidFill>
                  <a:schemeClr val="tx2"/>
                </a:solidFill>
              </a:rPr>
              <a:t>Pengingat</a:t>
            </a:r>
            <a:endParaRPr lang="en-US" sz="1700" dirty="0"/>
          </a:p>
        </p:txBody>
      </p:sp>
      <p:sp>
        <p:nvSpPr>
          <p:cNvPr id="13" name="Text 11"/>
          <p:cNvSpPr txBox="1"/>
          <p:nvPr/>
        </p:nvSpPr>
        <p:spPr>
          <a:xfrm>
            <a:off x="3637178" y="3474720"/>
            <a:ext cx="2057400" cy="1143000"/>
          </a:xfrm>
          <a:prstGeom prst="rect">
            <a:avLst/>
          </a:prstGeom>
          <a:noFill/>
          <a:ln/>
        </p:spPr>
        <p:txBody>
          <a:bodyPr wrap="square" lIns="0" tIns="0" rIns="0" bIns="0" rtlCol="0" anchor="t"/>
          <a:lstStyle/>
          <a:p>
            <a:pPr marL="0" indent="0">
              <a:buNone/>
            </a:pPr>
            <a:r>
              <a:rPr lang="en-US" sz="1400" dirty="0">
                <a:solidFill>
                  <a:schemeClr val="tx1"/>
                </a:solidFill>
              </a:rPr>
              <a:t>Push ke karyawan yang belum check out (sekali)</a:t>
            </a:r>
            <a:endParaRPr lang="en-US" sz="1400" dirty="0"/>
          </a:p>
        </p:txBody>
      </p:sp>
      <p:sp>
        <p:nvSpPr>
          <p:cNvPr id="14" name="Shape 12"/>
          <p:cNvSpPr/>
          <p:nvPr/>
        </p:nvSpPr>
        <p:spPr>
          <a:xfrm>
            <a:off x="7306361" y="2157984"/>
            <a:ext cx="438912" cy="438912"/>
          </a:xfrm>
          <a:prstGeom prst="ellipse">
            <a:avLst/>
          </a:prstGeom>
          <a:solidFill>
            <a:srgbClr val="F2555A"/>
          </a:solidFill>
          <a:ln w="38100">
            <a:solidFill>
              <a:schemeClr val="bg1"/>
            </a:solidFill>
            <a:prstDash val="solid"/>
          </a:ln>
        </p:spPr>
      </p:sp>
      <p:sp>
        <p:nvSpPr>
          <p:cNvPr id="15" name="Text 13"/>
          <p:cNvSpPr txBox="1"/>
          <p:nvPr/>
        </p:nvSpPr>
        <p:spPr>
          <a:xfrm>
            <a:off x="6611417" y="1417320"/>
            <a:ext cx="182880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mj-lt" pitchFamily="34" charset="0"/>
                <a:ea typeface="+mj-lt" pitchFamily="34" charset="-122"/>
                <a:cs typeface="+mj-lt" pitchFamily="34" charset="-120"/>
              </a:rPr>
              <a:t>17:00</a:t>
            </a:r>
            <a:endParaRPr lang="en-US" sz="2200" dirty="0"/>
          </a:p>
        </p:txBody>
      </p:sp>
      <p:sp>
        <p:nvSpPr>
          <p:cNvPr id="16" name="Shape 14"/>
          <p:cNvSpPr/>
          <p:nvPr/>
        </p:nvSpPr>
        <p:spPr>
          <a:xfrm>
            <a:off x="6268517" y="2880360"/>
            <a:ext cx="2514600" cy="1874520"/>
          </a:xfrm>
          <a:prstGeom prst="roundRect">
            <a:avLst>
              <a:gd name="adj" fmla="val 58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7" name="Text 15"/>
          <p:cNvSpPr txBox="1"/>
          <p:nvPr/>
        </p:nvSpPr>
        <p:spPr>
          <a:xfrm>
            <a:off x="6497117" y="3063240"/>
            <a:ext cx="2057400" cy="365760"/>
          </a:xfrm>
          <a:prstGeom prst="rect">
            <a:avLst/>
          </a:prstGeom>
          <a:noFill/>
          <a:ln/>
        </p:spPr>
        <p:txBody>
          <a:bodyPr wrap="square" lIns="0" tIns="0" rIns="0" bIns="0" rtlCol="0" anchor="t"/>
          <a:lstStyle/>
          <a:p>
            <a:pPr marL="0" indent="0">
              <a:buNone/>
            </a:pPr>
            <a:r>
              <a:rPr lang="en-US" sz="1700" b="1" dirty="0">
                <a:solidFill>
                  <a:schemeClr val="tx2"/>
                </a:solidFill>
              </a:rPr>
              <a:t>Jendela tutup</a:t>
            </a:r>
            <a:endParaRPr lang="en-US" sz="1700" dirty="0"/>
          </a:p>
        </p:txBody>
      </p:sp>
      <p:sp>
        <p:nvSpPr>
          <p:cNvPr id="18" name="Text 16"/>
          <p:cNvSpPr txBox="1"/>
          <p:nvPr/>
        </p:nvSpPr>
        <p:spPr>
          <a:xfrm>
            <a:off x="6497117" y="3474720"/>
            <a:ext cx="2057400" cy="1143000"/>
          </a:xfrm>
          <a:prstGeom prst="rect">
            <a:avLst/>
          </a:prstGeom>
          <a:noFill/>
          <a:ln/>
        </p:spPr>
        <p:txBody>
          <a:bodyPr wrap="square" lIns="0" tIns="0" rIns="0" bIns="0" rtlCol="0" anchor="t"/>
          <a:lstStyle/>
          <a:p>
            <a:pPr marL="0" indent="0">
              <a:buNone/>
            </a:pPr>
            <a:r>
              <a:rPr lang="en-US" sz="1400" dirty="0">
                <a:solidFill>
                  <a:schemeClr val="tx1"/>
                </a:solidFill>
              </a:rPr>
              <a:t>Status tanpa_pulang; karyawan &amp; Kepala Unit diberi tahu</a:t>
            </a:r>
            <a:endParaRPr lang="en-US" sz="1400" dirty="0"/>
          </a:p>
        </p:txBody>
      </p:sp>
      <p:sp>
        <p:nvSpPr>
          <p:cNvPr id="19" name="Shape 17"/>
          <p:cNvSpPr/>
          <p:nvPr/>
        </p:nvSpPr>
        <p:spPr>
          <a:xfrm>
            <a:off x="10166299" y="2157984"/>
            <a:ext cx="438912" cy="438912"/>
          </a:xfrm>
          <a:prstGeom prst="ellipse">
            <a:avLst/>
          </a:prstGeom>
          <a:solidFill>
            <a:srgbClr val="2E9E6B"/>
          </a:solidFill>
          <a:ln w="38100">
            <a:solidFill>
              <a:schemeClr val="bg1"/>
            </a:solidFill>
            <a:prstDash val="solid"/>
          </a:ln>
        </p:spPr>
      </p:sp>
      <p:sp>
        <p:nvSpPr>
          <p:cNvPr id="20" name="Text 18"/>
          <p:cNvSpPr txBox="1"/>
          <p:nvPr/>
        </p:nvSpPr>
        <p:spPr>
          <a:xfrm>
            <a:off x="9471355" y="1417320"/>
            <a:ext cx="1828800" cy="457200"/>
          </a:xfrm>
          <a:prstGeom prst="rect">
            <a:avLst/>
          </a:prstGeom>
          <a:noFill/>
          <a:ln/>
        </p:spPr>
        <p:txBody>
          <a:bodyPr wrap="square" lIns="0" tIns="0" rIns="0" bIns="0" rtlCol="0" anchor="t"/>
          <a:lstStyle/>
          <a:p>
            <a:pPr marL="0" indent="0" algn="ctr">
              <a:buNone/>
            </a:pPr>
            <a:r>
              <a:rPr lang="en-US" sz="2200" b="1" dirty="0">
                <a:solidFill>
                  <a:schemeClr val="tx2"/>
                </a:solidFill>
                <a:latin typeface="+mj-lt" pitchFamily="34" charset="0"/>
                <a:ea typeface="+mj-lt" pitchFamily="34" charset="-122"/>
                <a:cs typeface="+mj-lt" pitchFamily="34" charset="-120"/>
              </a:rPr>
              <a:t>≤ 62 hari</a:t>
            </a:r>
            <a:endParaRPr lang="en-US" sz="2200" dirty="0"/>
          </a:p>
        </p:txBody>
      </p:sp>
      <p:sp>
        <p:nvSpPr>
          <p:cNvPr id="21" name="Shape 19"/>
          <p:cNvSpPr/>
          <p:nvPr/>
        </p:nvSpPr>
        <p:spPr>
          <a:xfrm>
            <a:off x="9128455" y="2880360"/>
            <a:ext cx="2514600" cy="1874520"/>
          </a:xfrm>
          <a:prstGeom prst="roundRect">
            <a:avLst>
              <a:gd name="adj" fmla="val 5854"/>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2" name="Text 20"/>
          <p:cNvSpPr txBox="1"/>
          <p:nvPr/>
        </p:nvSpPr>
        <p:spPr>
          <a:xfrm>
            <a:off x="9357055" y="3063240"/>
            <a:ext cx="2057400" cy="365760"/>
          </a:xfrm>
          <a:prstGeom prst="rect">
            <a:avLst/>
          </a:prstGeom>
          <a:noFill/>
          <a:ln/>
        </p:spPr>
        <p:txBody>
          <a:bodyPr wrap="square" lIns="0" tIns="0" rIns="0" bIns="0" rtlCol="0" anchor="t"/>
          <a:lstStyle/>
          <a:p>
            <a:pPr marL="0" indent="0">
              <a:buNone/>
            </a:pPr>
            <a:r>
              <a:rPr lang="en-US" sz="1700" b="1" dirty="0">
                <a:solidFill>
                  <a:schemeClr val="tx2"/>
                </a:solidFill>
              </a:rPr>
              <a:t>Koreksi</a:t>
            </a:r>
            <a:endParaRPr lang="en-US" sz="1700" dirty="0"/>
          </a:p>
        </p:txBody>
      </p:sp>
      <p:sp>
        <p:nvSpPr>
          <p:cNvPr id="23" name="Text 21"/>
          <p:cNvSpPr txBox="1"/>
          <p:nvPr/>
        </p:nvSpPr>
        <p:spPr>
          <a:xfrm>
            <a:off x="9357055" y="3474720"/>
            <a:ext cx="2057400" cy="1143000"/>
          </a:xfrm>
          <a:prstGeom prst="rect">
            <a:avLst/>
          </a:prstGeom>
          <a:noFill/>
          <a:ln/>
        </p:spPr>
        <p:txBody>
          <a:bodyPr wrap="square" lIns="0" tIns="0" rIns="0" bIns="0" rtlCol="0" anchor="t"/>
          <a:lstStyle/>
          <a:p>
            <a:pPr marL="0" indent="0">
              <a:buNone/>
            </a:pPr>
            <a:r>
              <a:rPr lang="en-US" sz="1400" dirty="0">
                <a:solidFill>
                  <a:schemeClr val="tx1"/>
                </a:solidFill>
              </a:rPr>
              <a:t>Kepala Unit mengisi jam + alasan; tercatat di audit</a:t>
            </a:r>
            <a:endParaRPr lang="en-US" sz="1400" dirty="0"/>
          </a:p>
        </p:txBody>
      </p:sp>
      <p:sp>
        <p:nvSpPr>
          <p:cNvPr id="24" name="Text 22"/>
          <p:cNvSpPr txBox="1"/>
          <p:nvPr/>
        </p:nvSpPr>
        <p:spPr>
          <a:xfrm>
            <a:off x="548640" y="5166360"/>
            <a:ext cx="11094415" cy="731520"/>
          </a:xfrm>
          <a:prstGeom prst="rect">
            <a:avLst/>
          </a:prstGeom>
          <a:noFill/>
          <a:ln/>
        </p:spPr>
        <p:txBody>
          <a:bodyPr wrap="square" lIns="0" tIns="0" rIns="0" bIns="0" rtlCol="0" anchor="t"/>
          <a:lstStyle/>
          <a:p>
            <a:pPr marL="0" indent="0">
              <a:buNone/>
            </a:pPr>
            <a:r>
              <a:rPr lang="en-US" sz="1400" dirty="0">
                <a:solidFill>
                  <a:schemeClr val="accent5"/>
                </a:solidFill>
              </a:rPr>
              <a:t>Contoh shift Pagi 07:00–15:00 dengan jendela check out 14:00–17:00. Shift malam memakai tanggal mulai, sehingga check out dini hari tetap masuk ke hari yang benar.</a:t>
            </a:r>
            <a:endParaRPr lang="en-US" sz="1400" dirty="0"/>
          </a:p>
        </p:txBody>
      </p:sp>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1874520"/>
            <a:ext cx="2743200" cy="548640"/>
          </a:xfrm>
          <a:prstGeom prst="rect">
            <a:avLst/>
          </a:prstGeom>
          <a:noFill/>
          <a:ln/>
        </p:spPr>
        <p:txBody>
          <a:bodyPr wrap="square" lIns="0" tIns="0" rIns="0" bIns="0" rtlCol="0" anchor="t"/>
          <a:lstStyle/>
          <a:p>
            <a:pPr marL="0" indent="0">
              <a:buNone/>
            </a:pPr>
            <a:r>
              <a:rPr lang="en-US" sz="2000" b="1" dirty="0">
                <a:solidFill>
                  <a:srgbClr val="D5ECEF"/>
                </a:solidFill>
              </a:rPr>
              <a:t>06</a:t>
            </a:r>
            <a:endParaRPr lang="en-US" sz="2000" dirty="0"/>
          </a:p>
        </p:txBody>
      </p:sp>
      <p:sp>
        <p:nvSpPr>
          <p:cNvPr id="3" name="Text 1"/>
          <p:cNvSpPr>
            <a:spLocks noGrp="1"/>
          </p:cNvSpPr>
          <p:nvPr>
            <p:ph type="title" idx="101" hasCustomPrompt="1"/>
          </p:nvPr>
        </p:nvSpPr>
        <p:spPr>
          <a:xfrm>
            <a:off x="548640" y="2514600"/>
            <a:ext cx="6583680" cy="914400"/>
          </a:xfrm>
          <a:prstGeom prst="rect">
            <a:avLst/>
          </a:prstGeom>
          <a:noFill/>
          <a:ln/>
        </p:spPr>
        <p:txBody>
          <a:bodyPr wrap="square" lIns="0" tIns="0" rIns="0" bIns="0" rtlCol="0" anchor="ctr"/>
          <a:lstStyle/>
          <a:p>
            <a:pPr marL="0" indent="0" algn="l">
              <a:buNone/>
            </a:pPr>
            <a:r>
              <a:rPr lang="en-US" sz="5400" b="1" dirty="0">
                <a:solidFill>
                  <a:schemeClr val="bg1"/>
                </a:solidFill>
                <a:latin typeface="Aptos Display" pitchFamily="34" charset="0"/>
                <a:ea typeface="Aptos Display" pitchFamily="34" charset="-122"/>
                <a:cs typeface="Aptos Display" pitchFamily="34" charset="-120"/>
              </a:rPr>
              <a:t>Fitur</a:t>
            </a:r>
            <a:endParaRPr lang="en-US" sz="5400" dirty="0"/>
          </a:p>
        </p:txBody>
      </p:sp>
      <p:sp>
        <p:nvSpPr>
          <p:cNvPr id="4" name="Text 1"/>
          <p:cNvSpPr>
            <a:spLocks noGrp="1"/>
          </p:cNvSpPr>
          <p:nvPr>
            <p:ph type="body" idx="102" hasCustomPrompt="1"/>
          </p:nvPr>
        </p:nvSpPr>
        <p:spPr>
          <a:xfrm>
            <a:off x="548640" y="3520440"/>
            <a:ext cx="6035040" cy="914400"/>
          </a:xfrm>
          <a:prstGeom prst="rect">
            <a:avLst/>
          </a:prstGeom>
          <a:noFill/>
          <a:ln/>
        </p:spPr>
        <p:txBody>
          <a:bodyPr wrap="square" lIns="0" tIns="0" rIns="0" bIns="0" rtlCol="0" anchor="t"/>
          <a:lstStyle/>
          <a:p>
            <a:pPr marL="0" indent="0" algn="l">
              <a:buNone/>
            </a:pPr>
            <a:r>
              <a:rPr lang="en-US" sz="2000" dirty="0">
                <a:solidFill>
                  <a:srgbClr val="D5ECEF"/>
                </a:solidFill>
              </a:rPr>
              <a:t>Seluruh fitur aplikasi karyawan, dasbor, dan layanan sistem</a:t>
            </a:r>
            <a:endParaRPr lang="en-US" sz="2000" dirty="0"/>
          </a:p>
        </p:txBody>
      </p:sp>
      <p:sp>
        <p:nvSpPr>
          <p:cNvPr id="5" name="Shape 3"/>
          <p:cNvSpPr/>
          <p:nvPr/>
        </p:nvSpPr>
        <p:spPr>
          <a:xfrm>
            <a:off x="7818120" y="1417320"/>
            <a:ext cx="1005840" cy="1005840"/>
          </a:xfrm>
          <a:prstGeom prst="roundRect">
            <a:avLst>
              <a:gd name="adj" fmla="val 22000"/>
            </a:avLst>
          </a:prstGeom>
          <a:solidFill>
            <a:schemeClr val="tx2"/>
          </a:solidFill>
          <a:ln/>
        </p:spPr>
      </p:sp>
      <p:pic>
        <p:nvPicPr>
          <p:cNvPr id="6" name="Image 0" descr="preencoded.png"/>
          <p:cNvPicPr>
            <a:picLocks noChangeAspect="1"/>
          </p:cNvPicPr>
          <p:nvPr/>
        </p:nvPicPr>
        <p:blipFill>
          <a:blip r:embed="rId3"/>
          <a:stretch>
            <a:fillRect/>
          </a:stretch>
        </p:blipFill>
        <p:spPr>
          <a:xfrm>
            <a:off x="8069580" y="1668780"/>
            <a:ext cx="502920" cy="502920"/>
          </a:xfrm>
          <a:prstGeom prst="rect">
            <a:avLst/>
          </a:prstGeom>
        </p:spPr>
      </p:pic>
      <p:sp>
        <p:nvSpPr>
          <p:cNvPr id="7" name="Shape 4"/>
          <p:cNvSpPr/>
          <p:nvPr/>
        </p:nvSpPr>
        <p:spPr>
          <a:xfrm>
            <a:off x="9025128" y="1417320"/>
            <a:ext cx="1005840" cy="1005840"/>
          </a:xfrm>
          <a:prstGeom prst="roundRect">
            <a:avLst>
              <a:gd name="adj" fmla="val 22000"/>
            </a:avLst>
          </a:prstGeom>
          <a:solidFill>
            <a:schemeClr val="bg1">
              <a:alpha val="12000"/>
            </a:schemeClr>
          </a:solidFill>
          <a:ln/>
        </p:spPr>
      </p:sp>
      <p:sp>
        <p:nvSpPr>
          <p:cNvPr id="8" name="Shape 5"/>
          <p:cNvSpPr/>
          <p:nvPr/>
        </p:nvSpPr>
        <p:spPr>
          <a:xfrm>
            <a:off x="10232136" y="1417320"/>
            <a:ext cx="1005840" cy="1005840"/>
          </a:xfrm>
          <a:prstGeom prst="roundRect">
            <a:avLst>
              <a:gd name="adj" fmla="val 22000"/>
            </a:avLst>
          </a:prstGeom>
          <a:solidFill>
            <a:schemeClr val="accent3"/>
          </a:solidFill>
          <a:ln/>
        </p:spPr>
      </p:sp>
      <p:pic>
        <p:nvPicPr>
          <p:cNvPr id="9" name="Image 1" descr="preencoded.png"/>
          <p:cNvPicPr>
            <a:picLocks noChangeAspect="1"/>
          </p:cNvPicPr>
          <p:nvPr/>
        </p:nvPicPr>
        <p:blipFill>
          <a:blip r:embed="rId4"/>
          <a:stretch>
            <a:fillRect/>
          </a:stretch>
        </p:blipFill>
        <p:spPr>
          <a:xfrm>
            <a:off x="10483596" y="1668780"/>
            <a:ext cx="502920" cy="502920"/>
          </a:xfrm>
          <a:prstGeom prst="rect">
            <a:avLst/>
          </a:prstGeom>
        </p:spPr>
      </p:pic>
      <p:sp>
        <p:nvSpPr>
          <p:cNvPr id="10" name="Shape 6"/>
          <p:cNvSpPr/>
          <p:nvPr/>
        </p:nvSpPr>
        <p:spPr>
          <a:xfrm>
            <a:off x="7818120" y="2624328"/>
            <a:ext cx="1005840" cy="1005840"/>
          </a:xfrm>
          <a:prstGeom prst="roundRect">
            <a:avLst>
              <a:gd name="adj" fmla="val 22000"/>
            </a:avLst>
          </a:prstGeom>
          <a:solidFill>
            <a:schemeClr val="bg1">
              <a:alpha val="12000"/>
            </a:schemeClr>
          </a:solidFill>
          <a:ln/>
        </p:spPr>
      </p:sp>
      <p:sp>
        <p:nvSpPr>
          <p:cNvPr id="11" name="Shape 7"/>
          <p:cNvSpPr/>
          <p:nvPr/>
        </p:nvSpPr>
        <p:spPr>
          <a:xfrm>
            <a:off x="9025128" y="2624328"/>
            <a:ext cx="1005840" cy="1005840"/>
          </a:xfrm>
          <a:prstGeom prst="roundRect">
            <a:avLst>
              <a:gd name="adj" fmla="val 22000"/>
            </a:avLst>
          </a:prstGeom>
          <a:solidFill>
            <a:schemeClr val="bg1"/>
          </a:solidFill>
          <a:ln/>
        </p:spPr>
      </p:sp>
      <p:pic>
        <p:nvPicPr>
          <p:cNvPr id="12" name="Image 2" descr="Logo ABiTA"/>
          <p:cNvPicPr>
            <a:picLocks noChangeAspect="1"/>
          </p:cNvPicPr>
          <p:nvPr/>
        </p:nvPicPr>
        <p:blipFill>
          <a:blip r:embed="rId5"/>
          <a:stretch>
            <a:fillRect/>
          </a:stretch>
        </p:blipFill>
        <p:spPr>
          <a:xfrm>
            <a:off x="9145829" y="2745029"/>
            <a:ext cx="764438" cy="764438"/>
          </a:xfrm>
          <a:prstGeom prst="rect">
            <a:avLst/>
          </a:prstGeom>
        </p:spPr>
      </p:pic>
      <p:sp>
        <p:nvSpPr>
          <p:cNvPr id="13" name="Shape 8"/>
          <p:cNvSpPr/>
          <p:nvPr/>
        </p:nvSpPr>
        <p:spPr>
          <a:xfrm>
            <a:off x="10232136" y="2624328"/>
            <a:ext cx="1005840" cy="1005840"/>
          </a:xfrm>
          <a:prstGeom prst="roundRect">
            <a:avLst>
              <a:gd name="adj" fmla="val 22000"/>
            </a:avLst>
          </a:prstGeom>
          <a:solidFill>
            <a:schemeClr val="bg1">
              <a:alpha val="12000"/>
            </a:schemeClr>
          </a:solidFill>
          <a:ln/>
        </p:spPr>
      </p:sp>
      <p:sp>
        <p:nvSpPr>
          <p:cNvPr id="14" name="Shape 9"/>
          <p:cNvSpPr/>
          <p:nvPr/>
        </p:nvSpPr>
        <p:spPr>
          <a:xfrm>
            <a:off x="7818120" y="3831336"/>
            <a:ext cx="1005840" cy="1005840"/>
          </a:xfrm>
          <a:prstGeom prst="roundRect">
            <a:avLst>
              <a:gd name="adj" fmla="val 22000"/>
            </a:avLst>
          </a:prstGeom>
          <a:solidFill>
            <a:schemeClr val="accent3"/>
          </a:solidFill>
          <a:ln/>
        </p:spPr>
      </p:sp>
      <p:pic>
        <p:nvPicPr>
          <p:cNvPr id="15" name="Image 3" descr="preencoded.png"/>
          <p:cNvPicPr>
            <a:picLocks noChangeAspect="1"/>
          </p:cNvPicPr>
          <p:nvPr/>
        </p:nvPicPr>
        <p:blipFill>
          <a:blip r:embed="rId6"/>
          <a:stretch>
            <a:fillRect/>
          </a:stretch>
        </p:blipFill>
        <p:spPr>
          <a:xfrm>
            <a:off x="8069580" y="4082796"/>
            <a:ext cx="502920" cy="502920"/>
          </a:xfrm>
          <a:prstGeom prst="rect">
            <a:avLst/>
          </a:prstGeom>
        </p:spPr>
      </p:pic>
      <p:sp>
        <p:nvSpPr>
          <p:cNvPr id="16" name="Shape 10"/>
          <p:cNvSpPr/>
          <p:nvPr/>
        </p:nvSpPr>
        <p:spPr>
          <a:xfrm>
            <a:off x="9025128" y="3831336"/>
            <a:ext cx="1005840" cy="1005840"/>
          </a:xfrm>
          <a:prstGeom prst="roundRect">
            <a:avLst>
              <a:gd name="adj" fmla="val 22000"/>
            </a:avLst>
          </a:prstGeom>
          <a:solidFill>
            <a:schemeClr val="bg1">
              <a:alpha val="12000"/>
            </a:schemeClr>
          </a:solidFill>
          <a:ln/>
        </p:spPr>
      </p:sp>
      <p:sp>
        <p:nvSpPr>
          <p:cNvPr id="17" name="Shape 11"/>
          <p:cNvSpPr/>
          <p:nvPr/>
        </p:nvSpPr>
        <p:spPr>
          <a:xfrm>
            <a:off x="10232136" y="3831336"/>
            <a:ext cx="1005840" cy="1005840"/>
          </a:xfrm>
          <a:prstGeom prst="roundRect">
            <a:avLst>
              <a:gd name="adj" fmla="val 22000"/>
            </a:avLst>
          </a:prstGeom>
          <a:solidFill>
            <a:schemeClr val="tx2"/>
          </a:solidFill>
          <a:ln/>
        </p:spPr>
      </p:sp>
      <p:pic>
        <p:nvPicPr>
          <p:cNvPr id="18" name="Image 4" descr="preencoded.png"/>
          <p:cNvPicPr>
            <a:picLocks noChangeAspect="1"/>
          </p:cNvPicPr>
          <p:nvPr/>
        </p:nvPicPr>
        <p:blipFill>
          <a:blip r:embed="rId7"/>
          <a:stretch>
            <a:fillRect/>
          </a:stretch>
        </p:blipFill>
        <p:spPr>
          <a:xfrm>
            <a:off x="10483596" y="4082796"/>
            <a:ext cx="502920" cy="502920"/>
          </a:xfrm>
          <a:prstGeom prst="rect">
            <a:avLst/>
          </a:prstGeom>
        </p:spPr>
      </p:pic>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D5ECE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Peta fitur</a:t>
            </a:r>
            <a:endParaRPr lang="en-US" sz="2800" dirty="0"/>
          </a:p>
        </p:txBody>
      </p:sp>
      <p:sp>
        <p:nvSpPr>
          <p:cNvPr id="3" name="Shape 1"/>
          <p:cNvSpPr/>
          <p:nvPr/>
        </p:nvSpPr>
        <p:spPr>
          <a:xfrm>
            <a:off x="548640" y="1325880"/>
            <a:ext cx="3527450" cy="480060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554480"/>
            <a:ext cx="566928" cy="566928"/>
          </a:xfrm>
          <a:prstGeom prst="roundRect">
            <a:avLst>
              <a:gd name="adj" fmla="val 22000"/>
            </a:avLst>
          </a:prstGeom>
          <a:solidFill>
            <a:schemeClr val="accent3"/>
          </a:solidFill>
          <a:ln/>
        </p:spPr>
      </p:sp>
      <p:pic>
        <p:nvPicPr>
          <p:cNvPr id="5" name="Image 0" descr="preencoded.png"/>
          <p:cNvPicPr>
            <a:picLocks noChangeAspect="1"/>
          </p:cNvPicPr>
          <p:nvPr/>
        </p:nvPicPr>
        <p:blipFill>
          <a:blip r:embed="rId3"/>
          <a:stretch>
            <a:fillRect/>
          </a:stretch>
        </p:blipFill>
        <p:spPr>
          <a:xfrm>
            <a:off x="964692" y="1696212"/>
            <a:ext cx="283464" cy="283464"/>
          </a:xfrm>
          <a:prstGeom prst="rect">
            <a:avLst/>
          </a:prstGeom>
        </p:spPr>
      </p:pic>
      <p:sp>
        <p:nvSpPr>
          <p:cNvPr id="6" name="Text 3"/>
          <p:cNvSpPr txBox="1"/>
          <p:nvPr/>
        </p:nvSpPr>
        <p:spPr>
          <a:xfrm>
            <a:off x="1554480" y="1554480"/>
            <a:ext cx="2338730" cy="566928"/>
          </a:xfrm>
          <a:prstGeom prst="rect">
            <a:avLst/>
          </a:prstGeom>
          <a:noFill/>
          <a:ln/>
        </p:spPr>
        <p:txBody>
          <a:bodyPr wrap="square" lIns="0" tIns="0" rIns="0" bIns="0" rtlCol="0" anchor="ctr"/>
          <a:lstStyle/>
          <a:p>
            <a:pPr marL="0" indent="0">
              <a:buNone/>
            </a:pPr>
            <a:r>
              <a:rPr lang="en-US" sz="1600" b="1" dirty="0">
                <a:solidFill>
                  <a:schemeClr val="tx2"/>
                </a:solidFill>
              </a:rPr>
              <a:t>Aplikasi karyawan</a:t>
            </a:r>
            <a:endParaRPr lang="en-US" sz="1600" dirty="0"/>
          </a:p>
        </p:txBody>
      </p:sp>
      <p:sp>
        <p:nvSpPr>
          <p:cNvPr id="7" name="Shape 4"/>
          <p:cNvSpPr/>
          <p:nvPr/>
        </p:nvSpPr>
        <p:spPr>
          <a:xfrm>
            <a:off x="822960" y="2331720"/>
            <a:ext cx="2978810" cy="384048"/>
          </a:xfrm>
          <a:prstGeom prst="roundRect">
            <a:avLst>
              <a:gd name="adj" fmla="val 19048"/>
            </a:avLst>
          </a:prstGeom>
          <a:solidFill>
            <a:schemeClr val="bg2"/>
          </a:solidFill>
          <a:ln/>
        </p:spPr>
      </p:sp>
      <p:pic>
        <p:nvPicPr>
          <p:cNvPr id="8" name="Image 1" descr="preencoded.png"/>
          <p:cNvPicPr>
            <a:picLocks noChangeAspect="1"/>
          </p:cNvPicPr>
          <p:nvPr/>
        </p:nvPicPr>
        <p:blipFill>
          <a:blip r:embed="rId4"/>
          <a:stretch>
            <a:fillRect/>
          </a:stretch>
        </p:blipFill>
        <p:spPr>
          <a:xfrm>
            <a:off x="941832" y="2414016"/>
            <a:ext cx="219456" cy="219456"/>
          </a:xfrm>
          <a:prstGeom prst="rect">
            <a:avLst/>
          </a:prstGeom>
        </p:spPr>
      </p:pic>
      <p:sp>
        <p:nvSpPr>
          <p:cNvPr id="9" name="Text 5"/>
          <p:cNvSpPr txBox="1"/>
          <p:nvPr/>
        </p:nvSpPr>
        <p:spPr>
          <a:xfrm>
            <a:off x="1298448" y="2331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Presensi wajah &amp; lokasi</a:t>
            </a:r>
            <a:endParaRPr lang="en-US" sz="1350" dirty="0"/>
          </a:p>
        </p:txBody>
      </p:sp>
      <p:sp>
        <p:nvSpPr>
          <p:cNvPr id="10" name="Shape 6"/>
          <p:cNvSpPr/>
          <p:nvPr/>
        </p:nvSpPr>
        <p:spPr>
          <a:xfrm>
            <a:off x="822960" y="2788920"/>
            <a:ext cx="2978810" cy="384048"/>
          </a:xfrm>
          <a:prstGeom prst="roundRect">
            <a:avLst>
              <a:gd name="adj" fmla="val 19048"/>
            </a:avLst>
          </a:prstGeom>
          <a:solidFill>
            <a:schemeClr val="bg2"/>
          </a:solidFill>
          <a:ln/>
        </p:spPr>
      </p:sp>
      <p:pic>
        <p:nvPicPr>
          <p:cNvPr id="11" name="Image 2" descr="preencoded.png"/>
          <p:cNvPicPr>
            <a:picLocks noChangeAspect="1"/>
          </p:cNvPicPr>
          <p:nvPr/>
        </p:nvPicPr>
        <p:blipFill>
          <a:blip r:embed="rId5"/>
          <a:stretch>
            <a:fillRect/>
          </a:stretch>
        </p:blipFill>
        <p:spPr>
          <a:xfrm>
            <a:off x="941832" y="2871216"/>
            <a:ext cx="219456" cy="219456"/>
          </a:xfrm>
          <a:prstGeom prst="rect">
            <a:avLst/>
          </a:prstGeom>
        </p:spPr>
      </p:pic>
      <p:sp>
        <p:nvSpPr>
          <p:cNvPr id="12" name="Text 7"/>
          <p:cNvSpPr txBox="1"/>
          <p:nvPr/>
        </p:nvSpPr>
        <p:spPr>
          <a:xfrm>
            <a:off x="1298448" y="2788920"/>
            <a:ext cx="2430170" cy="384048"/>
          </a:xfrm>
          <a:prstGeom prst="rect">
            <a:avLst/>
          </a:prstGeom>
          <a:noFill/>
          <a:ln/>
        </p:spPr>
        <p:txBody>
          <a:bodyPr wrap="square" lIns="0" tIns="0" rIns="0" bIns="0" rtlCol="0" anchor="ctr"/>
          <a:lstStyle/>
          <a:p>
            <a:pPr marL="0" indent="0">
              <a:buNone/>
            </a:pPr>
            <a:r>
              <a:rPr lang="en-US" sz="1350" dirty="0">
                <a:solidFill>
                  <a:schemeClr val="tx1"/>
                </a:solidFill>
              </a:rPr>
              <a:t>Jadwal, riwayat &amp; rekap</a:t>
            </a:r>
            <a:endParaRPr lang="en-US" sz="1350" dirty="0"/>
          </a:p>
        </p:txBody>
      </p:sp>
      <p:sp>
        <p:nvSpPr>
          <p:cNvPr id="13" name="Shape 8"/>
          <p:cNvSpPr/>
          <p:nvPr/>
        </p:nvSpPr>
        <p:spPr>
          <a:xfrm>
            <a:off x="822960" y="3246120"/>
            <a:ext cx="2978810" cy="384048"/>
          </a:xfrm>
          <a:prstGeom prst="roundRect">
            <a:avLst>
              <a:gd name="adj" fmla="val 19048"/>
            </a:avLst>
          </a:prstGeom>
          <a:solidFill>
            <a:schemeClr val="bg2"/>
          </a:solidFill>
          <a:ln/>
        </p:spPr>
      </p:sp>
      <p:pic>
        <p:nvPicPr>
          <p:cNvPr id="14" name="Image 3" descr="preencoded.png"/>
          <p:cNvPicPr>
            <a:picLocks noChangeAspect="1"/>
          </p:cNvPicPr>
          <p:nvPr/>
        </p:nvPicPr>
        <p:blipFill>
          <a:blip r:embed="rId6"/>
          <a:stretch>
            <a:fillRect/>
          </a:stretch>
        </p:blipFill>
        <p:spPr>
          <a:xfrm>
            <a:off x="941832" y="3328416"/>
            <a:ext cx="219456" cy="219456"/>
          </a:xfrm>
          <a:prstGeom prst="rect">
            <a:avLst/>
          </a:prstGeom>
        </p:spPr>
      </p:pic>
      <p:sp>
        <p:nvSpPr>
          <p:cNvPr id="15" name="Text 9"/>
          <p:cNvSpPr txBox="1"/>
          <p:nvPr/>
        </p:nvSpPr>
        <p:spPr>
          <a:xfrm>
            <a:off x="1298448" y="3246120"/>
            <a:ext cx="2430170" cy="384048"/>
          </a:xfrm>
          <a:prstGeom prst="rect">
            <a:avLst/>
          </a:prstGeom>
          <a:noFill/>
          <a:ln/>
        </p:spPr>
        <p:txBody>
          <a:bodyPr wrap="square" lIns="0" tIns="0" rIns="0" bIns="0" rtlCol="0" anchor="ctr"/>
          <a:lstStyle/>
          <a:p>
            <a:pPr marL="0" indent="0">
              <a:buNone/>
            </a:pPr>
            <a:r>
              <a:rPr lang="en-US" sz="1350" dirty="0">
                <a:solidFill>
                  <a:schemeClr val="tx1"/>
                </a:solidFill>
              </a:rPr>
              <a:t>Izin, sakit &amp; tukar shift</a:t>
            </a:r>
            <a:endParaRPr lang="en-US" sz="1350" dirty="0"/>
          </a:p>
        </p:txBody>
      </p:sp>
      <p:sp>
        <p:nvSpPr>
          <p:cNvPr id="16" name="Shape 10"/>
          <p:cNvSpPr/>
          <p:nvPr/>
        </p:nvSpPr>
        <p:spPr>
          <a:xfrm>
            <a:off x="822960" y="3703320"/>
            <a:ext cx="2978810" cy="384048"/>
          </a:xfrm>
          <a:prstGeom prst="roundRect">
            <a:avLst>
              <a:gd name="adj" fmla="val 19048"/>
            </a:avLst>
          </a:prstGeom>
          <a:solidFill>
            <a:schemeClr val="bg2"/>
          </a:solidFill>
          <a:ln/>
        </p:spPr>
      </p:sp>
      <p:pic>
        <p:nvPicPr>
          <p:cNvPr id="17" name="Image 4" descr="preencoded.png"/>
          <p:cNvPicPr>
            <a:picLocks noChangeAspect="1"/>
          </p:cNvPicPr>
          <p:nvPr/>
        </p:nvPicPr>
        <p:blipFill>
          <a:blip r:embed="rId7"/>
          <a:stretch>
            <a:fillRect/>
          </a:stretch>
        </p:blipFill>
        <p:spPr>
          <a:xfrm>
            <a:off x="941832" y="3785616"/>
            <a:ext cx="219456" cy="219456"/>
          </a:xfrm>
          <a:prstGeom prst="rect">
            <a:avLst/>
          </a:prstGeom>
        </p:spPr>
      </p:pic>
      <p:sp>
        <p:nvSpPr>
          <p:cNvPr id="18" name="Text 11"/>
          <p:cNvSpPr txBox="1"/>
          <p:nvPr/>
        </p:nvSpPr>
        <p:spPr>
          <a:xfrm>
            <a:off x="1298448" y="3703320"/>
            <a:ext cx="2430170" cy="384048"/>
          </a:xfrm>
          <a:prstGeom prst="rect">
            <a:avLst/>
          </a:prstGeom>
          <a:noFill/>
          <a:ln/>
        </p:spPr>
        <p:txBody>
          <a:bodyPr wrap="square" lIns="0" tIns="0" rIns="0" bIns="0" rtlCol="0" anchor="ctr"/>
          <a:lstStyle/>
          <a:p>
            <a:pPr marL="0" indent="0">
              <a:buNone/>
            </a:pPr>
            <a:r>
              <a:rPr lang="en-US" sz="1350" dirty="0">
                <a:solidFill>
                  <a:schemeClr val="tx1"/>
                </a:solidFill>
              </a:rPr>
              <a:t>Dokumen</a:t>
            </a:r>
            <a:endParaRPr lang="en-US" sz="1350" dirty="0"/>
          </a:p>
        </p:txBody>
      </p:sp>
      <p:sp>
        <p:nvSpPr>
          <p:cNvPr id="19" name="Shape 12"/>
          <p:cNvSpPr/>
          <p:nvPr/>
        </p:nvSpPr>
        <p:spPr>
          <a:xfrm>
            <a:off x="822960" y="4160520"/>
            <a:ext cx="2978810" cy="384048"/>
          </a:xfrm>
          <a:prstGeom prst="roundRect">
            <a:avLst>
              <a:gd name="adj" fmla="val 19048"/>
            </a:avLst>
          </a:prstGeom>
          <a:solidFill>
            <a:schemeClr val="bg2"/>
          </a:solidFill>
          <a:ln/>
        </p:spPr>
      </p:sp>
      <p:pic>
        <p:nvPicPr>
          <p:cNvPr id="20" name="Image 5" descr="preencoded.png"/>
          <p:cNvPicPr>
            <a:picLocks noChangeAspect="1"/>
          </p:cNvPicPr>
          <p:nvPr/>
        </p:nvPicPr>
        <p:blipFill>
          <a:blip r:embed="rId8"/>
          <a:stretch>
            <a:fillRect/>
          </a:stretch>
        </p:blipFill>
        <p:spPr>
          <a:xfrm>
            <a:off x="941832" y="4242816"/>
            <a:ext cx="219456" cy="219456"/>
          </a:xfrm>
          <a:prstGeom prst="rect">
            <a:avLst/>
          </a:prstGeom>
        </p:spPr>
      </p:pic>
      <p:sp>
        <p:nvSpPr>
          <p:cNvPr id="21" name="Text 13"/>
          <p:cNvSpPr txBox="1"/>
          <p:nvPr/>
        </p:nvSpPr>
        <p:spPr>
          <a:xfrm>
            <a:off x="1298448" y="4160520"/>
            <a:ext cx="2430170" cy="384048"/>
          </a:xfrm>
          <a:prstGeom prst="rect">
            <a:avLst/>
          </a:prstGeom>
          <a:noFill/>
          <a:ln/>
        </p:spPr>
        <p:txBody>
          <a:bodyPr wrap="square" lIns="0" tIns="0" rIns="0" bIns="0" rtlCol="0" anchor="ctr"/>
          <a:lstStyle/>
          <a:p>
            <a:pPr marL="0" indent="0">
              <a:buNone/>
            </a:pPr>
            <a:r>
              <a:rPr lang="en-US" sz="1350" dirty="0">
                <a:solidFill>
                  <a:schemeClr val="tx1"/>
                </a:solidFill>
              </a:rPr>
              <a:t>Notifikasi</a:t>
            </a:r>
            <a:endParaRPr lang="en-US" sz="1350" dirty="0"/>
          </a:p>
        </p:txBody>
      </p:sp>
      <p:sp>
        <p:nvSpPr>
          <p:cNvPr id="22" name="Shape 14"/>
          <p:cNvSpPr/>
          <p:nvPr/>
        </p:nvSpPr>
        <p:spPr>
          <a:xfrm>
            <a:off x="822960" y="4617720"/>
            <a:ext cx="2978810" cy="384048"/>
          </a:xfrm>
          <a:prstGeom prst="roundRect">
            <a:avLst>
              <a:gd name="adj" fmla="val 19048"/>
            </a:avLst>
          </a:prstGeom>
          <a:solidFill>
            <a:schemeClr val="bg2"/>
          </a:solidFill>
          <a:ln/>
        </p:spPr>
      </p:sp>
      <p:pic>
        <p:nvPicPr>
          <p:cNvPr id="23" name="Image 6" descr="preencoded.png"/>
          <p:cNvPicPr>
            <a:picLocks noChangeAspect="1"/>
          </p:cNvPicPr>
          <p:nvPr/>
        </p:nvPicPr>
        <p:blipFill>
          <a:blip r:embed="rId9"/>
          <a:stretch>
            <a:fillRect/>
          </a:stretch>
        </p:blipFill>
        <p:spPr>
          <a:xfrm>
            <a:off x="941832" y="4700016"/>
            <a:ext cx="219456" cy="219456"/>
          </a:xfrm>
          <a:prstGeom prst="rect">
            <a:avLst/>
          </a:prstGeom>
        </p:spPr>
      </p:pic>
      <p:sp>
        <p:nvSpPr>
          <p:cNvPr id="24" name="Text 15"/>
          <p:cNvSpPr txBox="1"/>
          <p:nvPr/>
        </p:nvSpPr>
        <p:spPr>
          <a:xfrm>
            <a:off x="1298448" y="4617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Akun, tema &amp; helpdesk</a:t>
            </a:r>
            <a:endParaRPr lang="en-US" sz="1350" dirty="0"/>
          </a:p>
        </p:txBody>
      </p:sp>
      <p:sp>
        <p:nvSpPr>
          <p:cNvPr id="25" name="Shape 16"/>
          <p:cNvSpPr/>
          <p:nvPr/>
        </p:nvSpPr>
        <p:spPr>
          <a:xfrm>
            <a:off x="4332122" y="1325880"/>
            <a:ext cx="3527450" cy="480060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6" name="Shape 17"/>
          <p:cNvSpPr/>
          <p:nvPr/>
        </p:nvSpPr>
        <p:spPr>
          <a:xfrm>
            <a:off x="4606442" y="1554480"/>
            <a:ext cx="566928" cy="566928"/>
          </a:xfrm>
          <a:prstGeom prst="roundRect">
            <a:avLst>
              <a:gd name="adj" fmla="val 22000"/>
            </a:avLst>
          </a:prstGeom>
          <a:solidFill>
            <a:schemeClr val="accent1"/>
          </a:solidFill>
          <a:ln/>
        </p:spPr>
      </p:sp>
      <p:pic>
        <p:nvPicPr>
          <p:cNvPr id="27" name="Image 7" descr="preencoded.png"/>
          <p:cNvPicPr>
            <a:picLocks noChangeAspect="1"/>
          </p:cNvPicPr>
          <p:nvPr/>
        </p:nvPicPr>
        <p:blipFill>
          <a:blip r:embed="rId10"/>
          <a:stretch>
            <a:fillRect/>
          </a:stretch>
        </p:blipFill>
        <p:spPr>
          <a:xfrm>
            <a:off x="4748174" y="1696212"/>
            <a:ext cx="283464" cy="283464"/>
          </a:xfrm>
          <a:prstGeom prst="rect">
            <a:avLst/>
          </a:prstGeom>
        </p:spPr>
      </p:pic>
      <p:sp>
        <p:nvSpPr>
          <p:cNvPr id="28" name="Text 18"/>
          <p:cNvSpPr txBox="1"/>
          <p:nvPr/>
        </p:nvSpPr>
        <p:spPr>
          <a:xfrm>
            <a:off x="5337962" y="1554480"/>
            <a:ext cx="2338730" cy="566928"/>
          </a:xfrm>
          <a:prstGeom prst="rect">
            <a:avLst/>
          </a:prstGeom>
          <a:noFill/>
          <a:ln/>
        </p:spPr>
        <p:txBody>
          <a:bodyPr wrap="square" lIns="0" tIns="0" rIns="0" bIns="0" rtlCol="0" anchor="ctr"/>
          <a:lstStyle/>
          <a:p>
            <a:pPr marL="0" indent="0">
              <a:buNone/>
            </a:pPr>
            <a:r>
              <a:rPr lang="en-US" sz="1600" b="1" dirty="0">
                <a:solidFill>
                  <a:schemeClr val="tx2"/>
                </a:solidFill>
              </a:rPr>
              <a:t>Dasbor Admin SDM &amp; Kepala Unit</a:t>
            </a:r>
            <a:endParaRPr lang="en-US" sz="1600" dirty="0"/>
          </a:p>
        </p:txBody>
      </p:sp>
      <p:sp>
        <p:nvSpPr>
          <p:cNvPr id="29" name="Shape 19"/>
          <p:cNvSpPr/>
          <p:nvPr/>
        </p:nvSpPr>
        <p:spPr>
          <a:xfrm>
            <a:off x="4606442" y="2331720"/>
            <a:ext cx="2978810" cy="384048"/>
          </a:xfrm>
          <a:prstGeom prst="roundRect">
            <a:avLst>
              <a:gd name="adj" fmla="val 19048"/>
            </a:avLst>
          </a:prstGeom>
          <a:solidFill>
            <a:schemeClr val="bg2"/>
          </a:solidFill>
          <a:ln/>
        </p:spPr>
      </p:sp>
      <p:pic>
        <p:nvPicPr>
          <p:cNvPr id="30" name="Image 8" descr="preencoded.png"/>
          <p:cNvPicPr>
            <a:picLocks noChangeAspect="1"/>
          </p:cNvPicPr>
          <p:nvPr/>
        </p:nvPicPr>
        <p:blipFill>
          <a:blip r:embed="rId11"/>
          <a:stretch>
            <a:fillRect/>
          </a:stretch>
        </p:blipFill>
        <p:spPr>
          <a:xfrm>
            <a:off x="4725314" y="2414016"/>
            <a:ext cx="219456" cy="219456"/>
          </a:xfrm>
          <a:prstGeom prst="rect">
            <a:avLst/>
          </a:prstGeom>
        </p:spPr>
      </p:pic>
      <p:sp>
        <p:nvSpPr>
          <p:cNvPr id="31" name="Text 20"/>
          <p:cNvSpPr txBox="1"/>
          <p:nvPr/>
        </p:nvSpPr>
        <p:spPr>
          <a:xfrm>
            <a:off x="5081930" y="2331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Ringkasan &amp; pemantauan</a:t>
            </a:r>
            <a:endParaRPr lang="en-US" sz="1350" dirty="0"/>
          </a:p>
        </p:txBody>
      </p:sp>
      <p:sp>
        <p:nvSpPr>
          <p:cNvPr id="32" name="Shape 21"/>
          <p:cNvSpPr/>
          <p:nvPr/>
        </p:nvSpPr>
        <p:spPr>
          <a:xfrm>
            <a:off x="4606442" y="2788920"/>
            <a:ext cx="2978810" cy="384048"/>
          </a:xfrm>
          <a:prstGeom prst="roundRect">
            <a:avLst>
              <a:gd name="adj" fmla="val 19048"/>
            </a:avLst>
          </a:prstGeom>
          <a:solidFill>
            <a:schemeClr val="bg2"/>
          </a:solidFill>
          <a:ln/>
        </p:spPr>
      </p:sp>
      <p:pic>
        <p:nvPicPr>
          <p:cNvPr id="33" name="Image 9" descr="preencoded.png"/>
          <p:cNvPicPr>
            <a:picLocks noChangeAspect="1"/>
          </p:cNvPicPr>
          <p:nvPr/>
        </p:nvPicPr>
        <p:blipFill>
          <a:blip r:embed="rId12"/>
          <a:stretch>
            <a:fillRect/>
          </a:stretch>
        </p:blipFill>
        <p:spPr>
          <a:xfrm>
            <a:off x="4725314" y="2871216"/>
            <a:ext cx="219456" cy="219456"/>
          </a:xfrm>
          <a:prstGeom prst="rect">
            <a:avLst/>
          </a:prstGeom>
        </p:spPr>
      </p:pic>
      <p:sp>
        <p:nvSpPr>
          <p:cNvPr id="34" name="Text 22"/>
          <p:cNvSpPr txBox="1"/>
          <p:nvPr/>
        </p:nvSpPr>
        <p:spPr>
          <a:xfrm>
            <a:off x="5081930" y="2788920"/>
            <a:ext cx="2430170" cy="384048"/>
          </a:xfrm>
          <a:prstGeom prst="rect">
            <a:avLst/>
          </a:prstGeom>
          <a:noFill/>
          <a:ln/>
        </p:spPr>
        <p:txBody>
          <a:bodyPr wrap="square" lIns="0" tIns="0" rIns="0" bIns="0" rtlCol="0" anchor="ctr"/>
          <a:lstStyle/>
          <a:p>
            <a:pPr marL="0" indent="0">
              <a:buNone/>
            </a:pPr>
            <a:r>
              <a:rPr lang="en-US" sz="1350" dirty="0">
                <a:solidFill>
                  <a:schemeClr val="tx1"/>
                </a:solidFill>
              </a:rPr>
              <a:t>Absensi &amp; koreksi</a:t>
            </a:r>
            <a:endParaRPr lang="en-US" sz="1350" dirty="0"/>
          </a:p>
        </p:txBody>
      </p:sp>
      <p:sp>
        <p:nvSpPr>
          <p:cNvPr id="35" name="Shape 23"/>
          <p:cNvSpPr/>
          <p:nvPr/>
        </p:nvSpPr>
        <p:spPr>
          <a:xfrm>
            <a:off x="4606442" y="3246120"/>
            <a:ext cx="2978810" cy="384048"/>
          </a:xfrm>
          <a:prstGeom prst="roundRect">
            <a:avLst>
              <a:gd name="adj" fmla="val 19048"/>
            </a:avLst>
          </a:prstGeom>
          <a:solidFill>
            <a:schemeClr val="bg2"/>
          </a:solidFill>
          <a:ln/>
        </p:spPr>
      </p:sp>
      <p:pic>
        <p:nvPicPr>
          <p:cNvPr id="36" name="Image 10" descr="preencoded.png"/>
          <p:cNvPicPr>
            <a:picLocks noChangeAspect="1"/>
          </p:cNvPicPr>
          <p:nvPr/>
        </p:nvPicPr>
        <p:blipFill>
          <a:blip r:embed="rId13"/>
          <a:stretch>
            <a:fillRect/>
          </a:stretch>
        </p:blipFill>
        <p:spPr>
          <a:xfrm>
            <a:off x="4725314" y="3328416"/>
            <a:ext cx="219456" cy="219456"/>
          </a:xfrm>
          <a:prstGeom prst="rect">
            <a:avLst/>
          </a:prstGeom>
        </p:spPr>
      </p:pic>
      <p:sp>
        <p:nvSpPr>
          <p:cNvPr id="37" name="Text 24"/>
          <p:cNvSpPr txBox="1"/>
          <p:nvPr/>
        </p:nvSpPr>
        <p:spPr>
          <a:xfrm>
            <a:off x="5081930" y="3246120"/>
            <a:ext cx="2430170" cy="384048"/>
          </a:xfrm>
          <a:prstGeom prst="rect">
            <a:avLst/>
          </a:prstGeom>
          <a:noFill/>
          <a:ln/>
        </p:spPr>
        <p:txBody>
          <a:bodyPr wrap="square" lIns="0" tIns="0" rIns="0" bIns="0" rtlCol="0" anchor="ctr"/>
          <a:lstStyle/>
          <a:p>
            <a:pPr marL="0" indent="0">
              <a:buNone/>
            </a:pPr>
            <a:r>
              <a:rPr lang="en-US" sz="1350" dirty="0">
                <a:solidFill>
                  <a:schemeClr val="tx1"/>
                </a:solidFill>
              </a:rPr>
              <a:t>Persetujuan pengajuan</a:t>
            </a:r>
            <a:endParaRPr lang="en-US" sz="1350" dirty="0"/>
          </a:p>
        </p:txBody>
      </p:sp>
      <p:sp>
        <p:nvSpPr>
          <p:cNvPr id="38" name="Shape 25"/>
          <p:cNvSpPr/>
          <p:nvPr/>
        </p:nvSpPr>
        <p:spPr>
          <a:xfrm>
            <a:off x="4606442" y="3703320"/>
            <a:ext cx="2978810" cy="384048"/>
          </a:xfrm>
          <a:prstGeom prst="roundRect">
            <a:avLst>
              <a:gd name="adj" fmla="val 19048"/>
            </a:avLst>
          </a:prstGeom>
          <a:solidFill>
            <a:schemeClr val="bg2"/>
          </a:solidFill>
          <a:ln/>
        </p:spPr>
      </p:sp>
      <p:pic>
        <p:nvPicPr>
          <p:cNvPr id="39" name="Image 11" descr="preencoded.png"/>
          <p:cNvPicPr>
            <a:picLocks noChangeAspect="1"/>
          </p:cNvPicPr>
          <p:nvPr/>
        </p:nvPicPr>
        <p:blipFill>
          <a:blip r:embed="rId14"/>
          <a:stretch>
            <a:fillRect/>
          </a:stretch>
        </p:blipFill>
        <p:spPr>
          <a:xfrm>
            <a:off x="4725314" y="3785616"/>
            <a:ext cx="219456" cy="219456"/>
          </a:xfrm>
          <a:prstGeom prst="rect">
            <a:avLst/>
          </a:prstGeom>
        </p:spPr>
      </p:pic>
      <p:sp>
        <p:nvSpPr>
          <p:cNvPr id="40" name="Text 26"/>
          <p:cNvSpPr txBox="1"/>
          <p:nvPr/>
        </p:nvSpPr>
        <p:spPr>
          <a:xfrm>
            <a:off x="5081930" y="3703320"/>
            <a:ext cx="2430170" cy="384048"/>
          </a:xfrm>
          <a:prstGeom prst="rect">
            <a:avLst/>
          </a:prstGeom>
          <a:noFill/>
          <a:ln/>
        </p:spPr>
        <p:txBody>
          <a:bodyPr wrap="square" lIns="0" tIns="0" rIns="0" bIns="0" rtlCol="0" anchor="ctr"/>
          <a:lstStyle/>
          <a:p>
            <a:pPr marL="0" indent="0">
              <a:buNone/>
            </a:pPr>
            <a:r>
              <a:rPr lang="en-US" sz="1350" dirty="0">
                <a:solidFill>
                  <a:schemeClr val="tx1"/>
                </a:solidFill>
              </a:rPr>
              <a:t>Manajemen karyawan</a:t>
            </a:r>
            <a:endParaRPr lang="en-US" sz="1350" dirty="0"/>
          </a:p>
        </p:txBody>
      </p:sp>
      <p:sp>
        <p:nvSpPr>
          <p:cNvPr id="41" name="Shape 27"/>
          <p:cNvSpPr/>
          <p:nvPr/>
        </p:nvSpPr>
        <p:spPr>
          <a:xfrm>
            <a:off x="4606442" y="4160520"/>
            <a:ext cx="2978810" cy="384048"/>
          </a:xfrm>
          <a:prstGeom prst="roundRect">
            <a:avLst>
              <a:gd name="adj" fmla="val 19048"/>
            </a:avLst>
          </a:prstGeom>
          <a:solidFill>
            <a:schemeClr val="bg2"/>
          </a:solidFill>
          <a:ln/>
        </p:spPr>
      </p:sp>
      <p:pic>
        <p:nvPicPr>
          <p:cNvPr id="42" name="Image 12" descr="preencoded.png"/>
          <p:cNvPicPr>
            <a:picLocks noChangeAspect="1"/>
          </p:cNvPicPr>
          <p:nvPr/>
        </p:nvPicPr>
        <p:blipFill>
          <a:blip r:embed="rId15"/>
          <a:stretch>
            <a:fillRect/>
          </a:stretch>
        </p:blipFill>
        <p:spPr>
          <a:xfrm>
            <a:off x="4725314" y="4242816"/>
            <a:ext cx="219456" cy="219456"/>
          </a:xfrm>
          <a:prstGeom prst="rect">
            <a:avLst/>
          </a:prstGeom>
        </p:spPr>
      </p:pic>
      <p:sp>
        <p:nvSpPr>
          <p:cNvPr id="43" name="Text 28"/>
          <p:cNvSpPr txBox="1"/>
          <p:nvPr/>
        </p:nvSpPr>
        <p:spPr>
          <a:xfrm>
            <a:off x="5081930" y="4160520"/>
            <a:ext cx="2430170" cy="384048"/>
          </a:xfrm>
          <a:prstGeom prst="rect">
            <a:avLst/>
          </a:prstGeom>
          <a:noFill/>
          <a:ln/>
        </p:spPr>
        <p:txBody>
          <a:bodyPr wrap="square" lIns="0" tIns="0" rIns="0" bIns="0" rtlCol="0" anchor="ctr"/>
          <a:lstStyle/>
          <a:p>
            <a:pPr marL="0" indent="0">
              <a:buNone/>
            </a:pPr>
            <a:r>
              <a:rPr lang="en-US" sz="1350" dirty="0">
                <a:solidFill>
                  <a:schemeClr val="tx1"/>
                </a:solidFill>
              </a:rPr>
              <a:t>Penjadwalan shift</a:t>
            </a:r>
            <a:endParaRPr lang="en-US" sz="1350" dirty="0"/>
          </a:p>
        </p:txBody>
      </p:sp>
      <p:sp>
        <p:nvSpPr>
          <p:cNvPr id="44" name="Shape 29"/>
          <p:cNvSpPr/>
          <p:nvPr/>
        </p:nvSpPr>
        <p:spPr>
          <a:xfrm>
            <a:off x="4606442" y="4617720"/>
            <a:ext cx="2978810" cy="384048"/>
          </a:xfrm>
          <a:prstGeom prst="roundRect">
            <a:avLst>
              <a:gd name="adj" fmla="val 19048"/>
            </a:avLst>
          </a:prstGeom>
          <a:solidFill>
            <a:schemeClr val="bg2"/>
          </a:solidFill>
          <a:ln/>
        </p:spPr>
      </p:sp>
      <p:pic>
        <p:nvPicPr>
          <p:cNvPr id="45" name="Image 13" descr="preencoded.png"/>
          <p:cNvPicPr>
            <a:picLocks noChangeAspect="1"/>
          </p:cNvPicPr>
          <p:nvPr/>
        </p:nvPicPr>
        <p:blipFill>
          <a:blip r:embed="rId16"/>
          <a:stretch>
            <a:fillRect/>
          </a:stretch>
        </p:blipFill>
        <p:spPr>
          <a:xfrm>
            <a:off x="4725314" y="4700016"/>
            <a:ext cx="219456" cy="219456"/>
          </a:xfrm>
          <a:prstGeom prst="rect">
            <a:avLst/>
          </a:prstGeom>
        </p:spPr>
      </p:pic>
      <p:sp>
        <p:nvSpPr>
          <p:cNvPr id="46" name="Text 30"/>
          <p:cNvSpPr txBox="1"/>
          <p:nvPr/>
        </p:nvSpPr>
        <p:spPr>
          <a:xfrm>
            <a:off x="5081930" y="4617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Laporan &amp; ekspor</a:t>
            </a:r>
            <a:endParaRPr lang="en-US" sz="1350" dirty="0"/>
          </a:p>
        </p:txBody>
      </p:sp>
      <p:sp>
        <p:nvSpPr>
          <p:cNvPr id="47" name="Shape 31"/>
          <p:cNvSpPr/>
          <p:nvPr/>
        </p:nvSpPr>
        <p:spPr>
          <a:xfrm>
            <a:off x="4606442" y="5074920"/>
            <a:ext cx="2978810" cy="384048"/>
          </a:xfrm>
          <a:prstGeom prst="roundRect">
            <a:avLst>
              <a:gd name="adj" fmla="val 19048"/>
            </a:avLst>
          </a:prstGeom>
          <a:solidFill>
            <a:schemeClr val="bg2"/>
          </a:solidFill>
          <a:ln/>
        </p:spPr>
      </p:sp>
      <p:pic>
        <p:nvPicPr>
          <p:cNvPr id="48" name="Image 14" descr="preencoded.png"/>
          <p:cNvPicPr>
            <a:picLocks noChangeAspect="1"/>
          </p:cNvPicPr>
          <p:nvPr/>
        </p:nvPicPr>
        <p:blipFill>
          <a:blip r:embed="rId17"/>
          <a:stretch>
            <a:fillRect/>
          </a:stretch>
        </p:blipFill>
        <p:spPr>
          <a:xfrm>
            <a:off x="4725314" y="5157216"/>
            <a:ext cx="219456" cy="219456"/>
          </a:xfrm>
          <a:prstGeom prst="rect">
            <a:avLst/>
          </a:prstGeom>
        </p:spPr>
      </p:pic>
      <p:sp>
        <p:nvSpPr>
          <p:cNvPr id="49" name="Text 32"/>
          <p:cNvSpPr txBox="1"/>
          <p:nvPr/>
        </p:nvSpPr>
        <p:spPr>
          <a:xfrm>
            <a:off x="5081930" y="5074920"/>
            <a:ext cx="2430170" cy="384048"/>
          </a:xfrm>
          <a:prstGeom prst="rect">
            <a:avLst/>
          </a:prstGeom>
          <a:noFill/>
          <a:ln/>
        </p:spPr>
        <p:txBody>
          <a:bodyPr wrap="square" lIns="0" tIns="0" rIns="0" bIns="0" rtlCol="0" anchor="ctr"/>
          <a:lstStyle/>
          <a:p>
            <a:pPr marL="0" indent="0">
              <a:buNone/>
            </a:pPr>
            <a:r>
              <a:rPr lang="en-US" sz="1350" dirty="0">
                <a:solidFill>
                  <a:schemeClr val="tx1"/>
                </a:solidFill>
              </a:rPr>
              <a:t>Dokumen &amp; kategori</a:t>
            </a:r>
            <a:endParaRPr lang="en-US" sz="1350" dirty="0"/>
          </a:p>
        </p:txBody>
      </p:sp>
      <p:sp>
        <p:nvSpPr>
          <p:cNvPr id="50" name="Shape 33"/>
          <p:cNvSpPr/>
          <p:nvPr/>
        </p:nvSpPr>
        <p:spPr>
          <a:xfrm>
            <a:off x="4606442" y="5532120"/>
            <a:ext cx="2978810" cy="384048"/>
          </a:xfrm>
          <a:prstGeom prst="roundRect">
            <a:avLst>
              <a:gd name="adj" fmla="val 19048"/>
            </a:avLst>
          </a:prstGeom>
          <a:solidFill>
            <a:schemeClr val="bg2"/>
          </a:solidFill>
          <a:ln/>
        </p:spPr>
      </p:sp>
      <p:pic>
        <p:nvPicPr>
          <p:cNvPr id="51" name="Image 15" descr="preencoded.png"/>
          <p:cNvPicPr>
            <a:picLocks noChangeAspect="1"/>
          </p:cNvPicPr>
          <p:nvPr/>
        </p:nvPicPr>
        <p:blipFill>
          <a:blip r:embed="rId18"/>
          <a:stretch>
            <a:fillRect/>
          </a:stretch>
        </p:blipFill>
        <p:spPr>
          <a:xfrm>
            <a:off x="4725314" y="5614416"/>
            <a:ext cx="219456" cy="219456"/>
          </a:xfrm>
          <a:prstGeom prst="rect">
            <a:avLst/>
          </a:prstGeom>
        </p:spPr>
      </p:pic>
      <p:sp>
        <p:nvSpPr>
          <p:cNvPr id="52" name="Text 34"/>
          <p:cNvSpPr txBox="1"/>
          <p:nvPr/>
        </p:nvSpPr>
        <p:spPr>
          <a:xfrm>
            <a:off x="5081930" y="5532120"/>
            <a:ext cx="2430170" cy="384048"/>
          </a:xfrm>
          <a:prstGeom prst="rect">
            <a:avLst/>
          </a:prstGeom>
          <a:noFill/>
          <a:ln/>
        </p:spPr>
        <p:txBody>
          <a:bodyPr wrap="square" lIns="0" tIns="0" rIns="0" bIns="0" rtlCol="0" anchor="ctr"/>
          <a:lstStyle/>
          <a:p>
            <a:pPr marL="0" indent="0">
              <a:buNone/>
            </a:pPr>
            <a:r>
              <a:rPr lang="en-US" sz="1350" dirty="0">
                <a:solidFill>
                  <a:schemeClr val="tx1"/>
                </a:solidFill>
              </a:rPr>
              <a:t>Unit, admin &amp; pengaturan</a:t>
            </a:r>
            <a:endParaRPr lang="en-US" sz="1350" dirty="0"/>
          </a:p>
        </p:txBody>
      </p:sp>
      <p:sp>
        <p:nvSpPr>
          <p:cNvPr id="53" name="Shape 35"/>
          <p:cNvSpPr/>
          <p:nvPr/>
        </p:nvSpPr>
        <p:spPr>
          <a:xfrm>
            <a:off x="8115605" y="1325880"/>
            <a:ext cx="3527450" cy="4800600"/>
          </a:xfrm>
          <a:prstGeom prst="roundRect">
            <a:avLst>
              <a:gd name="adj" fmla="val 3111"/>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54" name="Shape 36"/>
          <p:cNvSpPr/>
          <p:nvPr/>
        </p:nvSpPr>
        <p:spPr>
          <a:xfrm>
            <a:off x="8389925" y="1554480"/>
            <a:ext cx="566928" cy="566928"/>
          </a:xfrm>
          <a:prstGeom prst="roundRect">
            <a:avLst>
              <a:gd name="adj" fmla="val 22000"/>
            </a:avLst>
          </a:prstGeom>
          <a:solidFill>
            <a:schemeClr val="tx2"/>
          </a:solidFill>
          <a:ln/>
        </p:spPr>
      </p:sp>
      <p:pic>
        <p:nvPicPr>
          <p:cNvPr id="55" name="Image 16" descr="preencoded.png"/>
          <p:cNvPicPr>
            <a:picLocks noChangeAspect="1"/>
          </p:cNvPicPr>
          <p:nvPr/>
        </p:nvPicPr>
        <p:blipFill>
          <a:blip r:embed="rId19"/>
          <a:stretch>
            <a:fillRect/>
          </a:stretch>
        </p:blipFill>
        <p:spPr>
          <a:xfrm>
            <a:off x="8531657" y="1696212"/>
            <a:ext cx="283464" cy="283464"/>
          </a:xfrm>
          <a:prstGeom prst="rect">
            <a:avLst/>
          </a:prstGeom>
        </p:spPr>
      </p:pic>
      <p:sp>
        <p:nvSpPr>
          <p:cNvPr id="56" name="Text 37"/>
          <p:cNvSpPr txBox="1"/>
          <p:nvPr/>
        </p:nvSpPr>
        <p:spPr>
          <a:xfrm>
            <a:off x="9121445" y="1554480"/>
            <a:ext cx="2338730" cy="566928"/>
          </a:xfrm>
          <a:prstGeom prst="rect">
            <a:avLst/>
          </a:prstGeom>
          <a:noFill/>
          <a:ln/>
        </p:spPr>
        <p:txBody>
          <a:bodyPr wrap="square" lIns="0" tIns="0" rIns="0" bIns="0" rtlCol="0" anchor="ctr"/>
          <a:lstStyle/>
          <a:p>
            <a:pPr marL="0" indent="0">
              <a:buNone/>
            </a:pPr>
            <a:r>
              <a:rPr lang="en-US" sz="1600" b="1" dirty="0">
                <a:solidFill>
                  <a:schemeClr val="tx2"/>
                </a:solidFill>
              </a:rPr>
              <a:t>Layanan sistem</a:t>
            </a:r>
            <a:endParaRPr lang="en-US" sz="1600" dirty="0"/>
          </a:p>
        </p:txBody>
      </p:sp>
      <p:sp>
        <p:nvSpPr>
          <p:cNvPr id="57" name="Shape 38"/>
          <p:cNvSpPr/>
          <p:nvPr/>
        </p:nvSpPr>
        <p:spPr>
          <a:xfrm>
            <a:off x="8389925" y="2331720"/>
            <a:ext cx="2978810" cy="384048"/>
          </a:xfrm>
          <a:prstGeom prst="roundRect">
            <a:avLst>
              <a:gd name="adj" fmla="val 19048"/>
            </a:avLst>
          </a:prstGeom>
          <a:solidFill>
            <a:schemeClr val="bg2"/>
          </a:solidFill>
          <a:ln/>
        </p:spPr>
      </p:sp>
      <p:pic>
        <p:nvPicPr>
          <p:cNvPr id="58" name="Image 17" descr="preencoded.png"/>
          <p:cNvPicPr>
            <a:picLocks noChangeAspect="1"/>
          </p:cNvPicPr>
          <p:nvPr/>
        </p:nvPicPr>
        <p:blipFill>
          <a:blip r:embed="rId20"/>
          <a:stretch>
            <a:fillRect/>
          </a:stretch>
        </p:blipFill>
        <p:spPr>
          <a:xfrm>
            <a:off x="8508797" y="2414016"/>
            <a:ext cx="219456" cy="219456"/>
          </a:xfrm>
          <a:prstGeom prst="rect">
            <a:avLst/>
          </a:prstGeom>
        </p:spPr>
      </p:pic>
      <p:sp>
        <p:nvSpPr>
          <p:cNvPr id="59" name="Text 39"/>
          <p:cNvSpPr txBox="1"/>
          <p:nvPr/>
        </p:nvSpPr>
        <p:spPr>
          <a:xfrm>
            <a:off x="8865413" y="2331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Verifikasi wajah di server</a:t>
            </a:r>
            <a:endParaRPr lang="en-US" sz="1350" dirty="0"/>
          </a:p>
        </p:txBody>
      </p:sp>
      <p:sp>
        <p:nvSpPr>
          <p:cNvPr id="60" name="Shape 40"/>
          <p:cNvSpPr/>
          <p:nvPr/>
        </p:nvSpPr>
        <p:spPr>
          <a:xfrm>
            <a:off x="8389925" y="2788920"/>
            <a:ext cx="2978810" cy="384048"/>
          </a:xfrm>
          <a:prstGeom prst="roundRect">
            <a:avLst>
              <a:gd name="adj" fmla="val 19048"/>
            </a:avLst>
          </a:prstGeom>
          <a:solidFill>
            <a:schemeClr val="bg2"/>
          </a:solidFill>
          <a:ln/>
        </p:spPr>
      </p:sp>
      <p:pic>
        <p:nvPicPr>
          <p:cNvPr id="61" name="Image 18" descr="preencoded.png"/>
          <p:cNvPicPr>
            <a:picLocks noChangeAspect="1"/>
          </p:cNvPicPr>
          <p:nvPr/>
        </p:nvPicPr>
        <p:blipFill>
          <a:blip r:embed="rId21"/>
          <a:stretch>
            <a:fillRect/>
          </a:stretch>
        </p:blipFill>
        <p:spPr>
          <a:xfrm>
            <a:off x="8508797" y="2871216"/>
            <a:ext cx="219456" cy="219456"/>
          </a:xfrm>
          <a:prstGeom prst="rect">
            <a:avLst/>
          </a:prstGeom>
        </p:spPr>
      </p:pic>
      <p:sp>
        <p:nvSpPr>
          <p:cNvPr id="62" name="Text 41"/>
          <p:cNvSpPr txBox="1"/>
          <p:nvPr/>
        </p:nvSpPr>
        <p:spPr>
          <a:xfrm>
            <a:off x="8865413" y="2788920"/>
            <a:ext cx="2430170" cy="384048"/>
          </a:xfrm>
          <a:prstGeom prst="rect">
            <a:avLst/>
          </a:prstGeom>
          <a:noFill/>
          <a:ln/>
        </p:spPr>
        <p:txBody>
          <a:bodyPr wrap="square" lIns="0" tIns="0" rIns="0" bIns="0" rtlCol="0" anchor="ctr"/>
          <a:lstStyle/>
          <a:p>
            <a:pPr marL="0" indent="0">
              <a:buNone/>
            </a:pPr>
            <a:r>
              <a:rPr lang="en-US" sz="1350" dirty="0">
                <a:solidFill>
                  <a:schemeClr val="tx1"/>
                </a:solidFill>
              </a:rPr>
              <a:t>Realtime &amp; Web Push</a:t>
            </a:r>
            <a:endParaRPr lang="en-US" sz="1350" dirty="0"/>
          </a:p>
        </p:txBody>
      </p:sp>
      <p:sp>
        <p:nvSpPr>
          <p:cNvPr id="63" name="Shape 42"/>
          <p:cNvSpPr/>
          <p:nvPr/>
        </p:nvSpPr>
        <p:spPr>
          <a:xfrm>
            <a:off x="8389925" y="3246120"/>
            <a:ext cx="2978810" cy="384048"/>
          </a:xfrm>
          <a:prstGeom prst="roundRect">
            <a:avLst>
              <a:gd name="adj" fmla="val 19048"/>
            </a:avLst>
          </a:prstGeom>
          <a:solidFill>
            <a:schemeClr val="bg2"/>
          </a:solidFill>
          <a:ln/>
        </p:spPr>
      </p:sp>
      <p:pic>
        <p:nvPicPr>
          <p:cNvPr id="64" name="Image 19" descr="preencoded.png"/>
          <p:cNvPicPr>
            <a:picLocks noChangeAspect="1"/>
          </p:cNvPicPr>
          <p:nvPr/>
        </p:nvPicPr>
        <p:blipFill>
          <a:blip r:embed="rId22"/>
          <a:stretch>
            <a:fillRect/>
          </a:stretch>
        </p:blipFill>
        <p:spPr>
          <a:xfrm>
            <a:off x="8508797" y="3328416"/>
            <a:ext cx="219456" cy="219456"/>
          </a:xfrm>
          <a:prstGeom prst="rect">
            <a:avLst/>
          </a:prstGeom>
        </p:spPr>
      </p:pic>
      <p:sp>
        <p:nvSpPr>
          <p:cNvPr id="65" name="Text 43"/>
          <p:cNvSpPr txBox="1"/>
          <p:nvPr/>
        </p:nvSpPr>
        <p:spPr>
          <a:xfrm>
            <a:off x="8865413" y="3246120"/>
            <a:ext cx="2430170" cy="384048"/>
          </a:xfrm>
          <a:prstGeom prst="rect">
            <a:avLst/>
          </a:prstGeom>
          <a:noFill/>
          <a:ln/>
        </p:spPr>
        <p:txBody>
          <a:bodyPr wrap="square" lIns="0" tIns="0" rIns="0" bIns="0" rtlCol="0" anchor="ctr"/>
          <a:lstStyle/>
          <a:p>
            <a:pPr marL="0" indent="0">
              <a:buNone/>
            </a:pPr>
            <a:r>
              <a:rPr lang="en-US" sz="1350" dirty="0">
                <a:solidFill>
                  <a:schemeClr val="tx1"/>
                </a:solidFill>
              </a:rPr>
              <a:t>Pengingat terjadwal</a:t>
            </a:r>
            <a:endParaRPr lang="en-US" sz="1350" dirty="0"/>
          </a:p>
        </p:txBody>
      </p:sp>
      <p:sp>
        <p:nvSpPr>
          <p:cNvPr id="66" name="Shape 44"/>
          <p:cNvSpPr/>
          <p:nvPr/>
        </p:nvSpPr>
        <p:spPr>
          <a:xfrm>
            <a:off x="8389925" y="3703320"/>
            <a:ext cx="2978810" cy="384048"/>
          </a:xfrm>
          <a:prstGeom prst="roundRect">
            <a:avLst>
              <a:gd name="adj" fmla="val 19048"/>
            </a:avLst>
          </a:prstGeom>
          <a:solidFill>
            <a:schemeClr val="bg2"/>
          </a:solidFill>
          <a:ln/>
        </p:spPr>
      </p:sp>
      <p:pic>
        <p:nvPicPr>
          <p:cNvPr id="67" name="Image 20" descr="preencoded.png"/>
          <p:cNvPicPr>
            <a:picLocks noChangeAspect="1"/>
          </p:cNvPicPr>
          <p:nvPr/>
        </p:nvPicPr>
        <p:blipFill>
          <a:blip r:embed="rId23"/>
          <a:stretch>
            <a:fillRect/>
          </a:stretch>
        </p:blipFill>
        <p:spPr>
          <a:xfrm>
            <a:off x="8508797" y="3785616"/>
            <a:ext cx="219456" cy="219456"/>
          </a:xfrm>
          <a:prstGeom prst="rect">
            <a:avLst/>
          </a:prstGeom>
        </p:spPr>
      </p:pic>
      <p:sp>
        <p:nvSpPr>
          <p:cNvPr id="68" name="Text 45"/>
          <p:cNvSpPr txBox="1"/>
          <p:nvPr/>
        </p:nvSpPr>
        <p:spPr>
          <a:xfrm>
            <a:off x="8865413" y="3703320"/>
            <a:ext cx="2430170" cy="384048"/>
          </a:xfrm>
          <a:prstGeom prst="rect">
            <a:avLst/>
          </a:prstGeom>
          <a:noFill/>
          <a:ln/>
        </p:spPr>
        <p:txBody>
          <a:bodyPr wrap="square" lIns="0" tIns="0" rIns="0" bIns="0" rtlCol="0" anchor="ctr"/>
          <a:lstStyle/>
          <a:p>
            <a:pPr marL="0" indent="0">
              <a:buNone/>
            </a:pPr>
            <a:r>
              <a:rPr lang="en-US" sz="1350" dirty="0">
                <a:solidFill>
                  <a:schemeClr val="tx1"/>
                </a:solidFill>
              </a:rPr>
              <a:t>Email akun &amp; kata sandi</a:t>
            </a:r>
            <a:endParaRPr lang="en-US" sz="1350" dirty="0"/>
          </a:p>
        </p:txBody>
      </p:sp>
      <p:sp>
        <p:nvSpPr>
          <p:cNvPr id="69" name="Shape 46"/>
          <p:cNvSpPr/>
          <p:nvPr/>
        </p:nvSpPr>
        <p:spPr>
          <a:xfrm>
            <a:off x="8389925" y="4160520"/>
            <a:ext cx="2978810" cy="384048"/>
          </a:xfrm>
          <a:prstGeom prst="roundRect">
            <a:avLst>
              <a:gd name="adj" fmla="val 19048"/>
            </a:avLst>
          </a:prstGeom>
          <a:solidFill>
            <a:schemeClr val="bg2"/>
          </a:solidFill>
          <a:ln/>
        </p:spPr>
      </p:sp>
      <p:pic>
        <p:nvPicPr>
          <p:cNvPr id="70" name="Image 21" descr="preencoded.png"/>
          <p:cNvPicPr>
            <a:picLocks noChangeAspect="1"/>
          </p:cNvPicPr>
          <p:nvPr/>
        </p:nvPicPr>
        <p:blipFill>
          <a:blip r:embed="rId24"/>
          <a:stretch>
            <a:fillRect/>
          </a:stretch>
        </p:blipFill>
        <p:spPr>
          <a:xfrm>
            <a:off x="8508797" y="4242816"/>
            <a:ext cx="219456" cy="219456"/>
          </a:xfrm>
          <a:prstGeom prst="rect">
            <a:avLst/>
          </a:prstGeom>
        </p:spPr>
      </p:pic>
      <p:sp>
        <p:nvSpPr>
          <p:cNvPr id="71" name="Text 47"/>
          <p:cNvSpPr txBox="1"/>
          <p:nvPr/>
        </p:nvSpPr>
        <p:spPr>
          <a:xfrm>
            <a:off x="8865413" y="4160520"/>
            <a:ext cx="2430170" cy="384048"/>
          </a:xfrm>
          <a:prstGeom prst="rect">
            <a:avLst/>
          </a:prstGeom>
          <a:noFill/>
          <a:ln/>
        </p:spPr>
        <p:txBody>
          <a:bodyPr wrap="square" lIns="0" tIns="0" rIns="0" bIns="0" rtlCol="0" anchor="ctr"/>
          <a:lstStyle/>
          <a:p>
            <a:pPr marL="0" indent="0">
              <a:buNone/>
            </a:pPr>
            <a:r>
              <a:rPr lang="en-US" sz="1350" dirty="0">
                <a:solidFill>
                  <a:schemeClr val="tx1"/>
                </a:solidFill>
              </a:rPr>
              <a:t>Audit &amp; keamanan</a:t>
            </a:r>
            <a:endParaRPr lang="en-US" sz="1350" dirty="0"/>
          </a:p>
        </p:txBody>
      </p:sp>
      <p:sp>
        <p:nvSpPr>
          <p:cNvPr id="72" name="Shape 48"/>
          <p:cNvSpPr/>
          <p:nvPr/>
        </p:nvSpPr>
        <p:spPr>
          <a:xfrm>
            <a:off x="8389925" y="4617720"/>
            <a:ext cx="2978810" cy="384048"/>
          </a:xfrm>
          <a:prstGeom prst="roundRect">
            <a:avLst>
              <a:gd name="adj" fmla="val 19048"/>
            </a:avLst>
          </a:prstGeom>
          <a:solidFill>
            <a:schemeClr val="bg2"/>
          </a:solidFill>
          <a:ln/>
        </p:spPr>
      </p:sp>
      <p:pic>
        <p:nvPicPr>
          <p:cNvPr id="73" name="Image 22" descr="preencoded.png"/>
          <p:cNvPicPr>
            <a:picLocks noChangeAspect="1"/>
          </p:cNvPicPr>
          <p:nvPr/>
        </p:nvPicPr>
        <p:blipFill>
          <a:blip r:embed="rId25"/>
          <a:stretch>
            <a:fillRect/>
          </a:stretch>
        </p:blipFill>
        <p:spPr>
          <a:xfrm>
            <a:off x="8508797" y="4700016"/>
            <a:ext cx="219456" cy="219456"/>
          </a:xfrm>
          <a:prstGeom prst="rect">
            <a:avLst/>
          </a:prstGeom>
        </p:spPr>
      </p:pic>
      <p:sp>
        <p:nvSpPr>
          <p:cNvPr id="74" name="Text 49"/>
          <p:cNvSpPr txBox="1"/>
          <p:nvPr/>
        </p:nvSpPr>
        <p:spPr>
          <a:xfrm>
            <a:off x="8865413" y="4617720"/>
            <a:ext cx="2430170" cy="384048"/>
          </a:xfrm>
          <a:prstGeom prst="rect">
            <a:avLst/>
          </a:prstGeom>
          <a:noFill/>
          <a:ln/>
        </p:spPr>
        <p:txBody>
          <a:bodyPr wrap="square" lIns="0" tIns="0" rIns="0" bIns="0" rtlCol="0" anchor="ctr"/>
          <a:lstStyle/>
          <a:p>
            <a:pPr marL="0" indent="0">
              <a:buNone/>
            </a:pPr>
            <a:r>
              <a:rPr lang="en-US" sz="1350" dirty="0">
                <a:solidFill>
                  <a:schemeClr val="tx1"/>
                </a:solidFill>
              </a:rPr>
              <a:t>Pasang sebagai aplikasi (PWA)</a:t>
            </a:r>
            <a:endParaRPr lang="en-US" sz="1350" dirty="0"/>
          </a:p>
        </p:txBody>
      </p:sp>
      <p:sp>
        <p:nvSpPr>
          <p:cNvPr id="7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Manajemen karyawan</a:t>
            </a:r>
            <a:endParaRPr lang="en-US" sz="2800" dirty="0"/>
          </a:p>
        </p:txBody>
      </p:sp>
      <p:sp>
        <p:nvSpPr>
          <p:cNvPr id="3" name="Shape 1"/>
          <p:cNvSpPr/>
          <p:nvPr/>
        </p:nvSpPr>
        <p:spPr>
          <a:xfrm>
            <a:off x="548640" y="1325880"/>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accent1"/>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Data karyawan</a:t>
            </a:r>
            <a:endParaRPr lang="en-US" sz="1700" dirty="0"/>
          </a:p>
        </p:txBody>
      </p:sp>
      <p:sp>
        <p:nvSpPr>
          <p:cNvPr id="7" name="Text 4"/>
          <p:cNvSpPr txBox="1"/>
          <p:nvPr/>
        </p:nvSpPr>
        <p:spPr>
          <a:xfrm>
            <a:off x="822960" y="2331720"/>
            <a:ext cx="2978810" cy="1097280"/>
          </a:xfrm>
          <a:prstGeom prst="rect">
            <a:avLst/>
          </a:prstGeom>
          <a:noFill/>
          <a:ln/>
        </p:spPr>
        <p:txBody>
          <a:bodyPr wrap="square" lIns="0" tIns="0" rIns="0" bIns="0" rtlCol="0" anchor="t"/>
          <a:lstStyle/>
          <a:p>
            <a:pPr marL="0" indent="0">
              <a:buNone/>
            </a:pPr>
            <a:r>
              <a:rPr lang="en-US" sz="1400" dirty="0">
                <a:solidFill>
                  <a:schemeClr val="tx1"/>
                </a:solidFill>
              </a:rPr>
              <a:t>NIK (angka), tipe tetap/outsourcing/magang, unit, institusi atau vendor, mulai dinas.</a:t>
            </a:r>
            <a:endParaRPr lang="en-US" sz="1400" dirty="0"/>
          </a:p>
        </p:txBody>
      </p:sp>
      <p:sp>
        <p:nvSpPr>
          <p:cNvPr id="8" name="Shape 5"/>
          <p:cNvSpPr/>
          <p:nvPr/>
        </p:nvSpPr>
        <p:spPr>
          <a:xfrm>
            <a:off x="4332122" y="1325880"/>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9" name="Shape 6"/>
          <p:cNvSpPr/>
          <p:nvPr/>
        </p:nvSpPr>
        <p:spPr>
          <a:xfrm>
            <a:off x="4606442" y="1600200"/>
            <a:ext cx="566928" cy="566928"/>
          </a:xfrm>
          <a:prstGeom prst="roundRect">
            <a:avLst>
              <a:gd name="adj" fmla="val 22000"/>
            </a:avLst>
          </a:prstGeom>
          <a:solidFill>
            <a:schemeClr val="accent1"/>
          </a:solidFill>
          <a:ln/>
        </p:spPr>
      </p:sp>
      <p:pic>
        <p:nvPicPr>
          <p:cNvPr id="10" name="Image 1" descr="preencoded.png"/>
          <p:cNvPicPr>
            <a:picLocks noChangeAspect="1"/>
          </p:cNvPicPr>
          <p:nvPr/>
        </p:nvPicPr>
        <p:blipFill>
          <a:blip r:embed="rId4"/>
          <a:stretch>
            <a:fillRect/>
          </a:stretch>
        </p:blipFill>
        <p:spPr>
          <a:xfrm>
            <a:off x="4748174" y="1741932"/>
            <a:ext cx="283464" cy="283464"/>
          </a:xfrm>
          <a:prstGeom prst="rect">
            <a:avLst/>
          </a:prstGeom>
        </p:spPr>
      </p:pic>
      <p:sp>
        <p:nvSpPr>
          <p:cNvPr id="11" name="Text 7"/>
          <p:cNvSpPr txBox="1"/>
          <p:nvPr/>
        </p:nvSpPr>
        <p:spPr>
          <a:xfrm>
            <a:off x="5319674"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Impor dan ekspor Excel</a:t>
            </a:r>
            <a:endParaRPr lang="en-US" sz="1700" dirty="0"/>
          </a:p>
        </p:txBody>
      </p:sp>
      <p:sp>
        <p:nvSpPr>
          <p:cNvPr id="12" name="Text 8"/>
          <p:cNvSpPr txBox="1"/>
          <p:nvPr/>
        </p:nvSpPr>
        <p:spPr>
          <a:xfrm>
            <a:off x="4606442" y="2331720"/>
            <a:ext cx="2978810" cy="1097280"/>
          </a:xfrm>
          <a:prstGeom prst="rect">
            <a:avLst/>
          </a:prstGeom>
          <a:noFill/>
          <a:ln/>
        </p:spPr>
        <p:txBody>
          <a:bodyPr wrap="square" lIns="0" tIns="0" rIns="0" bIns="0" rtlCol="0" anchor="t"/>
          <a:lstStyle/>
          <a:p>
            <a:pPr marL="0" indent="0">
              <a:buNone/>
            </a:pPr>
            <a:r>
              <a:rPr lang="en-US" sz="1400" dirty="0">
                <a:solidFill>
                  <a:schemeClr val="tx1"/>
                </a:solidFill>
              </a:rPr>
              <a:t>Templat impor dengan validasi per baris; ekspor daftar karyawan.</a:t>
            </a:r>
            <a:endParaRPr lang="en-US" sz="1400" dirty="0"/>
          </a:p>
        </p:txBody>
      </p:sp>
      <p:sp>
        <p:nvSpPr>
          <p:cNvPr id="13" name="Shape 9"/>
          <p:cNvSpPr/>
          <p:nvPr/>
        </p:nvSpPr>
        <p:spPr>
          <a:xfrm>
            <a:off x="8115605" y="1325880"/>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4" name="Shape 10"/>
          <p:cNvSpPr/>
          <p:nvPr/>
        </p:nvSpPr>
        <p:spPr>
          <a:xfrm>
            <a:off x="8389925" y="1600200"/>
            <a:ext cx="566928" cy="566928"/>
          </a:xfrm>
          <a:prstGeom prst="roundRect">
            <a:avLst>
              <a:gd name="adj" fmla="val 22000"/>
            </a:avLst>
          </a:prstGeom>
          <a:solidFill>
            <a:schemeClr val="accent1"/>
          </a:solidFill>
          <a:ln/>
        </p:spPr>
      </p:sp>
      <p:pic>
        <p:nvPicPr>
          <p:cNvPr id="15" name="Image 2" descr="preencoded.png"/>
          <p:cNvPicPr>
            <a:picLocks noChangeAspect="1"/>
          </p:cNvPicPr>
          <p:nvPr/>
        </p:nvPicPr>
        <p:blipFill>
          <a:blip r:embed="rId5"/>
          <a:stretch>
            <a:fillRect/>
          </a:stretch>
        </p:blipFill>
        <p:spPr>
          <a:xfrm>
            <a:off x="8531657" y="1741932"/>
            <a:ext cx="283464" cy="283464"/>
          </a:xfrm>
          <a:prstGeom prst="rect">
            <a:avLst/>
          </a:prstGeom>
        </p:spPr>
      </p:pic>
      <p:sp>
        <p:nvSpPr>
          <p:cNvPr id="16" name="Text 11"/>
          <p:cNvSpPr txBox="1"/>
          <p:nvPr/>
        </p:nvSpPr>
        <p:spPr>
          <a:xfrm>
            <a:off x="9103157" y="1600200"/>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Akun otomatis</a:t>
            </a:r>
            <a:endParaRPr lang="en-US" sz="1700" dirty="0"/>
          </a:p>
        </p:txBody>
      </p:sp>
      <p:sp>
        <p:nvSpPr>
          <p:cNvPr id="17" name="Text 12"/>
          <p:cNvSpPr txBox="1"/>
          <p:nvPr/>
        </p:nvSpPr>
        <p:spPr>
          <a:xfrm>
            <a:off x="8389925" y="2331720"/>
            <a:ext cx="2978810" cy="1097280"/>
          </a:xfrm>
          <a:prstGeom prst="rect">
            <a:avLst/>
          </a:prstGeom>
          <a:noFill/>
          <a:ln/>
        </p:spPr>
        <p:txBody>
          <a:bodyPr wrap="square" lIns="0" tIns="0" rIns="0" bIns="0" rtlCol="0" anchor="t"/>
          <a:lstStyle/>
          <a:p>
            <a:pPr marL="0" indent="0">
              <a:buNone/>
            </a:pPr>
            <a:r>
              <a:rPr lang="en-US" sz="1400" dirty="0">
                <a:solidFill>
                  <a:schemeClr val="tx1"/>
                </a:solidFill>
              </a:rPr>
              <a:t>Kredensial dikirim ke email; kata sandi wajib diganti saat pertama masuk.</a:t>
            </a:r>
            <a:endParaRPr lang="en-US" sz="1400" dirty="0"/>
          </a:p>
        </p:txBody>
      </p:sp>
      <p:sp>
        <p:nvSpPr>
          <p:cNvPr id="18" name="Shape 13"/>
          <p:cNvSpPr/>
          <p:nvPr/>
        </p:nvSpPr>
        <p:spPr>
          <a:xfrm>
            <a:off x="548640" y="3822192"/>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9" name="Shape 14"/>
          <p:cNvSpPr/>
          <p:nvPr/>
        </p:nvSpPr>
        <p:spPr>
          <a:xfrm>
            <a:off x="822960" y="4096512"/>
            <a:ext cx="566928" cy="566928"/>
          </a:xfrm>
          <a:prstGeom prst="roundRect">
            <a:avLst>
              <a:gd name="adj" fmla="val 22000"/>
            </a:avLst>
          </a:prstGeom>
          <a:solidFill>
            <a:schemeClr val="accent1"/>
          </a:solidFill>
          <a:ln/>
        </p:spPr>
      </p:sp>
      <p:pic>
        <p:nvPicPr>
          <p:cNvPr id="20" name="Image 3" descr="preencoded.png"/>
          <p:cNvPicPr>
            <a:picLocks noChangeAspect="1"/>
          </p:cNvPicPr>
          <p:nvPr/>
        </p:nvPicPr>
        <p:blipFill>
          <a:blip r:embed="rId6"/>
          <a:stretch>
            <a:fillRect/>
          </a:stretch>
        </p:blipFill>
        <p:spPr>
          <a:xfrm>
            <a:off x="964692" y="4238244"/>
            <a:ext cx="283464" cy="283464"/>
          </a:xfrm>
          <a:prstGeom prst="rect">
            <a:avLst/>
          </a:prstGeom>
        </p:spPr>
      </p:pic>
      <p:sp>
        <p:nvSpPr>
          <p:cNvPr id="21" name="Text 15"/>
          <p:cNvSpPr txBox="1"/>
          <p:nvPr/>
        </p:nvSpPr>
        <p:spPr>
          <a:xfrm>
            <a:off x="1536192" y="4096512"/>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Reset kata sandi dan wajah</a:t>
            </a:r>
            <a:endParaRPr lang="en-US" sz="1700" dirty="0"/>
          </a:p>
        </p:txBody>
      </p:sp>
      <p:sp>
        <p:nvSpPr>
          <p:cNvPr id="22" name="Text 16"/>
          <p:cNvSpPr txBox="1"/>
          <p:nvPr/>
        </p:nvSpPr>
        <p:spPr>
          <a:xfrm>
            <a:off x="822960" y="4828032"/>
            <a:ext cx="2978810" cy="1097280"/>
          </a:xfrm>
          <a:prstGeom prst="rect">
            <a:avLst/>
          </a:prstGeom>
          <a:noFill/>
          <a:ln/>
        </p:spPr>
        <p:txBody>
          <a:bodyPr wrap="square" lIns="0" tIns="0" rIns="0" bIns="0" rtlCol="0" anchor="t"/>
          <a:lstStyle/>
          <a:p>
            <a:pPr marL="0" indent="0">
              <a:buNone/>
            </a:pPr>
            <a:r>
              <a:rPr lang="en-US" sz="1400" dirty="0">
                <a:solidFill>
                  <a:schemeClr val="tx1"/>
                </a:solidFill>
              </a:rPr>
              <a:t>Satuan atau massal; sesi lama di perangkat lain berakhir.</a:t>
            </a:r>
            <a:endParaRPr lang="en-US" sz="1400" dirty="0"/>
          </a:p>
        </p:txBody>
      </p:sp>
      <p:sp>
        <p:nvSpPr>
          <p:cNvPr id="23" name="Shape 17"/>
          <p:cNvSpPr/>
          <p:nvPr/>
        </p:nvSpPr>
        <p:spPr>
          <a:xfrm>
            <a:off x="4332122" y="3822192"/>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Shape 18"/>
          <p:cNvSpPr/>
          <p:nvPr/>
        </p:nvSpPr>
        <p:spPr>
          <a:xfrm>
            <a:off x="4606442" y="4096512"/>
            <a:ext cx="566928" cy="566928"/>
          </a:xfrm>
          <a:prstGeom prst="roundRect">
            <a:avLst>
              <a:gd name="adj" fmla="val 22000"/>
            </a:avLst>
          </a:prstGeom>
          <a:solidFill>
            <a:schemeClr val="accent1"/>
          </a:solidFill>
          <a:ln/>
        </p:spPr>
      </p:sp>
      <p:pic>
        <p:nvPicPr>
          <p:cNvPr id="25" name="Image 4" descr="preencoded.png"/>
          <p:cNvPicPr>
            <a:picLocks noChangeAspect="1"/>
          </p:cNvPicPr>
          <p:nvPr/>
        </p:nvPicPr>
        <p:blipFill>
          <a:blip r:embed="rId7"/>
          <a:stretch>
            <a:fillRect/>
          </a:stretch>
        </p:blipFill>
        <p:spPr>
          <a:xfrm>
            <a:off x="4748174" y="4238244"/>
            <a:ext cx="283464" cy="283464"/>
          </a:xfrm>
          <a:prstGeom prst="rect">
            <a:avLst/>
          </a:prstGeom>
        </p:spPr>
      </p:pic>
      <p:sp>
        <p:nvSpPr>
          <p:cNvPr id="26" name="Text 19"/>
          <p:cNvSpPr txBox="1"/>
          <p:nvPr/>
        </p:nvSpPr>
        <p:spPr>
          <a:xfrm>
            <a:off x="5319674" y="4096512"/>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Nonaktifkan</a:t>
            </a:r>
            <a:endParaRPr lang="en-US" sz="1700" dirty="0"/>
          </a:p>
        </p:txBody>
      </p:sp>
      <p:sp>
        <p:nvSpPr>
          <p:cNvPr id="27" name="Text 20"/>
          <p:cNvSpPr txBox="1"/>
          <p:nvPr/>
        </p:nvSpPr>
        <p:spPr>
          <a:xfrm>
            <a:off x="4606442" y="4828032"/>
            <a:ext cx="2978810" cy="1097280"/>
          </a:xfrm>
          <a:prstGeom prst="rect">
            <a:avLst/>
          </a:prstGeom>
          <a:noFill/>
          <a:ln/>
        </p:spPr>
        <p:txBody>
          <a:bodyPr wrap="square" lIns="0" tIns="0" rIns="0" bIns="0" rtlCol="0" anchor="t"/>
          <a:lstStyle/>
          <a:p>
            <a:pPr marL="0" indent="0">
              <a:buNone/>
            </a:pPr>
            <a:r>
              <a:rPr lang="en-US" sz="1400" dirty="0">
                <a:solidFill>
                  <a:schemeClr val="tx1"/>
                </a:solidFill>
              </a:rPr>
              <a:t>Akun nonaktif tidak bisa masuk; data dan riwayat tetap tersimpan.</a:t>
            </a:r>
            <a:endParaRPr lang="en-US" sz="1400" dirty="0"/>
          </a:p>
        </p:txBody>
      </p:sp>
      <p:sp>
        <p:nvSpPr>
          <p:cNvPr id="28" name="Shape 21"/>
          <p:cNvSpPr/>
          <p:nvPr/>
        </p:nvSpPr>
        <p:spPr>
          <a:xfrm>
            <a:off x="8115605" y="3822192"/>
            <a:ext cx="352745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9" name="Shape 22"/>
          <p:cNvSpPr/>
          <p:nvPr/>
        </p:nvSpPr>
        <p:spPr>
          <a:xfrm>
            <a:off x="8389925" y="4096512"/>
            <a:ext cx="566928" cy="566928"/>
          </a:xfrm>
          <a:prstGeom prst="roundRect">
            <a:avLst>
              <a:gd name="adj" fmla="val 22000"/>
            </a:avLst>
          </a:prstGeom>
          <a:solidFill>
            <a:schemeClr val="accent1"/>
          </a:solidFill>
          <a:ln/>
        </p:spPr>
      </p:sp>
      <p:pic>
        <p:nvPicPr>
          <p:cNvPr id="30" name="Image 5" descr="preencoded.png"/>
          <p:cNvPicPr>
            <a:picLocks noChangeAspect="1"/>
          </p:cNvPicPr>
          <p:nvPr/>
        </p:nvPicPr>
        <p:blipFill>
          <a:blip r:embed="rId8"/>
          <a:stretch>
            <a:fillRect/>
          </a:stretch>
        </p:blipFill>
        <p:spPr>
          <a:xfrm>
            <a:off x="8531657" y="4238244"/>
            <a:ext cx="283464" cy="283464"/>
          </a:xfrm>
          <a:prstGeom prst="rect">
            <a:avLst/>
          </a:prstGeom>
        </p:spPr>
      </p:pic>
      <p:sp>
        <p:nvSpPr>
          <p:cNvPr id="31" name="Text 23"/>
          <p:cNvSpPr txBox="1"/>
          <p:nvPr/>
        </p:nvSpPr>
        <p:spPr>
          <a:xfrm>
            <a:off x="9103157" y="4096512"/>
            <a:ext cx="2338730" cy="566928"/>
          </a:xfrm>
          <a:prstGeom prst="rect">
            <a:avLst/>
          </a:prstGeom>
          <a:noFill/>
          <a:ln/>
        </p:spPr>
        <p:txBody>
          <a:bodyPr wrap="square" lIns="0" tIns="0" rIns="0" bIns="0" rtlCol="0" anchor="ctr"/>
          <a:lstStyle/>
          <a:p>
            <a:pPr marL="0" indent="0">
              <a:buNone/>
            </a:pPr>
            <a:r>
              <a:rPr lang="en-US" sz="1700" b="1" dirty="0">
                <a:solidFill>
                  <a:schemeClr val="tx2"/>
                </a:solidFill>
              </a:rPr>
              <a:t>Detail karyawan</a:t>
            </a:r>
            <a:endParaRPr lang="en-US" sz="1700" dirty="0"/>
          </a:p>
        </p:txBody>
      </p:sp>
      <p:sp>
        <p:nvSpPr>
          <p:cNvPr id="32" name="Text 24"/>
          <p:cNvSpPr txBox="1"/>
          <p:nvPr/>
        </p:nvSpPr>
        <p:spPr>
          <a:xfrm>
            <a:off x="8389925" y="4828032"/>
            <a:ext cx="2978810" cy="1097280"/>
          </a:xfrm>
          <a:prstGeom prst="rect">
            <a:avLst/>
          </a:prstGeom>
          <a:noFill/>
          <a:ln/>
        </p:spPr>
        <p:txBody>
          <a:bodyPr wrap="square" lIns="0" tIns="0" rIns="0" bIns="0" rtlCol="0" anchor="t"/>
          <a:lstStyle/>
          <a:p>
            <a:pPr marL="0" indent="0">
              <a:buNone/>
            </a:pPr>
            <a:r>
              <a:rPr lang="en-US" sz="1400" dirty="0">
                <a:solidFill>
                  <a:schemeClr val="tx1"/>
                </a:solidFill>
              </a:rPr>
              <a:t>Tab Ringkasan, Kehadiran (kalender), Pengajuan, dan Dokumen.</a:t>
            </a:r>
            <a:endParaRPr lang="en-US" sz="1400" dirty="0"/>
          </a:p>
        </p:txBody>
      </p:sp>
      <p:sp>
        <p:nvSpPr>
          <p:cNvPr id="33"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Unit, akun admin, dan pengaturan</a:t>
            </a:r>
            <a:endParaRPr lang="en-US" sz="2800" dirty="0"/>
          </a:p>
        </p:txBody>
      </p:sp>
      <p:sp>
        <p:nvSpPr>
          <p:cNvPr id="3" name="Shape 1"/>
          <p:cNvSpPr/>
          <p:nvPr/>
        </p:nvSpPr>
        <p:spPr>
          <a:xfrm>
            <a:off x="548640"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tx2"/>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Kelola unit</a:t>
            </a:r>
            <a:endParaRPr lang="en-US" sz="1700" dirty="0"/>
          </a:p>
        </p:txBody>
      </p:sp>
      <p:sp>
        <p:nvSpPr>
          <p:cNvPr id="7" name="Text 4"/>
          <p:cNvSpPr txBox="1"/>
          <p:nvPr/>
        </p:nvSpPr>
        <p:spPr>
          <a:xfrm>
            <a:off x="822960" y="2331720"/>
            <a:ext cx="2032940" cy="1097280"/>
          </a:xfrm>
          <a:prstGeom prst="rect">
            <a:avLst/>
          </a:prstGeom>
          <a:noFill/>
          <a:ln/>
        </p:spPr>
        <p:txBody>
          <a:bodyPr wrap="square" lIns="0" tIns="0" rIns="0" bIns="0" rtlCol="0" anchor="t"/>
          <a:lstStyle/>
          <a:p>
            <a:pPr marL="0" indent="0">
              <a:buNone/>
            </a:pPr>
            <a:r>
              <a:rPr lang="en-US" sz="1400" dirty="0">
                <a:solidFill>
                  <a:schemeClr val="tx1"/>
                </a:solidFill>
              </a:rPr>
              <a:t>Satu unit boleh punya beberapa Kepala Unit.</a:t>
            </a:r>
            <a:endParaRPr lang="en-US" sz="1400" dirty="0"/>
          </a:p>
        </p:txBody>
      </p:sp>
      <p:sp>
        <p:nvSpPr>
          <p:cNvPr id="8" name="Shape 5"/>
          <p:cNvSpPr/>
          <p:nvPr/>
        </p:nvSpPr>
        <p:spPr>
          <a:xfrm>
            <a:off x="3386252"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9" name="Shape 6"/>
          <p:cNvSpPr/>
          <p:nvPr/>
        </p:nvSpPr>
        <p:spPr>
          <a:xfrm>
            <a:off x="3660572" y="1600200"/>
            <a:ext cx="566928" cy="566928"/>
          </a:xfrm>
          <a:prstGeom prst="roundRect">
            <a:avLst>
              <a:gd name="adj" fmla="val 22000"/>
            </a:avLst>
          </a:prstGeom>
          <a:solidFill>
            <a:schemeClr val="tx2"/>
          </a:solidFill>
          <a:ln/>
        </p:spPr>
      </p:sp>
      <p:pic>
        <p:nvPicPr>
          <p:cNvPr id="10" name="Image 1" descr="preencoded.png"/>
          <p:cNvPicPr>
            <a:picLocks noChangeAspect="1"/>
          </p:cNvPicPr>
          <p:nvPr/>
        </p:nvPicPr>
        <p:blipFill>
          <a:blip r:embed="rId4"/>
          <a:stretch>
            <a:fillRect/>
          </a:stretch>
        </p:blipFill>
        <p:spPr>
          <a:xfrm>
            <a:off x="3802304" y="1741932"/>
            <a:ext cx="283464" cy="283464"/>
          </a:xfrm>
          <a:prstGeom prst="rect">
            <a:avLst/>
          </a:prstGeom>
        </p:spPr>
      </p:pic>
      <p:sp>
        <p:nvSpPr>
          <p:cNvPr id="11" name="Text 7"/>
          <p:cNvSpPr txBox="1"/>
          <p:nvPr/>
        </p:nvSpPr>
        <p:spPr>
          <a:xfrm>
            <a:off x="4373804"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Kelola admin</a:t>
            </a:r>
            <a:endParaRPr lang="en-US" sz="1700" dirty="0"/>
          </a:p>
        </p:txBody>
      </p:sp>
      <p:sp>
        <p:nvSpPr>
          <p:cNvPr id="12" name="Text 8"/>
          <p:cNvSpPr txBox="1"/>
          <p:nvPr/>
        </p:nvSpPr>
        <p:spPr>
          <a:xfrm>
            <a:off x="3660572" y="2331720"/>
            <a:ext cx="2032940" cy="1097280"/>
          </a:xfrm>
          <a:prstGeom prst="rect">
            <a:avLst/>
          </a:prstGeom>
          <a:noFill/>
          <a:ln/>
        </p:spPr>
        <p:txBody>
          <a:bodyPr wrap="square" lIns="0" tIns="0" rIns="0" bIns="0" rtlCol="0" anchor="t"/>
          <a:lstStyle/>
          <a:p>
            <a:pPr marL="0" indent="0">
              <a:buNone/>
            </a:pPr>
            <a:r>
              <a:rPr lang="en-US" sz="1400" dirty="0">
                <a:solidFill>
                  <a:schemeClr val="tx1"/>
                </a:solidFill>
              </a:rPr>
              <a:t>Akun Admin SDM dan Kepala Unit.</a:t>
            </a:r>
            <a:endParaRPr lang="en-US" sz="1400" dirty="0"/>
          </a:p>
        </p:txBody>
      </p:sp>
      <p:sp>
        <p:nvSpPr>
          <p:cNvPr id="13" name="Shape 9"/>
          <p:cNvSpPr/>
          <p:nvPr/>
        </p:nvSpPr>
        <p:spPr>
          <a:xfrm>
            <a:off x="6223864"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4" name="Shape 10"/>
          <p:cNvSpPr/>
          <p:nvPr/>
        </p:nvSpPr>
        <p:spPr>
          <a:xfrm>
            <a:off x="6498184" y="1600200"/>
            <a:ext cx="566928" cy="566928"/>
          </a:xfrm>
          <a:prstGeom prst="roundRect">
            <a:avLst>
              <a:gd name="adj" fmla="val 22000"/>
            </a:avLst>
          </a:prstGeom>
          <a:solidFill>
            <a:schemeClr val="accent1"/>
          </a:solidFill>
          <a:ln/>
        </p:spPr>
      </p:sp>
      <p:pic>
        <p:nvPicPr>
          <p:cNvPr id="15" name="Image 2" descr="preencoded.png"/>
          <p:cNvPicPr>
            <a:picLocks noChangeAspect="1"/>
          </p:cNvPicPr>
          <p:nvPr/>
        </p:nvPicPr>
        <p:blipFill>
          <a:blip r:embed="rId5"/>
          <a:stretch>
            <a:fillRect/>
          </a:stretch>
        </p:blipFill>
        <p:spPr>
          <a:xfrm>
            <a:off x="6639916" y="1741932"/>
            <a:ext cx="283464" cy="283464"/>
          </a:xfrm>
          <a:prstGeom prst="rect">
            <a:avLst/>
          </a:prstGeom>
        </p:spPr>
      </p:pic>
      <p:sp>
        <p:nvSpPr>
          <p:cNvPr id="16" name="Text 11"/>
          <p:cNvSpPr txBox="1"/>
          <p:nvPr/>
        </p:nvSpPr>
        <p:spPr>
          <a:xfrm>
            <a:off x="7211416"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Lokasi presensi</a:t>
            </a:r>
            <a:endParaRPr lang="en-US" sz="1700" dirty="0"/>
          </a:p>
        </p:txBody>
      </p:sp>
      <p:sp>
        <p:nvSpPr>
          <p:cNvPr id="17" name="Text 12"/>
          <p:cNvSpPr txBox="1"/>
          <p:nvPr/>
        </p:nvSpPr>
        <p:spPr>
          <a:xfrm>
            <a:off x="6498184" y="2331720"/>
            <a:ext cx="2032940" cy="1097280"/>
          </a:xfrm>
          <a:prstGeom prst="rect">
            <a:avLst/>
          </a:prstGeom>
          <a:noFill/>
          <a:ln/>
        </p:spPr>
        <p:txBody>
          <a:bodyPr wrap="square" lIns="0" tIns="0" rIns="0" bIns="0" rtlCol="0" anchor="t"/>
          <a:lstStyle/>
          <a:p>
            <a:pPr marL="0" indent="0">
              <a:buNone/>
            </a:pPr>
            <a:r>
              <a:rPr lang="en-US" sz="1400" dirty="0">
                <a:solidFill>
                  <a:schemeClr val="tx1"/>
                </a:solidFill>
              </a:rPr>
              <a:t>Titik di peta dan radius area.</a:t>
            </a:r>
            <a:endParaRPr lang="en-US" sz="1400" dirty="0"/>
          </a:p>
        </p:txBody>
      </p:sp>
      <p:sp>
        <p:nvSpPr>
          <p:cNvPr id="18" name="Shape 13"/>
          <p:cNvSpPr/>
          <p:nvPr/>
        </p:nvSpPr>
        <p:spPr>
          <a:xfrm>
            <a:off x="9061475" y="1325880"/>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9" name="Shape 14"/>
          <p:cNvSpPr/>
          <p:nvPr/>
        </p:nvSpPr>
        <p:spPr>
          <a:xfrm>
            <a:off x="9335795" y="1600200"/>
            <a:ext cx="566928" cy="566928"/>
          </a:xfrm>
          <a:prstGeom prst="roundRect">
            <a:avLst>
              <a:gd name="adj" fmla="val 22000"/>
            </a:avLst>
          </a:prstGeom>
          <a:solidFill>
            <a:schemeClr val="accent1"/>
          </a:solidFill>
          <a:ln/>
        </p:spPr>
      </p:sp>
      <p:pic>
        <p:nvPicPr>
          <p:cNvPr id="20" name="Image 3" descr="preencoded.png"/>
          <p:cNvPicPr>
            <a:picLocks noChangeAspect="1"/>
          </p:cNvPicPr>
          <p:nvPr/>
        </p:nvPicPr>
        <p:blipFill>
          <a:blip r:embed="rId6"/>
          <a:stretch>
            <a:fillRect/>
          </a:stretch>
        </p:blipFill>
        <p:spPr>
          <a:xfrm>
            <a:off x="9477527" y="1741932"/>
            <a:ext cx="283464" cy="283464"/>
          </a:xfrm>
          <a:prstGeom prst="rect">
            <a:avLst/>
          </a:prstGeom>
        </p:spPr>
      </p:pic>
      <p:sp>
        <p:nvSpPr>
          <p:cNvPr id="21" name="Text 15"/>
          <p:cNvSpPr txBox="1"/>
          <p:nvPr/>
        </p:nvSpPr>
        <p:spPr>
          <a:xfrm>
            <a:off x="10049027" y="1600200"/>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Jam shift</a:t>
            </a:r>
            <a:endParaRPr lang="en-US" sz="1700" dirty="0"/>
          </a:p>
        </p:txBody>
      </p:sp>
      <p:sp>
        <p:nvSpPr>
          <p:cNvPr id="22" name="Text 16"/>
          <p:cNvSpPr txBox="1"/>
          <p:nvPr/>
        </p:nvSpPr>
        <p:spPr>
          <a:xfrm>
            <a:off x="9335795" y="2331720"/>
            <a:ext cx="2032940" cy="1097280"/>
          </a:xfrm>
          <a:prstGeom prst="rect">
            <a:avLst/>
          </a:prstGeom>
          <a:noFill/>
          <a:ln/>
        </p:spPr>
        <p:txBody>
          <a:bodyPr wrap="square" lIns="0" tIns="0" rIns="0" bIns="0" rtlCol="0" anchor="t"/>
          <a:lstStyle/>
          <a:p>
            <a:pPr marL="0" indent="0">
              <a:buNone/>
            </a:pPr>
            <a:r>
              <a:rPr lang="en-US" sz="1400" dirty="0">
                <a:solidFill>
                  <a:schemeClr val="tx1"/>
                </a:solidFill>
              </a:rPr>
              <a:t>Jenis shift dan jendela absen.</a:t>
            </a:r>
            <a:endParaRPr lang="en-US" sz="1400" dirty="0"/>
          </a:p>
        </p:txBody>
      </p:sp>
      <p:sp>
        <p:nvSpPr>
          <p:cNvPr id="23" name="Shape 17"/>
          <p:cNvSpPr/>
          <p:nvPr/>
        </p:nvSpPr>
        <p:spPr>
          <a:xfrm>
            <a:off x="548640"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4" name="Shape 18"/>
          <p:cNvSpPr/>
          <p:nvPr/>
        </p:nvSpPr>
        <p:spPr>
          <a:xfrm>
            <a:off x="822960" y="4096512"/>
            <a:ext cx="566928" cy="566928"/>
          </a:xfrm>
          <a:prstGeom prst="roundRect">
            <a:avLst>
              <a:gd name="adj" fmla="val 22000"/>
            </a:avLst>
          </a:prstGeom>
          <a:solidFill>
            <a:schemeClr val="accent1"/>
          </a:solidFill>
          <a:ln/>
        </p:spPr>
      </p:sp>
      <p:pic>
        <p:nvPicPr>
          <p:cNvPr id="25" name="Image 4" descr="preencoded.png"/>
          <p:cNvPicPr>
            <a:picLocks noChangeAspect="1"/>
          </p:cNvPicPr>
          <p:nvPr/>
        </p:nvPicPr>
        <p:blipFill>
          <a:blip r:embed="rId7"/>
          <a:stretch>
            <a:fillRect/>
          </a:stretch>
        </p:blipFill>
        <p:spPr>
          <a:xfrm>
            <a:off x="964692" y="4238244"/>
            <a:ext cx="283464" cy="283464"/>
          </a:xfrm>
          <a:prstGeom prst="rect">
            <a:avLst/>
          </a:prstGeom>
        </p:spPr>
      </p:pic>
      <p:sp>
        <p:nvSpPr>
          <p:cNvPr id="26" name="Text 19"/>
          <p:cNvSpPr txBox="1"/>
          <p:nvPr/>
        </p:nvSpPr>
        <p:spPr>
          <a:xfrm>
            <a:off x="1536192"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Pola shift</a:t>
            </a:r>
            <a:endParaRPr lang="en-US" sz="1700" dirty="0"/>
          </a:p>
        </p:txBody>
      </p:sp>
      <p:sp>
        <p:nvSpPr>
          <p:cNvPr id="27" name="Text 20"/>
          <p:cNvSpPr txBox="1"/>
          <p:nvPr/>
        </p:nvSpPr>
        <p:spPr>
          <a:xfrm>
            <a:off x="822960" y="4828032"/>
            <a:ext cx="2032940" cy="1097280"/>
          </a:xfrm>
          <a:prstGeom prst="rect">
            <a:avLst/>
          </a:prstGeom>
          <a:noFill/>
          <a:ln/>
        </p:spPr>
        <p:txBody>
          <a:bodyPr wrap="square" lIns="0" tIns="0" rIns="0" bIns="0" rtlCol="0" anchor="t"/>
          <a:lstStyle/>
          <a:p>
            <a:pPr marL="0" indent="0">
              <a:buNone/>
            </a:pPr>
            <a:r>
              <a:rPr lang="en-US" sz="1400" dirty="0">
                <a:solidFill>
                  <a:schemeClr val="tx1"/>
                </a:solidFill>
              </a:rPr>
              <a:t>Urutan shift berulang per unit.</a:t>
            </a:r>
            <a:endParaRPr lang="en-US" sz="1400" dirty="0"/>
          </a:p>
        </p:txBody>
      </p:sp>
      <p:sp>
        <p:nvSpPr>
          <p:cNvPr id="28" name="Shape 21"/>
          <p:cNvSpPr/>
          <p:nvPr/>
        </p:nvSpPr>
        <p:spPr>
          <a:xfrm>
            <a:off x="3386252"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29" name="Shape 22"/>
          <p:cNvSpPr/>
          <p:nvPr/>
        </p:nvSpPr>
        <p:spPr>
          <a:xfrm>
            <a:off x="3660572" y="4096512"/>
            <a:ext cx="566928" cy="566928"/>
          </a:xfrm>
          <a:prstGeom prst="roundRect">
            <a:avLst>
              <a:gd name="adj" fmla="val 22000"/>
            </a:avLst>
          </a:prstGeom>
          <a:solidFill>
            <a:schemeClr val="accent1"/>
          </a:solidFill>
          <a:ln/>
        </p:spPr>
      </p:sp>
      <p:pic>
        <p:nvPicPr>
          <p:cNvPr id="30" name="Image 5" descr="preencoded.png"/>
          <p:cNvPicPr>
            <a:picLocks noChangeAspect="1"/>
          </p:cNvPicPr>
          <p:nvPr/>
        </p:nvPicPr>
        <p:blipFill>
          <a:blip r:embed="rId8"/>
          <a:stretch>
            <a:fillRect/>
          </a:stretch>
        </p:blipFill>
        <p:spPr>
          <a:xfrm>
            <a:off x="3802304" y="4238244"/>
            <a:ext cx="283464" cy="283464"/>
          </a:xfrm>
          <a:prstGeom prst="rect">
            <a:avLst/>
          </a:prstGeom>
        </p:spPr>
      </p:pic>
      <p:sp>
        <p:nvSpPr>
          <p:cNvPr id="31" name="Text 23"/>
          <p:cNvSpPr txBox="1"/>
          <p:nvPr/>
        </p:nvSpPr>
        <p:spPr>
          <a:xfrm>
            <a:off x="4373804"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Hari libur</a:t>
            </a:r>
            <a:endParaRPr lang="en-US" sz="1700" dirty="0"/>
          </a:p>
        </p:txBody>
      </p:sp>
      <p:sp>
        <p:nvSpPr>
          <p:cNvPr id="32" name="Text 24"/>
          <p:cNvSpPr txBox="1"/>
          <p:nvPr/>
        </p:nvSpPr>
        <p:spPr>
          <a:xfrm>
            <a:off x="3660572" y="4828032"/>
            <a:ext cx="2032940" cy="1097280"/>
          </a:xfrm>
          <a:prstGeom prst="rect">
            <a:avLst/>
          </a:prstGeom>
          <a:noFill/>
          <a:ln/>
        </p:spPr>
        <p:txBody>
          <a:bodyPr wrap="square" lIns="0" tIns="0" rIns="0" bIns="0" rtlCol="0" anchor="t"/>
          <a:lstStyle/>
          <a:p>
            <a:pPr marL="0" indent="0">
              <a:buNone/>
            </a:pPr>
            <a:r>
              <a:rPr lang="en-US" sz="1400" dirty="0">
                <a:solidFill>
                  <a:schemeClr val="tx1"/>
                </a:solidFill>
              </a:rPr>
              <a:t>Nasional, cuti bersama, libur rumah sakit.</a:t>
            </a:r>
            <a:endParaRPr lang="en-US" sz="1400" dirty="0"/>
          </a:p>
        </p:txBody>
      </p:sp>
      <p:sp>
        <p:nvSpPr>
          <p:cNvPr id="33" name="Shape 25"/>
          <p:cNvSpPr/>
          <p:nvPr/>
        </p:nvSpPr>
        <p:spPr>
          <a:xfrm>
            <a:off x="6223864"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4" name="Shape 26"/>
          <p:cNvSpPr/>
          <p:nvPr/>
        </p:nvSpPr>
        <p:spPr>
          <a:xfrm>
            <a:off x="6498184" y="4096512"/>
            <a:ext cx="566928" cy="566928"/>
          </a:xfrm>
          <a:prstGeom prst="roundRect">
            <a:avLst>
              <a:gd name="adj" fmla="val 22000"/>
            </a:avLst>
          </a:prstGeom>
          <a:solidFill>
            <a:schemeClr val="accent1"/>
          </a:solidFill>
          <a:ln/>
        </p:spPr>
      </p:sp>
      <p:pic>
        <p:nvPicPr>
          <p:cNvPr id="35" name="Image 6" descr="preencoded.png"/>
          <p:cNvPicPr>
            <a:picLocks noChangeAspect="1"/>
          </p:cNvPicPr>
          <p:nvPr/>
        </p:nvPicPr>
        <p:blipFill>
          <a:blip r:embed="rId9"/>
          <a:stretch>
            <a:fillRect/>
          </a:stretch>
        </p:blipFill>
        <p:spPr>
          <a:xfrm>
            <a:off x="6639916" y="4238244"/>
            <a:ext cx="283464" cy="283464"/>
          </a:xfrm>
          <a:prstGeom prst="rect">
            <a:avLst/>
          </a:prstGeom>
        </p:spPr>
      </p:pic>
      <p:sp>
        <p:nvSpPr>
          <p:cNvPr id="36" name="Text 27"/>
          <p:cNvSpPr txBox="1"/>
          <p:nvPr/>
        </p:nvSpPr>
        <p:spPr>
          <a:xfrm>
            <a:off x="7211416"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Helpdesk</a:t>
            </a:r>
            <a:endParaRPr lang="en-US" sz="1700" dirty="0"/>
          </a:p>
        </p:txBody>
      </p:sp>
      <p:sp>
        <p:nvSpPr>
          <p:cNvPr id="37" name="Text 28"/>
          <p:cNvSpPr txBox="1"/>
          <p:nvPr/>
        </p:nvSpPr>
        <p:spPr>
          <a:xfrm>
            <a:off x="6498184" y="4828032"/>
            <a:ext cx="2032940" cy="1097280"/>
          </a:xfrm>
          <a:prstGeom prst="rect">
            <a:avLst/>
          </a:prstGeom>
          <a:noFill/>
          <a:ln/>
        </p:spPr>
        <p:txBody>
          <a:bodyPr wrap="square" lIns="0" tIns="0" rIns="0" bIns="0" rtlCol="0" anchor="t"/>
          <a:lstStyle/>
          <a:p>
            <a:pPr marL="0" indent="0">
              <a:buNone/>
            </a:pPr>
            <a:r>
              <a:rPr lang="en-US" sz="1400" dirty="0">
                <a:solidFill>
                  <a:schemeClr val="tx1"/>
                </a:solidFill>
              </a:rPr>
              <a:t>Kontak bantuan untuk karyawan.</a:t>
            </a:r>
            <a:endParaRPr lang="en-US" sz="1400" dirty="0"/>
          </a:p>
        </p:txBody>
      </p:sp>
      <p:sp>
        <p:nvSpPr>
          <p:cNvPr id="38" name="Shape 29"/>
          <p:cNvSpPr/>
          <p:nvPr/>
        </p:nvSpPr>
        <p:spPr>
          <a:xfrm>
            <a:off x="9061475" y="3822192"/>
            <a:ext cx="2581580" cy="2240280"/>
          </a:xfrm>
          <a:prstGeom prst="roundRect">
            <a:avLst>
              <a:gd name="adj" fmla="val 4898"/>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39" name="Shape 30"/>
          <p:cNvSpPr/>
          <p:nvPr/>
        </p:nvSpPr>
        <p:spPr>
          <a:xfrm>
            <a:off x="9335795" y="4096512"/>
            <a:ext cx="566928" cy="566928"/>
          </a:xfrm>
          <a:prstGeom prst="roundRect">
            <a:avLst>
              <a:gd name="adj" fmla="val 22000"/>
            </a:avLst>
          </a:prstGeom>
          <a:solidFill>
            <a:schemeClr val="accent1"/>
          </a:solidFill>
          <a:ln/>
        </p:spPr>
      </p:sp>
      <p:pic>
        <p:nvPicPr>
          <p:cNvPr id="40" name="Image 7" descr="preencoded.png"/>
          <p:cNvPicPr>
            <a:picLocks noChangeAspect="1"/>
          </p:cNvPicPr>
          <p:nvPr/>
        </p:nvPicPr>
        <p:blipFill>
          <a:blip r:embed="rId10"/>
          <a:stretch>
            <a:fillRect/>
          </a:stretch>
        </p:blipFill>
        <p:spPr>
          <a:xfrm>
            <a:off x="9477527" y="4238244"/>
            <a:ext cx="283464" cy="283464"/>
          </a:xfrm>
          <a:prstGeom prst="rect">
            <a:avLst/>
          </a:prstGeom>
        </p:spPr>
      </p:pic>
      <p:sp>
        <p:nvSpPr>
          <p:cNvPr id="41" name="Text 31"/>
          <p:cNvSpPr txBox="1"/>
          <p:nvPr/>
        </p:nvSpPr>
        <p:spPr>
          <a:xfrm>
            <a:off x="10049027" y="4096512"/>
            <a:ext cx="1392860" cy="566928"/>
          </a:xfrm>
          <a:prstGeom prst="rect">
            <a:avLst/>
          </a:prstGeom>
          <a:noFill/>
          <a:ln/>
        </p:spPr>
        <p:txBody>
          <a:bodyPr wrap="square" lIns="0" tIns="0" rIns="0" bIns="0" rtlCol="0" anchor="ctr"/>
          <a:lstStyle/>
          <a:p>
            <a:pPr marL="0" indent="0">
              <a:buNone/>
            </a:pPr>
            <a:r>
              <a:rPr lang="en-US" sz="1700" b="1" dirty="0">
                <a:solidFill>
                  <a:schemeClr val="tx2"/>
                </a:solidFill>
              </a:rPr>
              <a:t>Email (SMTP)</a:t>
            </a:r>
            <a:endParaRPr lang="en-US" sz="1700" dirty="0"/>
          </a:p>
        </p:txBody>
      </p:sp>
      <p:sp>
        <p:nvSpPr>
          <p:cNvPr id="42" name="Text 32"/>
          <p:cNvSpPr txBox="1"/>
          <p:nvPr/>
        </p:nvSpPr>
        <p:spPr>
          <a:xfrm>
            <a:off x="9335795" y="4828032"/>
            <a:ext cx="2032940" cy="1097280"/>
          </a:xfrm>
          <a:prstGeom prst="rect">
            <a:avLst/>
          </a:prstGeom>
          <a:noFill/>
          <a:ln/>
        </p:spPr>
        <p:txBody>
          <a:bodyPr wrap="square" lIns="0" tIns="0" rIns="0" bIns="0" rtlCol="0" anchor="t"/>
          <a:lstStyle/>
          <a:p>
            <a:pPr marL="0" indent="0">
              <a:buNone/>
            </a:pPr>
            <a:r>
              <a:rPr lang="en-US" sz="1400" dirty="0">
                <a:solidFill>
                  <a:schemeClr val="tx1"/>
                </a:solidFill>
              </a:rPr>
              <a:t>SSL/TLS dan uji kirim.</a:t>
            </a:r>
            <a:endParaRPr lang="en-US" sz="1400" dirty="0"/>
          </a:p>
        </p:txBody>
      </p:sp>
      <p:sp>
        <p:nvSpPr>
          <p:cNvPr id="43"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84048"/>
            <a:ext cx="10241280" cy="603504"/>
          </a:xfrm>
          <a:prstGeom prst="rect">
            <a:avLst/>
          </a:prstGeom>
          <a:noFill/>
          <a:ln/>
        </p:spPr>
        <p:txBody>
          <a:bodyPr wrap="square" lIns="0" tIns="0" rIns="0" bIns="0" rtlCol="0" anchor="ctr"/>
          <a:lstStyle/>
          <a:p>
            <a:pPr marL="0" indent="0" algn="l">
              <a:buNone/>
            </a:pPr>
            <a:r>
              <a:rPr lang="en-US" sz="2800" b="1" dirty="0">
                <a:solidFill>
                  <a:schemeClr val="tx2"/>
                </a:solidFill>
                <a:latin typeface="Aptos Display" pitchFamily="34" charset="0"/>
                <a:ea typeface="Aptos Display" pitchFamily="34" charset="-122"/>
                <a:cs typeface="Aptos Display" pitchFamily="34" charset="-120"/>
              </a:rPr>
              <a:t>Notifikasi, realtime, dan tugas terjadwal</a:t>
            </a:r>
            <a:endParaRPr lang="en-US" sz="2800" dirty="0"/>
          </a:p>
        </p:txBody>
      </p:sp>
      <p:sp>
        <p:nvSpPr>
          <p:cNvPr id="3" name="Shape 1"/>
          <p:cNvSpPr/>
          <p:nvPr/>
        </p:nvSpPr>
        <p:spPr>
          <a:xfrm>
            <a:off x="548640" y="1325880"/>
            <a:ext cx="5419192" cy="1325880"/>
          </a:xfrm>
          <a:prstGeom prst="roundRect">
            <a:avLst>
              <a:gd name="adj" fmla="val 827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4" name="Shape 2"/>
          <p:cNvSpPr/>
          <p:nvPr/>
        </p:nvSpPr>
        <p:spPr>
          <a:xfrm>
            <a:off x="822960" y="1600200"/>
            <a:ext cx="566928" cy="566928"/>
          </a:xfrm>
          <a:prstGeom prst="roundRect">
            <a:avLst>
              <a:gd name="adj" fmla="val 22000"/>
            </a:avLst>
          </a:prstGeom>
          <a:solidFill>
            <a:schemeClr val="accent1"/>
          </a:solidFill>
          <a:ln/>
        </p:spPr>
      </p:sp>
      <p:pic>
        <p:nvPicPr>
          <p:cNvPr id="5" name="Image 0" descr="preencoded.png"/>
          <p:cNvPicPr>
            <a:picLocks noChangeAspect="1"/>
          </p:cNvPicPr>
          <p:nvPr/>
        </p:nvPicPr>
        <p:blipFill>
          <a:blip r:embed="rId3"/>
          <a:stretch>
            <a:fillRect/>
          </a:stretch>
        </p:blipFill>
        <p:spPr>
          <a:xfrm>
            <a:off x="964692" y="1741932"/>
            <a:ext cx="283464" cy="283464"/>
          </a:xfrm>
          <a:prstGeom prst="rect">
            <a:avLst/>
          </a:prstGeom>
        </p:spPr>
      </p:pic>
      <p:sp>
        <p:nvSpPr>
          <p:cNvPr id="6" name="Text 3"/>
          <p:cNvSpPr txBox="1"/>
          <p:nvPr/>
        </p:nvSpPr>
        <p:spPr>
          <a:xfrm>
            <a:off x="1536192" y="1600200"/>
            <a:ext cx="4230472" cy="566928"/>
          </a:xfrm>
          <a:prstGeom prst="rect">
            <a:avLst/>
          </a:prstGeom>
          <a:noFill/>
          <a:ln/>
        </p:spPr>
        <p:txBody>
          <a:bodyPr wrap="square" lIns="0" tIns="0" rIns="0" bIns="0" rtlCol="0" anchor="ctr"/>
          <a:lstStyle/>
          <a:p>
            <a:pPr marL="0" indent="0">
              <a:buNone/>
            </a:pPr>
            <a:r>
              <a:rPr lang="en-US" sz="1700" b="1" dirty="0">
                <a:solidFill>
                  <a:schemeClr val="tx2"/>
                </a:solidFill>
              </a:rPr>
              <a:t>Realtime (SSE)</a:t>
            </a:r>
            <a:endParaRPr lang="en-US" sz="1700" dirty="0"/>
          </a:p>
        </p:txBody>
      </p:sp>
      <p:sp>
        <p:nvSpPr>
          <p:cNvPr id="7" name="Shape 4"/>
          <p:cNvSpPr/>
          <p:nvPr/>
        </p:nvSpPr>
        <p:spPr>
          <a:xfrm>
            <a:off x="6223864" y="1325880"/>
            <a:ext cx="5419192" cy="1325880"/>
          </a:xfrm>
          <a:prstGeom prst="roundRect">
            <a:avLst>
              <a:gd name="adj" fmla="val 827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8" name="Shape 5"/>
          <p:cNvSpPr/>
          <p:nvPr/>
        </p:nvSpPr>
        <p:spPr>
          <a:xfrm>
            <a:off x="6498184" y="1600200"/>
            <a:ext cx="566928" cy="566928"/>
          </a:xfrm>
          <a:prstGeom prst="roundRect">
            <a:avLst>
              <a:gd name="adj" fmla="val 22000"/>
            </a:avLst>
          </a:prstGeom>
          <a:solidFill>
            <a:schemeClr val="accent1"/>
          </a:solidFill>
          <a:ln/>
        </p:spPr>
      </p:sp>
      <p:pic>
        <p:nvPicPr>
          <p:cNvPr id="9" name="Image 1" descr="preencoded.png"/>
          <p:cNvPicPr>
            <a:picLocks noChangeAspect="1"/>
          </p:cNvPicPr>
          <p:nvPr/>
        </p:nvPicPr>
        <p:blipFill>
          <a:blip r:embed="rId4"/>
          <a:stretch>
            <a:fillRect/>
          </a:stretch>
        </p:blipFill>
        <p:spPr>
          <a:xfrm>
            <a:off x="6639916" y="1741932"/>
            <a:ext cx="283464" cy="283464"/>
          </a:xfrm>
          <a:prstGeom prst="rect">
            <a:avLst/>
          </a:prstGeom>
        </p:spPr>
      </p:pic>
      <p:sp>
        <p:nvSpPr>
          <p:cNvPr id="10" name="Text 6"/>
          <p:cNvSpPr txBox="1"/>
          <p:nvPr/>
        </p:nvSpPr>
        <p:spPr>
          <a:xfrm>
            <a:off x="7211416" y="1600200"/>
            <a:ext cx="4230472" cy="566928"/>
          </a:xfrm>
          <a:prstGeom prst="rect">
            <a:avLst/>
          </a:prstGeom>
          <a:noFill/>
          <a:ln/>
        </p:spPr>
        <p:txBody>
          <a:bodyPr wrap="square" lIns="0" tIns="0" rIns="0" bIns="0" rtlCol="0" anchor="ctr"/>
          <a:lstStyle/>
          <a:p>
            <a:pPr marL="0" indent="0">
              <a:buNone/>
            </a:pPr>
            <a:r>
              <a:rPr lang="en-US" sz="1700" b="1" dirty="0">
                <a:solidFill>
                  <a:schemeClr val="tx2"/>
                </a:solidFill>
              </a:rPr>
              <a:t>Web Push</a:t>
            </a:r>
            <a:endParaRPr lang="en-US" sz="1700" dirty="0"/>
          </a:p>
        </p:txBody>
      </p:sp>
      <p:sp>
        <p:nvSpPr>
          <p:cNvPr id="11" name="Shape 7"/>
          <p:cNvSpPr/>
          <p:nvPr/>
        </p:nvSpPr>
        <p:spPr>
          <a:xfrm>
            <a:off x="548640" y="2834640"/>
            <a:ext cx="5419192" cy="1325880"/>
          </a:xfrm>
          <a:prstGeom prst="roundRect">
            <a:avLst>
              <a:gd name="adj" fmla="val 827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2" name="Shape 8"/>
          <p:cNvSpPr/>
          <p:nvPr/>
        </p:nvSpPr>
        <p:spPr>
          <a:xfrm>
            <a:off x="822960" y="3108960"/>
            <a:ext cx="566928" cy="566928"/>
          </a:xfrm>
          <a:prstGeom prst="roundRect">
            <a:avLst>
              <a:gd name="adj" fmla="val 22000"/>
            </a:avLst>
          </a:prstGeom>
          <a:solidFill>
            <a:schemeClr val="accent1"/>
          </a:solidFill>
          <a:ln/>
        </p:spPr>
      </p:sp>
      <p:pic>
        <p:nvPicPr>
          <p:cNvPr id="13" name="Image 2" descr="preencoded.png"/>
          <p:cNvPicPr>
            <a:picLocks noChangeAspect="1"/>
          </p:cNvPicPr>
          <p:nvPr/>
        </p:nvPicPr>
        <p:blipFill>
          <a:blip r:embed="rId5"/>
          <a:stretch>
            <a:fillRect/>
          </a:stretch>
        </p:blipFill>
        <p:spPr>
          <a:xfrm>
            <a:off x="964692" y="3250692"/>
            <a:ext cx="283464" cy="283464"/>
          </a:xfrm>
          <a:prstGeom prst="rect">
            <a:avLst/>
          </a:prstGeom>
        </p:spPr>
      </p:pic>
      <p:sp>
        <p:nvSpPr>
          <p:cNvPr id="14" name="Text 9"/>
          <p:cNvSpPr txBox="1"/>
          <p:nvPr/>
        </p:nvSpPr>
        <p:spPr>
          <a:xfrm>
            <a:off x="1536192" y="3108960"/>
            <a:ext cx="4230472" cy="566928"/>
          </a:xfrm>
          <a:prstGeom prst="rect">
            <a:avLst/>
          </a:prstGeom>
          <a:noFill/>
          <a:ln/>
        </p:spPr>
        <p:txBody>
          <a:bodyPr wrap="square" lIns="0" tIns="0" rIns="0" bIns="0" rtlCol="0" anchor="ctr"/>
          <a:lstStyle/>
          <a:p>
            <a:pPr marL="0" indent="0">
              <a:buNone/>
            </a:pPr>
            <a:r>
              <a:rPr lang="en-US" sz="1700" b="1" dirty="0">
                <a:solidFill>
                  <a:schemeClr val="tx2"/>
                </a:solidFill>
              </a:rPr>
              <a:t>Notifikasi di aplikasi</a:t>
            </a:r>
            <a:endParaRPr lang="en-US" sz="1700" dirty="0"/>
          </a:p>
        </p:txBody>
      </p:sp>
      <p:sp>
        <p:nvSpPr>
          <p:cNvPr id="15" name="Shape 10"/>
          <p:cNvSpPr/>
          <p:nvPr/>
        </p:nvSpPr>
        <p:spPr>
          <a:xfrm>
            <a:off x="6223864" y="2834640"/>
            <a:ext cx="5419192" cy="1325880"/>
          </a:xfrm>
          <a:prstGeom prst="roundRect">
            <a:avLst>
              <a:gd name="adj" fmla="val 8276"/>
            </a:avLst>
          </a:prstGeom>
          <a:solidFill>
            <a:schemeClr val="bg1"/>
          </a:solidFill>
          <a:ln w="9525">
            <a:solidFill>
              <a:srgbClr val="E1E8EC"/>
            </a:solidFill>
            <a:prstDash val="solid"/>
          </a:ln>
          <a:effectLst>
            <a:outerShdw blurRad="76200" dist="19050" dir="5400000" algn="bl" rotWithShape="0">
              <a:srgbClr val="0B2A33">
                <a:alpha val="7000"/>
              </a:srgbClr>
            </a:outerShdw>
          </a:effectLst>
        </p:spPr>
      </p:sp>
      <p:sp>
        <p:nvSpPr>
          <p:cNvPr id="16" name="Shape 11"/>
          <p:cNvSpPr/>
          <p:nvPr/>
        </p:nvSpPr>
        <p:spPr>
          <a:xfrm>
            <a:off x="6498184" y="3108960"/>
            <a:ext cx="566928" cy="566928"/>
          </a:xfrm>
          <a:prstGeom prst="roundRect">
            <a:avLst>
              <a:gd name="adj" fmla="val 22000"/>
            </a:avLst>
          </a:prstGeom>
          <a:solidFill>
            <a:schemeClr val="accent1"/>
          </a:solidFill>
          <a:ln/>
        </p:spPr>
      </p:sp>
      <p:pic>
        <p:nvPicPr>
          <p:cNvPr id="17" name="Image 3" descr="preencoded.png"/>
          <p:cNvPicPr>
            <a:picLocks noChangeAspect="1"/>
          </p:cNvPicPr>
          <p:nvPr/>
        </p:nvPicPr>
        <p:blipFill>
          <a:blip r:embed="rId6"/>
          <a:stretch>
            <a:fillRect/>
          </a:stretch>
        </p:blipFill>
        <p:spPr>
          <a:xfrm>
            <a:off x="6639916" y="3250692"/>
            <a:ext cx="283464" cy="283464"/>
          </a:xfrm>
          <a:prstGeom prst="rect">
            <a:avLst/>
          </a:prstGeom>
        </p:spPr>
      </p:pic>
      <p:sp>
        <p:nvSpPr>
          <p:cNvPr id="18" name="Text 12"/>
          <p:cNvSpPr txBox="1"/>
          <p:nvPr/>
        </p:nvSpPr>
        <p:spPr>
          <a:xfrm>
            <a:off x="7211416" y="3108960"/>
            <a:ext cx="4230472" cy="566928"/>
          </a:xfrm>
          <a:prstGeom prst="rect">
            <a:avLst/>
          </a:prstGeom>
          <a:noFill/>
          <a:ln/>
        </p:spPr>
        <p:txBody>
          <a:bodyPr wrap="square" lIns="0" tIns="0" rIns="0" bIns="0" rtlCol="0" anchor="ctr"/>
          <a:lstStyle/>
          <a:p>
            <a:pPr marL="0" indent="0">
              <a:buNone/>
            </a:pPr>
            <a:r>
              <a:rPr lang="en-US" sz="1700" b="1" dirty="0">
                <a:solidFill>
                  <a:schemeClr val="tx2"/>
                </a:solidFill>
              </a:rPr>
              <a:t>Email (SMTP)</a:t>
            </a:r>
            <a:endParaRPr lang="en-US" sz="1700" dirty="0"/>
          </a:p>
        </p:txBody>
      </p:sp>
      <p:sp>
        <p:nvSpPr>
          <p:cNvPr id="19" name="Text 13"/>
          <p:cNvSpPr txBox="1"/>
          <p:nvPr/>
        </p:nvSpPr>
        <p:spPr>
          <a:xfrm>
            <a:off x="1536192" y="2075688"/>
            <a:ext cx="4184752" cy="548640"/>
          </a:xfrm>
          <a:prstGeom prst="rect">
            <a:avLst/>
          </a:prstGeom>
          <a:noFill/>
          <a:ln/>
        </p:spPr>
        <p:txBody>
          <a:bodyPr wrap="square" lIns="0" tIns="0" rIns="0" bIns="0" rtlCol="0" anchor="t"/>
          <a:lstStyle/>
          <a:p>
            <a:pPr marL="0" indent="0">
              <a:buNone/>
            </a:pPr>
            <a:r>
              <a:rPr lang="en-US" sz="1250" dirty="0">
                <a:solidFill>
                  <a:schemeClr val="tx1"/>
                </a:solidFill>
              </a:rPr>
              <a:t>Dasbor &amp; HP memuat ulang data yang berubah tanpa refresh; ditutup saat aplikasi di latar belakang.</a:t>
            </a:r>
            <a:endParaRPr lang="en-US" sz="1250" dirty="0"/>
          </a:p>
        </p:txBody>
      </p:sp>
      <p:sp>
        <p:nvSpPr>
          <p:cNvPr id="20" name="Text 14"/>
          <p:cNvSpPr txBox="1"/>
          <p:nvPr/>
        </p:nvSpPr>
        <p:spPr>
          <a:xfrm>
            <a:off x="7211416" y="2075688"/>
            <a:ext cx="4184752" cy="548640"/>
          </a:xfrm>
          <a:prstGeom prst="rect">
            <a:avLst/>
          </a:prstGeom>
          <a:noFill/>
          <a:ln/>
        </p:spPr>
        <p:txBody>
          <a:bodyPr wrap="square" lIns="0" tIns="0" rIns="0" bIns="0" rtlCol="0" anchor="t"/>
          <a:lstStyle/>
          <a:p>
            <a:pPr marL="0" indent="0">
              <a:buNone/>
            </a:pPr>
            <a:r>
              <a:rPr lang="en-US" sz="1250" dirty="0">
                <a:solidFill>
                  <a:schemeClr val="tx1"/>
                </a:solidFill>
              </a:rPr>
              <a:t>Notifikasi ke HP walau aplikasi tertutup; sakelar hidup/mati per perangkat.</a:t>
            </a:r>
            <a:endParaRPr lang="en-US" sz="1250" dirty="0"/>
          </a:p>
        </p:txBody>
      </p:sp>
      <p:sp>
        <p:nvSpPr>
          <p:cNvPr id="21" name="Text 15"/>
          <p:cNvSpPr txBox="1"/>
          <p:nvPr/>
        </p:nvSpPr>
        <p:spPr>
          <a:xfrm>
            <a:off x="1536192" y="3584448"/>
            <a:ext cx="4184752" cy="548640"/>
          </a:xfrm>
          <a:prstGeom prst="rect">
            <a:avLst/>
          </a:prstGeom>
          <a:noFill/>
          <a:ln/>
        </p:spPr>
        <p:txBody>
          <a:bodyPr wrap="square" lIns="0" tIns="0" rIns="0" bIns="0" rtlCol="0" anchor="t"/>
          <a:lstStyle/>
          <a:p>
            <a:pPr marL="0" indent="0">
              <a:buNone/>
            </a:pPr>
            <a:r>
              <a:rPr lang="en-US" sz="1250" dirty="0">
                <a:solidFill>
                  <a:schemeClr val="tx1"/>
                </a:solidFill>
              </a:rPr>
              <a:t>Dikelompokkan per tanggal; filter Pengajuan, Jadwal, Presensi, Dokumen.</a:t>
            </a:r>
            <a:endParaRPr lang="en-US" sz="1250" dirty="0"/>
          </a:p>
        </p:txBody>
      </p:sp>
      <p:sp>
        <p:nvSpPr>
          <p:cNvPr id="22" name="Text 16"/>
          <p:cNvSpPr txBox="1"/>
          <p:nvPr/>
        </p:nvSpPr>
        <p:spPr>
          <a:xfrm>
            <a:off x="7211416" y="3584448"/>
            <a:ext cx="4184752" cy="548640"/>
          </a:xfrm>
          <a:prstGeom prst="rect">
            <a:avLst/>
          </a:prstGeom>
          <a:noFill/>
          <a:ln/>
        </p:spPr>
        <p:txBody>
          <a:bodyPr wrap="square" lIns="0" tIns="0" rIns="0" bIns="0" rtlCol="0" anchor="t"/>
          <a:lstStyle/>
          <a:p>
            <a:pPr marL="0" indent="0">
              <a:buNone/>
            </a:pPr>
            <a:r>
              <a:rPr lang="en-US" sz="1250" dirty="0">
                <a:solidFill>
                  <a:schemeClr val="tx1"/>
                </a:solidFill>
              </a:rPr>
              <a:t>Kredensial akun baru dan kata sandi sementara; uji kirim di Pengaturan.</a:t>
            </a:r>
            <a:endParaRPr lang="en-US" sz="12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94415" cy="1536192"/>
        </p:xfrm>
        <a:graphic>
          <a:graphicData uri="http://schemas.openxmlformats.org/drawingml/2006/table">
            <a:tbl>
              <a:tblPr/>
              <a:tblGrid>
                <a:gridCol w="3291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425135">
                  <a:extLst>
                    <a:ext uri="{9D8B030D-6E8A-4147-A177-3AD203B41FA5}">
                      <a16:colId xmlns:a16="http://schemas.microsoft.com/office/drawing/2014/main" val="20002"/>
                    </a:ext>
                  </a:extLst>
                </a:gridCol>
              </a:tblGrid>
              <a:tr h="384048">
                <a:tc>
                  <a:txBody>
                    <a:bodyPr/>
                    <a:lstStyle/>
                    <a:p>
                      <a:pPr marL="0" indent="0">
                        <a:buNone/>
                      </a:pPr>
                      <a:r>
                        <a:rPr lang="en-US" sz="1300" b="1" dirty="0">
                          <a:solidFill>
                            <a:schemeClr val="bg1"/>
                          </a:solidFill>
                        </a:rPr>
                        <a:t>Tugas terjadwal</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0434D"/>
                    </a:solidFill>
                  </a:tcPr>
                </a:tc>
                <a:tc>
                  <a:txBody>
                    <a:bodyPr/>
                    <a:lstStyle/>
                    <a:p>
                      <a:pPr marL="0" indent="0">
                        <a:buNone/>
                      </a:pPr>
                      <a:r>
                        <a:rPr lang="en-US" sz="1300" b="1" dirty="0">
                          <a:solidFill>
                            <a:schemeClr val="bg1"/>
                          </a:solidFill>
                        </a:rPr>
                        <a:t>Jadwal</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0434D"/>
                    </a:solidFill>
                  </a:tcPr>
                </a:tc>
                <a:tc>
                  <a:txBody>
                    <a:bodyPr/>
                    <a:lstStyle/>
                    <a:p>
                      <a:pPr marL="0" indent="0">
                        <a:buNone/>
                      </a:pPr>
                      <a:r>
                        <a:rPr lang="en-US" sz="1300" b="1" dirty="0">
                          <a:solidFill>
                            <a:schemeClr val="bg1"/>
                          </a:solidFill>
                        </a:rPr>
                        <a:t>Fungsi</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00434D"/>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14202E"/>
                          </a:solidFill>
                        </a:rPr>
                        <a:t>Pengingat check out</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300" dirty="0">
                          <a:solidFill>
                            <a:srgbClr val="14202E"/>
                          </a:solidFill>
                        </a:rPr>
                        <a:t>Tiap 5 menit</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300" dirty="0">
                          <a:solidFill>
                            <a:srgbClr val="14202E"/>
                          </a:solidFill>
                        </a:rPr>
                        <a:t>30 menit setelah shift selesai; tanpa_pulang saat jendela tutup</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14202E"/>
                          </a:solidFill>
                        </a:rPr>
                        <a:t>Pemberitahuan &amp; pengingat dokumen</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8F9"/>
                    </a:solidFill>
                  </a:tcPr>
                </a:tc>
                <a:tc>
                  <a:txBody>
                    <a:bodyPr/>
                    <a:lstStyle/>
                    <a:p>
                      <a:pPr marL="0" indent="0">
                        <a:buNone/>
                      </a:pPr>
                      <a:r>
                        <a:rPr lang="en-US" sz="1300" dirty="0">
                          <a:solidFill>
                            <a:srgbClr val="14202E"/>
                          </a:solidFill>
                        </a:rPr>
                        <a:t>Tiap jam (≥ 07.00 WIB)</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8F9"/>
                    </a:solidFill>
                  </a:tcPr>
                </a:tc>
                <a:tc>
                  <a:txBody>
                    <a:bodyPr/>
                    <a:lstStyle/>
                    <a:p>
                      <a:pPr marL="0" indent="0">
                        <a:buNone/>
                      </a:pPr>
                      <a:r>
                        <a:rPr lang="en-US" sz="1300" dirty="0">
                          <a:solidFill>
                            <a:srgbClr val="14202E"/>
                          </a:solidFill>
                        </a:rPr>
                        <a:t>Folder yang mulai tampil, pengingat yang jatuh tempo</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4F8F9"/>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rgbClr val="14202E"/>
                          </a:solidFill>
                        </a:rPr>
                        <a:t>Antrean kata sandi sementara</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300" dirty="0">
                          <a:solidFill>
                            <a:srgbClr val="14202E"/>
                          </a:solidFill>
                        </a:rPr>
                        <a:t>Tiap menit</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tc>
                  <a:txBody>
                    <a:bodyPr/>
                    <a:lstStyle/>
                    <a:p>
                      <a:pPr marL="0" indent="0">
                        <a:buNone/>
                      </a:pPr>
                      <a:r>
                        <a:rPr lang="en-US" sz="1300" dirty="0">
                          <a:solidFill>
                            <a:srgbClr val="14202E"/>
                          </a:solidFill>
                        </a:rPr>
                        <a:t>Kirim email, ulang yang gagal (maks. 3 kali)</a:t>
                      </a:r>
                      <a:endParaRPr lang="en-US" sz="1300" dirty="0"/>
                    </a:p>
                  </a:txBody>
                  <a:tcPr marL="76200" marR="76200" marT="38100" marB="38100" anchor="ctr">
                    <a:lnL w="9525" cap="flat" cmpd="sng" algn="ctr">
                      <a:solidFill>
                        <a:srgbClr val="E1E8EC"/>
                      </a:solidFill>
                      <a:prstDash val="solid"/>
                      <a:round/>
                      <a:headEnd type="none" w="med" len="med"/>
                      <a:tailEnd type="none" w="med" len="med"/>
                    </a:lnL>
                    <a:lnR w="9525" cap="flat" cmpd="sng" algn="ctr">
                      <a:solidFill>
                        <a:srgbClr val="E1E8EC"/>
                      </a:solidFill>
                      <a:prstDash val="solid"/>
                      <a:round/>
                      <a:headEnd type="none" w="med" len="med"/>
                      <a:tailEnd type="none" w="med" len="med"/>
                    </a:lnR>
                    <a:lnT w="9525" cap="flat" cmpd="sng" algn="ctr">
                      <a:solidFill>
                        <a:srgbClr val="E1E8EC"/>
                      </a:solidFill>
                      <a:prstDash val="solid"/>
                      <a:round/>
                      <a:headEnd type="none" w="med" len="med"/>
                      <a:tailEnd type="none" w="med" len="med"/>
                    </a:lnT>
                    <a:lnB w="9525" cap="flat" cmpd="sng" algn="ctr">
                      <a:solidFill>
                        <a:srgbClr val="E1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83112" y="6373368"/>
            <a:ext cx="457200" cy="256032"/>
          </a:xfrm>
          <a:prstGeom prst="rect">
            <a:avLst/>
          </a:prstGeom>
          <a:extLst>
            <a:ext uri="{C572A759-6A51-4108-AA02-DFA0A04FC94B}">
              <ma14:wrappingTextBoxFlag xmlns="" xmlns:ma14="http://schemas.microsoft.com/office/mac/drawingml/2011/main" val="0"/>
            </a:ext>
          </a:extLst>
        </p:spPr>
        <p:txBody>
          <a:bodyPr/>
          <a:lstStyle>
            <a:lvl1pPr>
              <a:defRPr sz="900">
                <a:solidFill>
                  <a:srgbClr val="5E6B7D"/>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Logo ABiTA"/>
          <p:cNvPicPr>
            <a:picLocks noChangeAspect="1"/>
          </p:cNvPicPr>
          <p:nvPr/>
        </p:nvPicPr>
        <p:blipFill>
          <a:blip r:embed="rId3"/>
          <a:stretch>
            <a:fillRect/>
          </a:stretch>
        </p:blipFill>
        <p:spPr>
          <a:xfrm>
            <a:off x="548640" y="548640"/>
            <a:ext cx="566928" cy="566928"/>
          </a:xfrm>
          <a:prstGeom prst="rect">
            <a:avLst/>
          </a:prstGeom>
        </p:spPr>
      </p:pic>
      <p:sp>
        <p:nvSpPr>
          <p:cNvPr id="3" name="Text 0"/>
          <p:cNvSpPr txBox="1"/>
          <p:nvPr/>
        </p:nvSpPr>
        <p:spPr>
          <a:xfrm>
            <a:off x="548640" y="1828800"/>
            <a:ext cx="6858000" cy="1005840"/>
          </a:xfrm>
          <a:prstGeom prst="rect">
            <a:avLst/>
          </a:prstGeom>
          <a:noFill/>
          <a:ln/>
        </p:spPr>
        <p:txBody>
          <a:bodyPr wrap="square" lIns="0" tIns="0" rIns="0" bIns="0" rtlCol="0" anchor="t"/>
          <a:lstStyle/>
          <a:p>
            <a:pPr marL="0" indent="0">
              <a:buNone/>
            </a:pPr>
            <a:r>
              <a:rPr lang="en-US" sz="5400" b="1" dirty="0">
                <a:solidFill>
                  <a:schemeClr val="bg1"/>
                </a:solidFill>
                <a:latin typeface="+mj-lt" pitchFamily="34" charset="0"/>
                <a:ea typeface="+mj-lt" pitchFamily="34" charset="-122"/>
                <a:cs typeface="+mj-lt" pitchFamily="34" charset="-120"/>
              </a:rPr>
              <a:t>Terima kasih</a:t>
            </a:r>
            <a:endParaRPr lang="en-US" sz="5400" dirty="0"/>
          </a:p>
        </p:txBody>
      </p:sp>
      <p:sp>
        <p:nvSpPr>
          <p:cNvPr id="4" name="Text 1"/>
          <p:cNvSpPr txBox="1"/>
          <p:nvPr/>
        </p:nvSpPr>
        <p:spPr>
          <a:xfrm>
            <a:off x="548640" y="3063240"/>
            <a:ext cx="6766560" cy="2377440"/>
          </a:xfrm>
          <a:prstGeom prst="rect">
            <a:avLst/>
          </a:prstGeom>
          <a:noFill/>
          <a:ln/>
        </p:spPr>
        <p:txBody>
          <a:bodyPr wrap="square" lIns="0" tIns="0" rIns="0" bIns="0" rtlCol="0" anchor="t"/>
          <a:lstStyle/>
          <a:p>
            <a:pPr marL="228600" indent="-228600">
              <a:spcAft>
                <a:spcPts val="1200"/>
              </a:spcAft>
              <a:buSzPct val="100000"/>
              <a:buChar char="•"/>
            </a:pPr>
            <a:endParaRPr lang="en-US" sz="1800" dirty="0"/>
          </a:p>
        </p:txBody>
      </p:sp>
      <p:sp>
        <p:nvSpPr>
          <p:cNvPr id="5" name="Shape 2"/>
          <p:cNvSpPr/>
          <p:nvPr/>
        </p:nvSpPr>
        <p:spPr>
          <a:xfrm>
            <a:off x="8138160" y="1417320"/>
            <a:ext cx="1005840" cy="1005840"/>
          </a:xfrm>
          <a:prstGeom prst="roundRect">
            <a:avLst>
              <a:gd name="adj" fmla="val 22000"/>
            </a:avLst>
          </a:prstGeom>
          <a:solidFill>
            <a:schemeClr val="accent1"/>
          </a:solidFill>
          <a:ln/>
        </p:spPr>
      </p:sp>
      <p:pic>
        <p:nvPicPr>
          <p:cNvPr id="6" name="Image 1" descr="preencoded.png"/>
          <p:cNvPicPr>
            <a:picLocks noChangeAspect="1"/>
          </p:cNvPicPr>
          <p:nvPr/>
        </p:nvPicPr>
        <p:blipFill>
          <a:blip r:embed="rId4"/>
          <a:stretch>
            <a:fillRect/>
          </a:stretch>
        </p:blipFill>
        <p:spPr>
          <a:xfrm>
            <a:off x="8389620" y="1668780"/>
            <a:ext cx="502920" cy="502920"/>
          </a:xfrm>
          <a:prstGeom prst="rect">
            <a:avLst/>
          </a:prstGeom>
        </p:spPr>
      </p:pic>
      <p:sp>
        <p:nvSpPr>
          <p:cNvPr id="7" name="Shape 3"/>
          <p:cNvSpPr/>
          <p:nvPr/>
        </p:nvSpPr>
        <p:spPr>
          <a:xfrm>
            <a:off x="9345168" y="1417320"/>
            <a:ext cx="1005840" cy="1005840"/>
          </a:xfrm>
          <a:prstGeom prst="roundRect">
            <a:avLst>
              <a:gd name="adj" fmla="val 22000"/>
            </a:avLst>
          </a:prstGeom>
          <a:solidFill>
            <a:schemeClr val="bg1">
              <a:alpha val="12000"/>
            </a:schemeClr>
          </a:solidFill>
          <a:ln/>
        </p:spPr>
      </p:sp>
      <p:sp>
        <p:nvSpPr>
          <p:cNvPr id="8" name="Shape 4"/>
          <p:cNvSpPr/>
          <p:nvPr/>
        </p:nvSpPr>
        <p:spPr>
          <a:xfrm>
            <a:off x="10552176" y="1417320"/>
            <a:ext cx="1005840" cy="1005840"/>
          </a:xfrm>
          <a:prstGeom prst="roundRect">
            <a:avLst>
              <a:gd name="adj" fmla="val 22000"/>
            </a:avLst>
          </a:prstGeom>
          <a:solidFill>
            <a:schemeClr val="accent3"/>
          </a:solidFill>
          <a:ln/>
        </p:spPr>
      </p:sp>
      <p:pic>
        <p:nvPicPr>
          <p:cNvPr id="9" name="Image 2" descr="preencoded.png"/>
          <p:cNvPicPr>
            <a:picLocks noChangeAspect="1"/>
          </p:cNvPicPr>
          <p:nvPr/>
        </p:nvPicPr>
        <p:blipFill>
          <a:blip r:embed="rId5"/>
          <a:stretch>
            <a:fillRect/>
          </a:stretch>
        </p:blipFill>
        <p:spPr>
          <a:xfrm>
            <a:off x="10803636" y="1668780"/>
            <a:ext cx="502920" cy="502920"/>
          </a:xfrm>
          <a:prstGeom prst="rect">
            <a:avLst/>
          </a:prstGeom>
        </p:spPr>
      </p:pic>
      <p:sp>
        <p:nvSpPr>
          <p:cNvPr id="10" name="Shape 5"/>
          <p:cNvSpPr/>
          <p:nvPr/>
        </p:nvSpPr>
        <p:spPr>
          <a:xfrm>
            <a:off x="8138160" y="2624328"/>
            <a:ext cx="1005840" cy="1005840"/>
          </a:xfrm>
          <a:prstGeom prst="roundRect">
            <a:avLst>
              <a:gd name="adj" fmla="val 22000"/>
            </a:avLst>
          </a:prstGeom>
          <a:solidFill>
            <a:schemeClr val="bg1">
              <a:alpha val="12000"/>
            </a:schemeClr>
          </a:solidFill>
          <a:ln/>
        </p:spPr>
      </p:sp>
      <p:sp>
        <p:nvSpPr>
          <p:cNvPr id="11" name="Shape 6"/>
          <p:cNvSpPr/>
          <p:nvPr/>
        </p:nvSpPr>
        <p:spPr>
          <a:xfrm>
            <a:off x="9345168" y="2624328"/>
            <a:ext cx="1005840" cy="1005840"/>
          </a:xfrm>
          <a:prstGeom prst="roundRect">
            <a:avLst>
              <a:gd name="adj" fmla="val 22000"/>
            </a:avLst>
          </a:prstGeom>
          <a:solidFill>
            <a:schemeClr val="bg1"/>
          </a:solidFill>
          <a:ln/>
        </p:spPr>
      </p:sp>
      <p:pic>
        <p:nvPicPr>
          <p:cNvPr id="12" name="Image 3" descr="Logo ABiTA"/>
          <p:cNvPicPr>
            <a:picLocks noChangeAspect="1"/>
          </p:cNvPicPr>
          <p:nvPr/>
        </p:nvPicPr>
        <p:blipFill>
          <a:blip r:embed="rId3"/>
          <a:stretch>
            <a:fillRect/>
          </a:stretch>
        </p:blipFill>
        <p:spPr>
          <a:xfrm>
            <a:off x="9465869" y="2745029"/>
            <a:ext cx="764438" cy="764438"/>
          </a:xfrm>
          <a:prstGeom prst="rect">
            <a:avLst/>
          </a:prstGeom>
        </p:spPr>
      </p:pic>
      <p:sp>
        <p:nvSpPr>
          <p:cNvPr id="13" name="Shape 7"/>
          <p:cNvSpPr/>
          <p:nvPr/>
        </p:nvSpPr>
        <p:spPr>
          <a:xfrm>
            <a:off x="10552176" y="2624328"/>
            <a:ext cx="1005840" cy="1005840"/>
          </a:xfrm>
          <a:prstGeom prst="roundRect">
            <a:avLst>
              <a:gd name="adj" fmla="val 22000"/>
            </a:avLst>
          </a:prstGeom>
          <a:solidFill>
            <a:schemeClr val="bg1">
              <a:alpha val="12000"/>
            </a:schemeClr>
          </a:solidFill>
          <a:ln/>
        </p:spPr>
      </p:sp>
      <p:sp>
        <p:nvSpPr>
          <p:cNvPr id="14" name="Shape 8"/>
          <p:cNvSpPr/>
          <p:nvPr/>
        </p:nvSpPr>
        <p:spPr>
          <a:xfrm>
            <a:off x="8138160" y="3831336"/>
            <a:ext cx="1005840" cy="1005840"/>
          </a:xfrm>
          <a:prstGeom prst="roundRect">
            <a:avLst>
              <a:gd name="adj" fmla="val 22000"/>
            </a:avLst>
          </a:prstGeom>
          <a:solidFill>
            <a:schemeClr val="accent3"/>
          </a:solidFill>
          <a:ln/>
        </p:spPr>
      </p:sp>
      <p:pic>
        <p:nvPicPr>
          <p:cNvPr id="15" name="Image 4" descr="preencoded.png"/>
          <p:cNvPicPr>
            <a:picLocks noChangeAspect="1"/>
          </p:cNvPicPr>
          <p:nvPr/>
        </p:nvPicPr>
        <p:blipFill>
          <a:blip r:embed="rId6"/>
          <a:stretch>
            <a:fillRect/>
          </a:stretch>
        </p:blipFill>
        <p:spPr>
          <a:xfrm>
            <a:off x="8389620" y="4082796"/>
            <a:ext cx="502920" cy="502920"/>
          </a:xfrm>
          <a:prstGeom prst="rect">
            <a:avLst/>
          </a:prstGeom>
        </p:spPr>
      </p:pic>
      <p:sp>
        <p:nvSpPr>
          <p:cNvPr id="16" name="Shape 9"/>
          <p:cNvSpPr/>
          <p:nvPr/>
        </p:nvSpPr>
        <p:spPr>
          <a:xfrm>
            <a:off x="9345168" y="3831336"/>
            <a:ext cx="1005840" cy="1005840"/>
          </a:xfrm>
          <a:prstGeom prst="roundRect">
            <a:avLst>
              <a:gd name="adj" fmla="val 22000"/>
            </a:avLst>
          </a:prstGeom>
          <a:solidFill>
            <a:schemeClr val="bg1">
              <a:alpha val="12000"/>
            </a:schemeClr>
          </a:solidFill>
          <a:ln/>
        </p:spPr>
      </p:sp>
      <p:sp>
        <p:nvSpPr>
          <p:cNvPr id="17" name="Shape 10"/>
          <p:cNvSpPr/>
          <p:nvPr/>
        </p:nvSpPr>
        <p:spPr>
          <a:xfrm>
            <a:off x="10552176" y="3831336"/>
            <a:ext cx="1005840" cy="1005840"/>
          </a:xfrm>
          <a:prstGeom prst="roundRect">
            <a:avLst>
              <a:gd name="adj" fmla="val 22000"/>
            </a:avLst>
          </a:prstGeom>
          <a:solidFill>
            <a:schemeClr val="accent1"/>
          </a:solidFill>
          <a:ln/>
        </p:spPr>
      </p:sp>
      <p:pic>
        <p:nvPicPr>
          <p:cNvPr id="18" name="Image 5" descr="preencoded.png"/>
          <p:cNvPicPr>
            <a:picLocks noChangeAspect="1"/>
          </p:cNvPicPr>
          <p:nvPr/>
        </p:nvPicPr>
        <p:blipFill>
          <a:blip r:embed="rId7"/>
          <a:stretch>
            <a:fillRect/>
          </a:stretch>
        </p:blipFill>
        <p:spPr>
          <a:xfrm>
            <a:off x="10803636" y="4082796"/>
            <a:ext cx="502920" cy="502920"/>
          </a:xfrm>
          <a:prstGeom prst="rect">
            <a:avLst/>
          </a:prstGeom>
        </p:spPr>
      </p:pic>
    </p:spTree>
  </p:cSld>
  <p:clrMapOvr>
    <a:masterClrMapping/>
  </p:clrMapOvr>
</p:sld>
</file>

<file path=ppt/theme/theme1.xml><?xml version="1.0" encoding="utf-8"?>
<a:theme xmlns:a="http://schemas.openxmlformats.org/drawingml/2006/main" name="ABiTA">
  <a:themeElements>
    <a:clrScheme name="ABiTA">
      <a:dk1>
        <a:srgbClr val="14202E"/>
      </a:dk1>
      <a:lt1>
        <a:srgbClr val="FFFFFF"/>
      </a:lt1>
      <a:dk2>
        <a:srgbClr val="00434D"/>
      </a:dk2>
      <a:lt2>
        <a:srgbClr val="F4F8F9"/>
      </a:lt2>
      <a:accent1>
        <a:srgbClr val="007A87"/>
      </a:accent1>
      <a:accent2>
        <a:srgbClr val="F2555A"/>
      </a:accent2>
      <a:accent3>
        <a:srgbClr val="1AA6B3"/>
      </a:accent3>
      <a:accent4>
        <a:srgbClr val="E9A23B"/>
      </a:accent4>
      <a:accent5>
        <a:srgbClr val="5E6B7D"/>
      </a:accent5>
      <a:accent6>
        <a:srgbClr val="2E9E6B"/>
      </a:accent6>
      <a:hlink>
        <a:srgbClr val="007A87"/>
      </a:hlink>
      <a:folHlink>
        <a:srgbClr val="5E6B7D"/>
      </a:folHlink>
    </a:clrScheme>
    <a:fontScheme name="ABiTA">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2027</Words>
  <Application>Microsoft Office PowerPoint</Application>
  <PresentationFormat>Widescreen</PresentationFormat>
  <Paragraphs>286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ABiTA</vt:lpstr>
      <vt:lpstr>PowerPoint Presentation</vt:lpstr>
      <vt:lpstr>Pendahuluan</vt:lpstr>
      <vt:lpstr>Masalah yang diselesaikan ABiTA</vt:lpstr>
      <vt:lpstr>Tujuan dan ruang lingkup</vt:lpstr>
      <vt:lpstr>Tiga peran</vt:lpstr>
      <vt:lpstr>Alur &amp; algoritma</vt:lpstr>
      <vt:lpstr>Lapisan anti-kecurangan</vt:lpstr>
      <vt:lpstr>Jendela absen membatasi kapan check in dan check out sah</vt:lpstr>
      <vt:lpstr>Sepuluh status harian dari jadwal, absen, dan pengajuan</vt:lpstr>
      <vt:lpstr>Satu tahap persetujuan, Admin SDM sebagai cadangan</vt:lpstr>
      <vt:lpstr>Lupa check out ditangani tanpa check out otomatis</vt:lpstr>
      <vt:lpstr>Fitur</vt:lpstr>
      <vt:lpstr>Peta fitur</vt:lpstr>
      <vt:lpstr>Manajemen karyawan</vt:lpstr>
      <vt:lpstr>Unit, akun admin, dan pengaturan</vt:lpstr>
      <vt:lpstr>Notifikasi, realtime, dan tugas terjadwal</vt:lpstr>
      <vt:lpstr>PowerPoint Presentation</vt:lpstr>
    </vt:vector>
  </TitlesOfParts>
  <Company>RS Awal Bros Botania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ABiTA – Analisis Sistem</dc:title>
  <dc:subject>PptxGenJS Presentation</dc:subject>
  <dc:creator>Tim ABiTA</dc:creator>
  <cp:lastModifiedBy>Rashid Sr.</cp:lastModifiedBy>
  <cp:revision>3</cp:revision>
  <dcterms:created xsi:type="dcterms:W3CDTF">2026-10-27T07:13:06Z</dcterms:created>
  <dcterms:modified xsi:type="dcterms:W3CDTF">2026-10-27T08:55:04Z</dcterms:modified>
</cp:coreProperties>
</file>